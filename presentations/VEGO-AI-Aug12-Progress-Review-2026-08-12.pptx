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0"/>
            <a:ext cx="107286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 Progress Review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107286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human judgment for agentic-AI-driven variability exploration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3429000"/>
            <a:ext cx="384048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65760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Supervisors: Prof. Iris Reinhartz-Berger and Prof. Arnon Sturm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406908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Wednesday, 12 August 2026, 09:00  ·  presenter: Ali Hamed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594360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E8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draft — research-question wording is provisional pending your confirmation today; nothing here implies prior approval.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decide today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94360" y="1554480"/>
            <a:ext cx="11002975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research-question architecture — one umbrella RQ and exactly three sub-questions (the decision this meeting exists for).</a:t>
            </a:r>
            <a:endParaRPr lang="en-US" sz="1600" dirty="0"/>
          </a:p>
          <a:p>
            <a:pPr algn="l" marL="203200" indent="-2032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through the Gap &amp; Research-Questions chapter, showing every correction from our 5 August working call is incorporated.</a:t>
            </a:r>
            <a:endParaRPr lang="en-US" sz="1600" dirty="0"/>
          </a:p>
          <a:p>
            <a:pPr algn="l" marL="203200" indent="-2032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per-question literature coverage and where the gaps are.</a:t>
            </a:r>
            <a:endParaRPr lang="en-US" sz="1600" dirty="0"/>
          </a:p>
          <a:p>
            <a:pPr algn="l" marL="203200" indent="-2032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current evidence honestly — what is established, and what is not yet.</a:t>
            </a:r>
            <a:endParaRPr lang="en-US" sz="1600" dirty="0"/>
          </a:p>
          <a:p>
            <a:pPr algn="l" marL="203200" indent="-2032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plan structure and the immediate next task.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5029200"/>
            <a:ext cx="11094415" cy="1188720"/>
          </a:xfrm>
          <a:prstGeom prst="roundRect">
            <a:avLst>
              <a:gd name="adj" fmla="val 6154"/>
            </a:avLst>
          </a:prstGeom>
          <a:solidFill>
            <a:srgbClr val="FCF3DC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5166360"/>
            <a:ext cx="106372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note: this progress package is built from a machine transcript of the 5 August call (speakers inferred, no diarization). Wordings are reconstructed and provisional until you confirm them here.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since the 5 August call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77295" cy="914400"/>
        </p:xfrm>
        <a:graphic>
          <a:graphicData uri="http://schemas.openxmlformats.org/drawingml/2006/table">
            <a:tbl>
              <a:tblPr/>
              <a:tblGrid>
                <a:gridCol w="8961120"/>
                <a:gridCol w="228600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&amp; Research-Questions chapter — full draft written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B88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progress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3D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RQ + SQ1–SQ3 wording migrated across proposal &amp; governance docs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B88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progress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3D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Per-question literature workbook + coverage-gap analysis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B88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progress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3D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Artifact-per-SQ options considered (thinking only, per your instruction)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Weekly Wednesday 09:00 cadence confirmed by all three of 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 final wording against my saved call draft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/ blocked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E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the project Drive with you both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/ blocked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E5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580644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 progress" = drafted, pending your sign-off.   "Open" = my action this week.   No item is marked complete on the basis of a draft alone.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· research questions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umbrella question, exactly three sub-questions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11094415" cy="1371600"/>
          </a:xfrm>
          <a:prstGeom prst="roundRect">
            <a:avLst>
              <a:gd name="adj" fmla="val 5333"/>
            </a:avLst>
          </a:prstGeom>
          <a:solidFill>
            <a:srgbClr val="EAF0FB"/>
          </a:solidFill>
          <a:ln w="12700">
            <a:solidFill>
              <a:srgbClr val="2F5A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508760"/>
            <a:ext cx="1063721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Umbrella RQ.  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human judgment be captured, governed, and used to support agentic-AI-driven variability exploration in guideline operationalization scenarios, enabling reliable human–AI co-reasoning?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3545738" cy="2880360"/>
          </a:xfrm>
          <a:prstGeom prst="roundRect">
            <a:avLst>
              <a:gd name="adj" fmla="val 2540"/>
            </a:avLst>
          </a:prstGeom>
          <a:solidFill>
            <a:srgbClr val="F5F7FB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880360"/>
            <a:ext cx="3545738" cy="457200"/>
          </a:xfrm>
          <a:prstGeom prst="roundRect">
            <a:avLst>
              <a:gd name="adj" fmla="val 16000"/>
            </a:avLst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880360"/>
            <a:ext cx="34542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SQ1 — Selective intervention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94944" y="3429000"/>
            <a:ext cx="325313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and how, in variability exploration scenarios, should an agentic assessment system request human judgment so that important uncertainties are addressed without unnecessary expert burden?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4322978" y="2880360"/>
            <a:ext cx="3545738" cy="2880360"/>
          </a:xfrm>
          <a:prstGeom prst="roundRect">
            <a:avLst>
              <a:gd name="adj" fmla="val 2540"/>
            </a:avLst>
          </a:prstGeom>
          <a:solidFill>
            <a:srgbClr val="F5F7FB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22978" y="2880360"/>
            <a:ext cx="3545738" cy="457200"/>
          </a:xfrm>
          <a:prstGeom prst="roundRect">
            <a:avLst>
              <a:gd name="adj" fmla="val 16000"/>
            </a:avLst>
          </a:prstGeom>
          <a:solidFill>
            <a:srgbClr val="1B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4368698" y="2880360"/>
            <a:ext cx="34542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SQ2 — Governed knowledge reuse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469282" y="3429000"/>
            <a:ext cx="325313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should expert judgment — including the system's core reasoning — be represented, validated, reconciled, and stored so it can be reused transparently without unsafe generalization or loss of human authority?</a:t>
            </a:r>
            <a:endParaRPr lang="en-US" sz="1030" dirty="0"/>
          </a:p>
        </p:txBody>
      </p:sp>
      <p:sp>
        <p:nvSpPr>
          <p:cNvPr id="17" name="Shape 15"/>
          <p:cNvSpPr/>
          <p:nvPr/>
        </p:nvSpPr>
        <p:spPr>
          <a:xfrm>
            <a:off x="8097317" y="2880360"/>
            <a:ext cx="3545738" cy="2880360"/>
          </a:xfrm>
          <a:prstGeom prst="roundRect">
            <a:avLst>
              <a:gd name="adj" fmla="val 2540"/>
            </a:avLst>
          </a:prstGeom>
          <a:solidFill>
            <a:srgbClr val="F5F7FB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97317" y="2880360"/>
            <a:ext cx="3545738" cy="457200"/>
          </a:xfrm>
          <a:prstGeom prst="roundRect">
            <a:avLst>
              <a:gd name="adj" fmla="val 16000"/>
            </a:avLst>
          </a:prstGeom>
          <a:solidFill>
            <a:srgbClr val="1B2A4A"/>
          </a:solidFill>
          <a:ln/>
        </p:spPr>
      </p:sp>
      <p:sp>
        <p:nvSpPr>
          <p:cNvPr id="19" name="Text 17"/>
          <p:cNvSpPr/>
          <p:nvPr/>
        </p:nvSpPr>
        <p:spPr>
          <a:xfrm>
            <a:off x="8143037" y="2880360"/>
            <a:ext cx="34542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SQ3 — Evaluation and transfer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43621" y="3429000"/>
            <a:ext cx="325313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expert judgment be reused and transferred across different guideline-operationalization contexts without unsafe generalization or loss of human authority, first in software/modeling and, when governance and access permit, in healthcare?</a:t>
            </a:r>
            <a:endParaRPr lang="en-US" sz="1030" dirty="0"/>
          </a:p>
        </p:txBody>
      </p:sp>
      <p:sp>
        <p:nvSpPr>
          <p:cNvPr id="21" name="Text 19"/>
          <p:cNvSpPr/>
          <p:nvPr/>
        </p:nvSpPr>
        <p:spPr>
          <a:xfrm>
            <a:off x="548640" y="589788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Verbatim wording shown for sign-off. Decision requested: D-RQ-01 (umbrella) and D-RQ-02 (SQ1–SQ3) — Confirm / Confirm with correction / Retire / Defer.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· your corrections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correction from 5 August is incorporated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77295" cy="914400"/>
        </p:xfrm>
        <a:graphic>
          <a:graphicData uri="http://schemas.openxmlformats.org/drawingml/2006/table">
            <a:tbl>
              <a:tblPr/>
              <a:tblGrid>
                <a:gridCol w="4937760"/>
                <a:gridCol w="6309360"/>
              </a:tblGrid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 the call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it is reflected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Arnon: separate the solution from the research question; cut padding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section argues why the question is open — it does not pitch the agentic design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Iris: drop "reused" from the headline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Reuse moved into SQ2/SQ3; headline is about supporting the activity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Iris: narrow to variability exploration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"variability exploration in guideline operationalization" named explicitly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Iris/Arnon: keep "reliable", lean off "auditable/transferable/end-to-end"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Headline trimmed to "reliable" (leaning — for your confirmation)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Arnon/Iris: split SQ2 into capture vs. future-transfer; prefer "expert"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SQ2 spans both halves; "expert judgment" used (open choice, leaning expert)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Iris: tie SQ2 to "core reasoning" + evaluation clause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SQ2 names core reasoning and carries a balance/authority clause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Arnon: SQ3 classifies domain-specific vs. transferable uncertainty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SQ3 rationale built on that classification (actor/use-case = general gap)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Iris: keep RQs domain-neutral; domains live in methodology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RQ text is domain-neutral; SE/medical framing deferred to Chapter 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· study mapping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sub-question maps to one study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2346808" y="2468880"/>
            <a:ext cx="7498080" cy="0"/>
          </a:xfrm>
          <a:prstGeom prst="line">
            <a:avLst/>
          </a:prstGeom>
          <a:noFill/>
          <a:ln w="19050">
            <a:solidFill>
              <a:srgbClr val="2F5AA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46808" y="2468880"/>
            <a:ext cx="0" cy="457200"/>
          </a:xfrm>
          <a:prstGeom prst="line">
            <a:avLst/>
          </a:prstGeom>
          <a:noFill/>
          <a:ln w="19050">
            <a:solidFill>
              <a:srgbClr val="2F5A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46808" y="3566160"/>
            <a:ext cx="0" cy="548640"/>
          </a:xfrm>
          <a:prstGeom prst="line">
            <a:avLst/>
          </a:prstGeom>
          <a:noFill/>
          <a:ln w="19050">
            <a:solidFill>
              <a:srgbClr val="2F5AA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95848" y="2468880"/>
            <a:ext cx="0" cy="457200"/>
          </a:xfrm>
          <a:prstGeom prst="line">
            <a:avLst/>
          </a:prstGeom>
          <a:noFill/>
          <a:ln w="19050">
            <a:solidFill>
              <a:srgbClr val="2F5AA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95848" y="3566160"/>
            <a:ext cx="0" cy="548640"/>
          </a:xfrm>
          <a:prstGeom prst="line">
            <a:avLst/>
          </a:prstGeom>
          <a:noFill/>
          <a:ln w="19050">
            <a:solidFill>
              <a:srgbClr val="2F5AA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44888" y="2468880"/>
            <a:ext cx="0" cy="457200"/>
          </a:xfrm>
          <a:prstGeom prst="line">
            <a:avLst/>
          </a:prstGeom>
          <a:noFill/>
          <a:ln w="19050">
            <a:solidFill>
              <a:srgbClr val="2F5AA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844888" y="3566160"/>
            <a:ext cx="0" cy="548640"/>
          </a:xfrm>
          <a:prstGeom prst="line">
            <a:avLst/>
          </a:prstGeom>
          <a:noFill/>
          <a:ln w="19050">
            <a:solidFill>
              <a:srgbClr val="2F5AA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992728" y="1828800"/>
            <a:ext cx="4206240" cy="640080"/>
          </a:xfrm>
          <a:prstGeom prst="roundRect">
            <a:avLst>
              <a:gd name="adj" fmla="val 11429"/>
            </a:avLst>
          </a:prstGeom>
          <a:solidFill>
            <a:srgbClr val="1B2A4A"/>
          </a:solidFill>
          <a:ln w="12700">
            <a:solidFill>
              <a:srgbClr val="2F5A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92728" y="182880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Umbrella research question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55168" y="2926080"/>
            <a:ext cx="3383280" cy="640080"/>
          </a:xfrm>
          <a:prstGeom prst="roundRect">
            <a:avLst>
              <a:gd name="adj" fmla="val 11429"/>
            </a:avLst>
          </a:prstGeom>
          <a:solidFill>
            <a:srgbClr val="EAF0FB"/>
          </a:solidFill>
          <a:ln w="12700">
            <a:solidFill>
              <a:srgbClr val="2F5A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5168" y="292608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SQ1 — Selective intervention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55168" y="4114800"/>
            <a:ext cx="3383280" cy="640080"/>
          </a:xfrm>
          <a:prstGeom prst="roundRect">
            <a:avLst>
              <a:gd name="adj" fmla="val 11429"/>
            </a:avLst>
          </a:prstGeom>
          <a:solidFill>
            <a:srgbClr val="F5F7FB"/>
          </a:solidFill>
          <a:ln w="12700">
            <a:solidFill>
              <a:srgbClr val="2F5A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5168" y="411480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1: Intervention architecture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404208" y="2926080"/>
            <a:ext cx="3383280" cy="640080"/>
          </a:xfrm>
          <a:prstGeom prst="roundRect">
            <a:avLst>
              <a:gd name="adj" fmla="val 11429"/>
            </a:avLst>
          </a:prstGeom>
          <a:solidFill>
            <a:srgbClr val="EAF0FB"/>
          </a:solidFill>
          <a:ln w="12700">
            <a:solidFill>
              <a:srgbClr val="2F5A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04208" y="292608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SQ2 — Governed knowledge reuse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404208" y="4114800"/>
            <a:ext cx="3383280" cy="640080"/>
          </a:xfrm>
          <a:prstGeom prst="roundRect">
            <a:avLst>
              <a:gd name="adj" fmla="val 11429"/>
            </a:avLst>
          </a:prstGeom>
          <a:solidFill>
            <a:srgbClr val="F5F7FB"/>
          </a:solidFill>
          <a:ln w="12700">
            <a:solidFill>
              <a:srgbClr val="2F5A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04208" y="411480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2: Judgment lifecycle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153248" y="2926080"/>
            <a:ext cx="3383280" cy="640080"/>
          </a:xfrm>
          <a:prstGeom prst="roundRect">
            <a:avLst>
              <a:gd name="adj" fmla="val 11429"/>
            </a:avLst>
          </a:prstGeom>
          <a:solidFill>
            <a:srgbClr val="EAF0FB"/>
          </a:solidFill>
          <a:ln w="12700">
            <a:solidFill>
              <a:srgbClr val="2F5AA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53248" y="292608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SQ3 — Evaluation &amp; transfer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153248" y="4114800"/>
            <a:ext cx="3383280" cy="640080"/>
          </a:xfrm>
          <a:prstGeom prst="roundRect">
            <a:avLst>
              <a:gd name="adj" fmla="val 11429"/>
            </a:avLst>
          </a:prstGeom>
          <a:solidFill>
            <a:srgbClr val="F5F7FB"/>
          </a:solidFill>
          <a:ln w="12700">
            <a:solidFill>
              <a:srgbClr val="2F5A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53248" y="411480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3: Evaluation &amp; transfer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512064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contract (method, evidence, artifact, metrics, risk, fallback, publication target per study): three-study-contract.md.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557784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requested: D-RQ-03 — study mapping and method direction.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Per-question literature: honest coverage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94360" y="1554480"/>
            <a:ext cx="11002975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Tagging is in place — every source is labelled RQ1 / RQ2 / RQ3 / general (native Excel workbook delivered).</a:t>
            </a:r>
            <a:endParaRPr lang="en-US" sz="1500" dirty="0"/>
          </a:p>
          <a:p>
            <a:pPr algn="l" marL="203200" indent="-2032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 (selective intervention): thin — one survey; agentic-specific oversight work still needed.</a:t>
            </a:r>
            <a:endParaRPr lang="en-US" sz="1500" dirty="0"/>
          </a:p>
          <a:p>
            <a:pPr algn="l" marL="203200" indent="-2032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 (governed reuse): tool-heavy, research-light — capture/provenance/RLHF-contrast papers missing.</a:t>
            </a:r>
            <a:endParaRPr lang="en-US" sz="1500" dirty="0"/>
          </a:p>
          <a:p>
            <a:pPr algn="l" marL="203200" indent="-2032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 (evaluation &amp; transfer): currently empty — the highest-priority gap in the map.</a:t>
            </a:r>
            <a:endParaRPr lang="en-US" sz="1500" dirty="0"/>
          </a:p>
          <a:p>
            <a:pPr algn="l" marL="203200" indent="-2032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gap is mapped to the frozen query (QL-01..05) or explicit snowballing that will close it.</a:t>
            </a:r>
            <a:endParaRPr lang="en-US" sz="1500" dirty="0"/>
          </a:p>
          <a:p>
            <a:pPr algn="l" marL="203200" indent="-2032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database search has been run yet — so no novelty or coverage-completeness claim is made.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5943600"/>
            <a:ext cx="110029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requested (time permitting): D-RQ-08 — initial literature scope and taxonomy direction.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evidence — what is, and is not, established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5501488" cy="3657600"/>
          </a:xfrm>
          <a:prstGeom prst="roundRect">
            <a:avLst>
              <a:gd name="adj" fmla="val 2000"/>
            </a:avLst>
          </a:prstGeom>
          <a:solidFill>
            <a:srgbClr val="E6F4EC"/>
          </a:solidFill>
          <a:ln w="12700">
            <a:solidFill>
              <a:srgbClr val="1E8E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691640"/>
            <a:ext cx="5044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2148840"/>
            <a:ext cx="5044288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 &amp; architecture: capture, memory, advisory, and non-destructive comparison are built and tested (M1–M4B-1).</a:t>
            </a:r>
            <a:endParaRPr lang="en-US" sz="1250" dirty="0"/>
          </a:p>
          <a:p>
            <a:pPr algn="l" marL="203200" indent="-2032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Traceability, explainable retrieval, review routing, governance controls.</a:t>
            </a:r>
            <a:endParaRPr lang="en-US" sz="1250" dirty="0"/>
          </a:p>
          <a:p>
            <a:pPr algn="l" marL="203200" indent="-2032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to run the leakage-controlled evaluation.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41568" y="1554480"/>
            <a:ext cx="5501488" cy="3657600"/>
          </a:xfrm>
          <a:prstGeom prst="roundRect">
            <a:avLst>
              <a:gd name="adj" fmla="val 2000"/>
            </a:avLst>
          </a:prstGeom>
          <a:solidFill>
            <a:srgbClr val="FBE7E5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70168" y="1691640"/>
            <a:ext cx="5044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established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370168" y="2148840"/>
            <a:ext cx="5044288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macro-F1, generalization, effort reduction, or superiority.</a:t>
            </a:r>
            <a:endParaRPr lang="en-US" sz="1250" dirty="0"/>
          </a:p>
          <a:p>
            <a:pPr algn="l" marL="203200" indent="-2032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EXP-005: 0 labels supplied (27 blind rows, 24 generalization-safe; gate needs ≥20).</a:t>
            </a:r>
            <a:endParaRPr lang="en-US" sz="1250" dirty="0"/>
          </a:p>
          <a:p>
            <a:pPr algn="l" marL="203200" indent="-2032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clinical or medical result (medical readiness 0 / 6 gates; MIMIC not selected).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requested: D-RQ-07 — evidence-boundary wording and the five claim states.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structure and horizon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94360" y="1554480"/>
            <a:ext cx="11002975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4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core (both plans): complete Studies 1 &amp; 2 and evaluate the framework first in software/modeling.</a:t>
            </a:r>
            <a:endParaRPr lang="en-US" sz="1450" dirty="0"/>
          </a:p>
          <a:p>
            <a:pPr algn="l" marL="203200" indent="-2032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 — conditional medical extension: only after all six gates (use-case, people, authorization, ethics/privacy, environment, protocol) pass.</a:t>
            </a:r>
            <a:endParaRPr lang="en-US" sz="1450" dirty="0"/>
          </a:p>
          <a:p>
            <a:pPr algn="l" marL="203200" indent="-2032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B — complete software/modeling route: a second authorized SE/modeling context; answers every RQ without medical data.</a:t>
            </a:r>
            <a:endParaRPr lang="en-US" sz="1450" dirty="0"/>
          </a:p>
          <a:p>
            <a:pPr algn="l" marL="203200" indent="-2032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control: 26 August internal checkpoint (not supervisor-approved) — if any gate lacks an owner/evidence/date, Plan B becomes the committed September route.</a:t>
            </a:r>
            <a:endParaRPr lang="en-US" sz="1450" dirty="0"/>
          </a:p>
          <a:p>
            <a:pPr algn="l" marL="203200" indent="-2032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is written in ~3-month, semester-aligned blocks over a 3-year horizon — not month-by-month.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94360" y="5943600"/>
            <a:ext cx="110029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requested: D-RQ-04 (Plan A/B), D-RQ-05 (every RQ answerable under Plan B), D-RQ-06 (26 Aug date).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requested today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7729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7772400"/>
                <a:gridCol w="228600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D-RQ-01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Umbrella research-question wording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Mandatory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E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D-RQ-02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SQ1, SQ2, SQ3 wording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Mandatory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E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D-RQ-03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Three-study mapping &amp; method direction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Mandatory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E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D-RQ-04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 A conditional / Plan B complete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Mandatory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E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D-RQ-05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RQ answerable under Plan 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Mandatory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E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D-RQ-07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Evidence-boundary wording &amp; 5 claim states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Mandatory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E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D-RQ-06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 August fallback control date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B88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permitting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3D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D-RQ-08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Initial literature scope &amp; taxonomy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B88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permitting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3D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D-RQ-09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Bounded metadata-only MIMIC boundary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B88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permitting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3D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D-RQ-10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Owners: medical feasibility &amp; university process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F5A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580644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time is short, close the six Mandatory rows and assign owners for the rest.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next steps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94360" y="1554480"/>
            <a:ext cx="11002975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5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week: finalize the confirmed wording, finish the Chapter-3 draft, complete the per-RQ literature tagging in the shared Sheet, share the Drive.</a:t>
            </a:r>
            <a:endParaRPr lang="en-US" sz="1550" dirty="0"/>
          </a:p>
          <a:p>
            <a:pPr algn="l" marL="203200" indent="-2032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about (not yet start) the literature survey and the research artifact per SQ.</a:t>
            </a:r>
            <a:endParaRPr lang="en-US" sz="1550" dirty="0"/>
          </a:p>
          <a:p>
            <a:pPr algn="l" marL="203200" indent="-2032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the Word proposal plus a separate tracking document.</a:t>
            </a:r>
            <a:endParaRPr lang="en-US" sz="1550" dirty="0"/>
          </a:p>
          <a:p>
            <a:pPr algn="l" marL="203200" indent="-2032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meeting: the following Wednesday under the confirmed weekly 09:00 cadence — goal: Chapter 3 complete and reviewed.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4572000"/>
            <a:ext cx="11094415" cy="1554480"/>
          </a:xfrm>
          <a:prstGeom prst="roundRect">
            <a:avLst>
              <a:gd name="adj" fmla="val 4706"/>
            </a:avLst>
          </a:prstGeom>
          <a:solidFill>
            <a:srgbClr val="F5F7FB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4709160"/>
            <a:ext cx="1063721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Close-out: read back today's decisions, then agree exactly one primary next task with an owner, a date, and a definition of done.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· claim discipline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package does not claim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94360" y="1554480"/>
            <a:ext cx="11002975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research-question wording is reconstructed and provisional until confirmed today.</a:t>
            </a:r>
            <a:endParaRPr lang="en-US" sz="1350" dirty="0"/>
          </a:p>
          <a:p>
            <a:pPr algn="l" marL="203200" indent="-2032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literature search has been executed; no novelty or coverage-completeness claim.</a:t>
            </a:r>
            <a:endParaRPr lang="en-US" sz="1350" dirty="0"/>
          </a:p>
          <a:p>
            <a:pPr algn="l" marL="203200" indent="-2032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EXP-005: 0 labels supplied (27 blind rows, 24 generalization-safe; gate needs ≥20) — no accuracy/generalization/effort claim.</a:t>
            </a:r>
            <a:endParaRPr lang="en-US" sz="1350" dirty="0"/>
          </a:p>
          <a:p>
            <a:pPr algn="l" marL="203200" indent="-2032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readiness 0 / 6 gates; MIMIC not selected; no elapsed-hours audit claim.</a:t>
            </a:r>
            <a:endParaRPr lang="en-US" sz="1350" dirty="0"/>
          </a:p>
          <a:p>
            <a:pPr algn="l" marL="203200" indent="-2032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Drive is not shared/access-tested until it actually is.</a:t>
            </a:r>
            <a:endParaRPr lang="en-US" sz="1350" dirty="0"/>
          </a:p>
          <a:p>
            <a:pPr algn="l" marL="203200" indent="-2032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requirement is complete/accepted; 26 Aug is internal; Sept/Oct are not official university deadlines; no partner access without written evidence.</a:t>
            </a:r>
            <a:endParaRPr lang="en-US" sz="1350" dirty="0"/>
          </a:p>
          <a:p>
            <a:pPr algn="l" marL="203200" indent="-2032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transcript is machine-derived: no verbatim quotes, no confident attribution of unattributed segments.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194560"/>
            <a:ext cx="107286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107286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confirm the research-question architecture and set this week's one next task.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8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VEGO-AI PhD · 12 August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VEGO-AI PhD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VEGO-AI Progress Review — 12 August 2026</dc:title>
  <dc:subject>PptxGenJS Presentation</dc:subject>
  <dc:creator>Ali</dc:creator>
  <cp:lastModifiedBy>Ali</cp:lastModifiedBy>
  <cp:revision>1</cp:revision>
  <dcterms:created xsi:type="dcterms:W3CDTF">2026-08-10T18:02:21Z</dcterms:created>
  <dcterms:modified xsi:type="dcterms:W3CDTF">2026-08-10T18:02:21Z</dcterms:modified>
</cp:coreProperties>
</file>