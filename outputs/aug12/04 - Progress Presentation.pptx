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3864"/>
                </a:solidFill>
              </a:rPr>
              <a:t>Chapter 3 Complete — Gap and 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3832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606060"/>
                </a:solidFill>
              </a:rPr>
              <a:t>PhD-track proposal · progress review</a:t>
            </a:r>
          </a:p>
          <a:p>
            <a:r>
              <a:rPr sz="1500">
                <a:solidFill>
                  <a:srgbClr val="252525"/>
                </a:solidFill>
              </a:rPr>
              <a:t>Ali Hamed  ·  Prof. Iris Reinhartz-Berger  ·  Prof. Arnon</a:t>
            </a:r>
          </a:p>
          <a:p>
            <a:r>
              <a:rPr sz="1500">
                <a:solidFill>
                  <a:srgbClr val="252525"/>
                </a:solidFill>
              </a:rPr>
              <a:t>Wednesday 12 August 2026, 09:00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06060"/>
                </a:solidFill>
              </a:rPr>
              <a:t>Working drafts for review — not supervisor-approved. No accuracy, generalization or clinical claim is made.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06060"/>
                </a:solidFill>
              </a:rPr>
              <a:t>AGENDA ITEM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What you asked for on 5 August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2700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728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4577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Request (E15)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State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Finish the Gap and Research Questions chapter in 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Delivered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Per-RQ literature spreadsheet with an RQ tag column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Delivered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Think about §2 and §4 — do not start them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Thought about, not started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Word proposal + a separate tracking document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Delivered (both)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Share the Drive with Iris and Arnon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Needs Ali (Google account)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Reply to your check-in email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Awaiting the email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Present progress live today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This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06060"/>
                </a:solidFill>
              </a:rPr>
              <a:t>Five of seven delivered in the folder; two require Ali personally.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06060"/>
                </a:solidFill>
              </a:rPr>
              <a:t>AGENDA ITEM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Your corrections — all applied, two flagged 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2700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E6B2E"/>
                </a:solidFill>
              </a:rPr>
              <a:t>• E5 — "reused" removed from the main question; reuse now lives in SQ2 and SQ3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E6B2E"/>
                </a:solidFill>
              </a:rPr>
              <a:t>• E6 — question narrowed to variability in guideline operationalization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E6B2E"/>
                </a:solidFill>
              </a:rPr>
              <a:t>• E7 — "reliable" kept; auditable / transferable / end-to-end dropped from the headline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E6B2E"/>
                </a:solidFill>
              </a:rPr>
              <a:t>• E8 — SQ2 split into capture vs. transfer; "expert judgment" adopted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E6B2E"/>
                </a:solidFill>
              </a:rPr>
              <a:t>• E9 — SQ2 tied to core reasoning; evaluation criteria built into all three questions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E6B2E"/>
                </a:solidFill>
              </a:rPr>
              <a:t>• E12 — SQ3 rebuilt around classifying domain-specific vs. transferable uncertainty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E6B2E"/>
                </a:solidFill>
              </a:rPr>
              <a:t>• E13 — proposal follows the confirmed chapter structure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B04A00"/>
                </a:solidFill>
              </a:rPr>
              <a:t>• Two things I could NOT resolve from the recording — I did not choose silently:</a:t>
            </a:r>
          </a:p>
          <a:p>
            <a:pPr lvl="1">
              <a:spcAft>
                <a:spcPts val="900"/>
              </a:spcAft>
            </a:pPr>
            <a:r>
              <a:rPr sz="1300">
                <a:solidFill>
                  <a:srgbClr val="B04A00"/>
                </a:solidFill>
              </a:rPr>
              <a:t>– "exploration" vs "identification / classification" in the main question</a:t>
            </a:r>
          </a:p>
          <a:p>
            <a:pPr lvl="1">
              <a:spcAft>
                <a:spcPts val="900"/>
              </a:spcAft>
            </a:pPr>
            <a:r>
              <a:rPr sz="1300">
                <a:solidFill>
                  <a:srgbClr val="B04A00"/>
                </a:solidFill>
              </a:rPr>
              <a:t>– "human judgment" vs "expert judgment" across the question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06060"/>
                </a:solidFill>
              </a:rPr>
              <a:t>Both need my saved working draft (A08-01) and your ruling.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06060"/>
                </a:solidFill>
              </a:rPr>
              <a:t>AGENDA ITEM 3 — CHAPTER 3 §3.2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The gap: four fields, each solving a different 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2700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Body of work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Establishes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Leaves open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Automated model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Deviation can be detected and scored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What a deviation MEANS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LLM / agentic assistance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Expert correction is consistently needed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WHEN to ask; WHAT to keep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Human-in-the-loop &amp; oversight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Mechanisms and governance expectations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Selection policy under a budget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Variability engineering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Formalism for DESIGNED variability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OBSERVED interpretive variability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70916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3864"/>
                </a:solidFill>
              </a:rPr>
              <a:t>The gap is the CONNECTION between them:  when to ask  →  what to keep  →  where it may legitimately be reused.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06060"/>
                </a:solidFill>
              </a:rPr>
              <a:t>Openness statements are candidate claims — the systematic searches are frozen and not yet 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06060"/>
                </a:solidFill>
              </a:rPr>
              <a:t>AGENDA ITEM 4 — CHAPTER 3 §3.4–§3.7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One question, three sub-questions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2700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1F3864"/>
                </a:solidFill>
              </a:rPr>
              <a:t>U-RQ  ·  How can human judgment be captured, governed, and used to support agentic-AI-driven variability exploration in guideline operationalization scenarios, enabling reliable human–AI co-reasoning?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788920"/>
          <a:ext cx="10972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25780">
                <a:tc>
                  <a:txBody>
                    <a:bodyPr/>
                    <a:lstStyle/>
                    <a:p/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Asks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Built-in evaluation criterion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2525"/>
                          </a:solidFill>
                        </a:rPr>
                        <a:t>SQ1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2525"/>
                          </a:solidFill>
                        </a:rPr>
                        <a:t>WHEN should the system ask an expert?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2525"/>
                          </a:solidFill>
                        </a:rPr>
                        <a:t>Coverage of important uncertainty AND bounded burden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2525"/>
                          </a:solidFill>
                        </a:rPr>
                        <a:t>SQ2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2525"/>
                          </a:solidFill>
                        </a:rPr>
                        <a:t>WHAT must be kept, under what governance?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2525"/>
                          </a:solidFill>
                        </a:rPr>
                        <a:t>No unsafe generalization; no loss of human authority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2525"/>
                          </a:solidFill>
                        </a:rPr>
                        <a:t>SQ3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2525"/>
                          </a:solidFill>
                        </a:rPr>
                        <a:t>WHERE ELSE does a judgment hold?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2525"/>
                          </a:solidFill>
                        </a:rPr>
                        <a:t>Classification must discriminate; transfer must survive leakage controls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06060"/>
                </a:solidFill>
              </a:rPr>
              <a:t>Each question can fail on its own terms — and a negative result is still a reportable contribution.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06060"/>
                </a:solidFill>
              </a:rPr>
              <a:t>AGENDA ITEM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Literature: 40 sources tagged — and what they do NOT 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2700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252525"/>
                </a:solidFill>
              </a:rPr>
              <a:t>• 40 verified sources, each tagged RQ1 / RQ2 / RQ3 / general, independently fabrication-checked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2525"/>
                </a:solidFill>
              </a:rPr>
              <a:t>• Coverage-gap analysis per question — the part beyond an inventory:</a:t>
            </a:r>
          </a:p>
          <a:p>
            <a:pPr lvl="1">
              <a:spcAft>
                <a:spcPts val="900"/>
              </a:spcAft>
            </a:pPr>
            <a:r>
              <a:rPr sz="1400">
                <a:solidFill>
                  <a:srgbClr val="B04A00"/>
                </a:solidFill>
              </a:rPr>
              <a:t>– RQ1 — nothing on interrupt/approval mechanics inside a multi-agent LLM pipeline</a:t>
            </a:r>
          </a:p>
          <a:p>
            <a:pPr lvl="1">
              <a:spcAft>
                <a:spcPts val="900"/>
              </a:spcAft>
            </a:pPr>
            <a:r>
              <a:rPr sz="1400">
                <a:solidFill>
                  <a:srgbClr val="B04A00"/>
                </a:solidFill>
              </a:rPr>
              <a:t>– RQ2 — weakest coverage: no agent-memory or learning-from-feedback sources</a:t>
            </a:r>
          </a:p>
          <a:p>
            <a:pPr lvl="1">
              <a:spcAft>
                <a:spcPts val="900"/>
              </a:spcAft>
            </a:pPr>
            <a:r>
              <a:rPr sz="1400">
                <a:solidFill>
                  <a:srgbClr val="B04A00"/>
                </a:solidFill>
              </a:rPr>
              <a:t>– RQ3 — no usability instruments, no cross-domain transfer studies</a:t>
            </a:r>
          </a:p>
          <a:p>
            <a:pPr lvl="1">
              <a:spcAft>
                <a:spcPts val="900"/>
              </a:spcAft>
            </a:pPr>
            <a:r>
              <a:rPr sz="1400">
                <a:solidFill>
                  <a:srgbClr val="B04A00"/>
                </a:solidFill>
              </a:rPr>
              <a:t>– general — NO design-science methodology sources, though the method is design science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2525"/>
                </a:solidFill>
              </a:rPr>
              <a:t>• Frozen search protocol QL-01…QL-05 ready to execute on your 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06060"/>
                </a:solidFill>
              </a:rPr>
              <a:t>Seed corpus from our own MAS4Models reference list + the tracked resource pack. Not a systematic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06060"/>
                </a:solidFill>
              </a:rPr>
              <a:t>AGENDA ITEM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Evidence position — unchanged, and stated plainly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2700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Gate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it blocks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Independent expert labels (EXP-005)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0 of 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Every quantitative accuracy claim (≥20 needed)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Medical entry gates G1–G6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0 of 6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Any medical data processing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Literature searches QL-01…QL-05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Not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Any novelty or completeness statement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Accuracy / generalization / clinical claims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None made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52525"/>
                          </a:solidFill>
                        </a:rPr>
                        <a:t>— checked by an automated guard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4348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B04A00"/>
                </a:solidFill>
              </a:rPr>
              <a:t>The binding constraint is not writing or engineering — it is independent expert labels. That needs two reviewers and an adjudicator: a resourcing decision, not a build task.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06060"/>
                </a:solidFill>
              </a:rPr>
              <a:t>Nothing in this package depends on evidence we do not have.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06060"/>
                </a:solidFill>
              </a:rPr>
              <a:t>AGENDA ITEM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§2 and §4 — thought about, deliberately not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2700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252525"/>
                </a:solidFill>
              </a:rPr>
              <a:t>• §2 literature survey: four structural options with trade-offs (SQ-parallel / community-parallel / lifecycle-stage / hybrid) — none selected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2525"/>
                </a:solidFill>
              </a:rPr>
              <a:t>• §4 research artifact: nine options across SQ1–SQ3, at different abstraction levels — none selected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B04A00"/>
                </a:solidFill>
              </a:rPr>
              <a:t>• A recurring issue surfaced: the current "core artifact" rows bundle 6, 9 and 10 components; several SQ3 items are study OUTPUTS, not artifacts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52525"/>
                </a:solidFill>
              </a:rPr>
              <a:t>• 14 open questions prepared for you — grouped by chapter shape, artifact definition, evidence admissibility, and resourcing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06060"/>
                </a:solidFill>
              </a:rPr>
              <a:t>Compliance with your instruction — the thinking is delivered; neither section is begun.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06060"/>
                </a:solidFill>
              </a:rPr>
              <a:t>AGENDA ITEM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Eight decisions I need from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12700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06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Blocks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2525"/>
                          </a:solidFill>
                        </a:rPr>
                        <a:t>D-RQ-01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2525"/>
                          </a:solidFill>
                        </a:rPr>
                        <a:t>Final U-RQ and SQ1–SQ3 wording (incl. the two flagged discrepancies)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2525"/>
                          </a:solidFill>
                        </a:rPr>
                        <a:t>Everything downstream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2525"/>
                          </a:solidFill>
                        </a:rPr>
                        <a:t>D-RQ-02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2525"/>
                          </a:solidFill>
                        </a:rPr>
                        <a:t>Ratify or reverse dropping auditable / transferable / end-to-end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2525"/>
                          </a:solidFill>
                        </a:rPr>
                        <a:t>Title and headline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2525"/>
                          </a:solidFill>
                        </a:rPr>
                        <a:t>D-TITLE-01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2525"/>
                          </a:solidFill>
                        </a:rPr>
                        <a:t>Proposal title — three candidates offered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2525"/>
                          </a:solidFill>
                        </a:rPr>
                        <a:t>Submission-readiness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2525"/>
                          </a:solidFill>
                        </a:rPr>
                        <a:t>D-DECOMP-01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2525"/>
                          </a:solidFill>
                        </a:rPr>
                        <a:t>Are three sub-questions jointly sufficient for "reliable co-reasoning"?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2525"/>
                          </a:solidFill>
                        </a:rPr>
                        <a:t>Chapter 3 sign-off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2525"/>
                          </a:solidFill>
                        </a:rPr>
                        <a:t>D-CH2-01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2525"/>
                          </a:solidFill>
                        </a:rPr>
                        <a:t>Chapter 2 structure — which of four options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2525"/>
                          </a:solidFill>
                        </a:rPr>
                        <a:t>Starting §2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2525"/>
                          </a:solidFill>
                        </a:rPr>
                        <a:t>D-ART-01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2525"/>
                          </a:solidFill>
                        </a:rPr>
                        <a:t>One named artifact per study, or a package?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2525"/>
                          </a:solidFill>
                        </a:rPr>
                        <a:t>Starting §4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2525"/>
                          </a:solidFill>
                        </a:rPr>
                        <a:t>D-SEARCH-01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2525"/>
                          </a:solidFill>
                        </a:rPr>
                        <a:t>Run searches before or after wording sign-off? Add QL-06+?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2525"/>
                          </a:solidFill>
                        </a:rPr>
                        <a:t>Literature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2525"/>
                          </a:solidFill>
                        </a:rPr>
                        <a:t>D-PRELIM-01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2525"/>
                          </a:solidFill>
                        </a:rPr>
                        <a:t>Which preliminary results may appear, labelled how?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2525"/>
                          </a:solidFill>
                        </a:rPr>
                        <a:t>Chapter 5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06060"/>
                </a:solidFill>
              </a:rPr>
              <a:t>The first three block everything else.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Where this leaves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1064240" cy="12700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2E6B2E"/>
                </a:solidFill>
              </a:rPr>
              <a:t>• Chapter 3 is complete, cited, and honest about what is still a candidate claim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E6B2E"/>
                </a:solidFill>
              </a:rPr>
              <a:t>• The literature map exists — and its gaps are now visible rather than latent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52525"/>
                </a:solidFill>
              </a:rPr>
              <a:t>• §2 and §4 are ready to start the moment you confirm direction and wording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B04A00"/>
                </a:solidFill>
              </a:rPr>
              <a:t>• Two wording questions and eight decisions are on the table today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52525"/>
                </a:solidFill>
              </a:rPr>
              <a:t>• Next after this meeting: apply your rulings in one pass, then execute the searches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606060"/>
                </a:solidFill>
              </a:rPr>
              <a:t>All materials in the shared Drive folder: 2026-08-12 Supervisor Package.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