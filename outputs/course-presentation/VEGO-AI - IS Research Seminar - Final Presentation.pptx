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boundary, not a boast. This is a controlled literature review and a research</a:t>
            </a:r>
          </a:p>
          <a:p>
            <a:r>
              <a:t>agenda - not an empirical result.</a:t>
            </a:r>
          </a:p>
          <a:p/>
          <a:p>
            <a:r>
              <a:t>Then the tension: Iris's own MODELS paper is called "Not All Differences Matter" - the class</a:t>
            </a:r>
          </a:p>
          <a:p>
            <a:r>
              <a:t>saw her present it in week 5. My question starts one step later. Once an agent has found a</a:t>
            </a:r>
          </a:p>
          <a:p>
            <a:r>
              <a:t>difference, WHO decides whether it is a legitimate alternative or an error, and how does that</a:t>
            </a:r>
          </a:p>
          <a:p>
            <a:r>
              <a:t>decision stop being thrown away?  (~35 sec)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the problem before any technology. The same difference can be a valid alternative, a</a:t>
            </a:r>
          </a:p>
          <a:p>
            <a:r>
              <a:t>real error, or evidence that the guideline itself is wrong.</a:t>
            </a:r>
          </a:p>
          <a:p/>
          <a:p>
            <a:r>
              <a:t>Then the reframing that drives the whole review: human oversight is not a slogan or an</a:t>
            </a:r>
          </a:p>
          <a:p>
            <a:r>
              <a:t>approval button. It decomposes into four testable design problems. Those four become my</a:t>
            </a:r>
          </a:p>
          <a:p>
            <a:r>
              <a:t>sub-questions.  (~50 sec)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strongest motivation slide because almost none of it is mine.</a:t>
            </a:r>
          </a:p>
          <a:p/>
          <a:p>
            <a:r>
              <a:t>The framework's own authors report that uncovered-fragment auditing sits at 0.55 in both</a:t>
            </a:r>
          </a:p>
          <a:p>
            <a:r>
              <a:t>use-case settings, and that agreement with the human grader is weak. Then their future-work</a:t>
            </a:r>
          </a:p>
          <a:p>
            <a:r>
              <a:t>section names exactly the three pipeline stages where oversight is needed - which is my SQ1,</a:t>
            </a:r>
          </a:p>
          <a:p>
            <a:r>
              <a:t>in someone else's peer-reviewed paper.</a:t>
            </a:r>
          </a:p>
          <a:p/>
          <a:p>
            <a:r>
              <a:t>Be precise: these are THEIR numbers, in THEIR setting, reported not reproduced. I claim</a:t>
            </a:r>
          </a:p>
          <a:p>
            <a:r>
              <a:t>nothing about my own performance.  (~55 sec)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published evaluation looks at outputs. I instrumented the process.</a:t>
            </a:r>
          </a:p>
          <a:p/>
          <a:p>
            <a:r>
              <a:t>Four settings produced 481 lifecycle events; the review queue a human actually had could</a:t>
            </a:r>
          </a:p>
          <a:p>
            <a:r>
              <a:t>surface 11. Thirty-three reference guidelines per setting were revised without any human</a:t>
            </a:r>
          </a:p>
          <a:p>
            <a:r>
              <a:t>review - and those guidelines are what every assessment is measured against.</a:t>
            </a:r>
          </a:p>
          <a:p/>
          <a:p>
            <a:r>
              <a:t>Then the third number, which is the real research problem: to catch 80% of high-severity</a:t>
            </a:r>
          </a:p>
          <a:p>
            <a:r>
              <a:t>events you must route roughly 80% of them to a person. That defeats the automation. So "add</a:t>
            </a:r>
          </a:p>
          <a:p>
            <a:r>
              <a:t>a human in the loop" is not yet an answer - WHICH cases, WHEN, and at what dose is open.</a:t>
            </a:r>
          </a:p>
          <a:p/>
          <a:p>
            <a:r>
              <a:t>Careful: this says the process was invisible and the trade-off is real. It does NOT say the</a:t>
            </a:r>
          </a:p>
          <a:p>
            <a:r>
              <a:t>assessments were wrong. I have no expert labels yet.  (~55 sec)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Brief research context, not a product demo. Four agents, each producing something a human</a:t>
            </a:r>
          </a:p>
          <a:p>
            <a:r>
              <a:t>might need to rule on - the red boxes are the insertion points.</a:t>
            </a:r>
          </a:p>
          <a:p/>
          <a:p>
            <a:r>
              <a:t>Then the honest split at the bottom. What the manuscript reports as working, and what is</a:t>
            </a:r>
          </a:p>
          <a:p>
            <a:r>
              <a:t>simply not established. I am building on their foundation, not claiming their results as</a:t>
            </a:r>
          </a:p>
          <a:p>
            <a:r>
              <a:t>mine - and I am not an author of that paper.  (~50 sec)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question once, slowly. Then the three decisions behind its wording, because this</a:t>
            </a:r>
          </a:p>
          <a:p>
            <a:r>
              <a:t>course cares about how a question is built.</a:t>
            </a:r>
          </a:p>
          <a:p/>
          <a:p>
            <a:r>
              <a:t>It names the task not the solution. It is deliberately narrower than "human-AI collaboration"</a:t>
            </a:r>
          </a:p>
          <a:p>
            <a:r>
              <a:t>- it has to attach to a real decision unit. And it keeps reuse OUT of the headline, so reuse</a:t>
            </a:r>
          </a:p>
          <a:p>
            <a:r>
              <a:t>stays something I test rather than assume.</a:t>
            </a:r>
          </a:p>
          <a:p/>
          <a:p>
            <a:r>
              <a:t>Be honest that the wording is still provisional; two specific words are unresolved.  (~45 sec)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sub-questions, and each has to become a study with its own artifact, comparator and</a:t>
            </a:r>
          </a:p>
          <a:p>
            <a:r>
              <a:t>falsification criterion - that is the structure my supervisors asked for, and it maps onto</a:t>
            </a:r>
          </a:p>
          <a:p>
            <a:r>
              <a:t>the design-science framing from this course.</a:t>
            </a:r>
          </a:p>
          <a:p/>
          <a:p>
            <a:r>
              <a:t>The footnote matters: separating them is a methodological safeguard. Otherwise the same</a:t>
            </a:r>
          </a:p>
          <a:p>
            <a:r>
              <a:t>twenty-odd expert labels get reused as evidence for everything, which would be indefensible.</a:t>
            </a:r>
          </a:p>
          <a:p/>
          <a:p>
            <a:r>
              <a:t>Say it plainly: the questions are domain-neutral. Software engineering and medicine are where</a:t>
            </a:r>
          </a:p>
          <a:p>
            <a:r>
              <a:t>I would test them, not what they are about.  (~55 sec)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asks for the search process to be explicit, so this is the honest version.</a:t>
            </a:r>
          </a:p>
          <a:p/>
          <a:p>
            <a:r>
              <a:t>Four research areas. The first is the centre of gravity, and that was a deliberate</a:t>
            </a:r>
          </a:p>
          <a:p>
            <a:r>
              <a:t>supervisory decision: organise the review around human involvement in agentic AI generally,</a:t>
            </a:r>
          </a:p>
          <a:p>
            <a:r>
              <a:t>NOT around our specific application. The literature has to justify the problem, not describe</a:t>
            </a:r>
          </a:p>
          <a:p>
            <a:r>
              <a:t>my solution.</a:t>
            </a:r>
          </a:p>
          <a:p/>
          <a:p>
            <a:r>
              <a:t>Note what I exclude - enabling technology. Interesting, but it belongs in the methodology</a:t>
            </a:r>
          </a:p>
          <a:p>
            <a:r>
              <a:t>chapter, not in the review that establishes the gap.</a:t>
            </a:r>
          </a:p>
          <a:p/>
          <a:p>
            <a:r>
              <a:t>The GenAI box is a course requirement and I would rather show it than be asked.  (~55 sec)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CL7 search-strategy requirement, answered without pretending.</a:t>
            </a:r>
          </a:p>
          <a:p/>
          <a:p>
            <a:r>
              <a:t>The query families are locked and registered - I can show you the exact strings. The sources</a:t>
            </a:r>
          </a:p>
          <a:p>
            <a:r>
              <a:t>are named. But the formal database searches have NOT been executed: zero of five.</a:t>
            </a:r>
          </a:p>
          <a:p/>
          <a:p>
            <a:r>
              <a:t>So what IS the evidence base? Twenty anchor mappings, five per research question, each</a:t>
            </a:r>
          </a:p>
          <a:p>
            <a:r>
              <a:t>bibliographically verified; fourteen at full text, six at record level.</a:t>
            </a:r>
          </a:p>
          <a:p/>
          <a:p>
            <a:r>
              <a:t>That means I can say what I have read. I cannot say what does not exist. Every gap on the</a:t>
            </a:r>
          </a:p>
          <a:p>
            <a:r>
              <a:t>next slides is stated inside that limit - and I will say so again when I get there.  (~50 sec)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streams — don't read them out.</a:t>
            </a:r>
          </a:p>
          <a:p/>
          <a:p>
            <a:r>
              <a:t>Make ONE point: every stream is strong at one checkpoint and silent at another. Deferral knows when to route but treats the answer as a terminal label. Mixed initiative manages control but defines no reusable object. Provenance records lineage but never decides when to ask. Retrieval finds similar cases but similarity is not permission.</a:t>
            </a:r>
          </a:p>
          <a:p/>
          <a:p>
            <a:r>
              <a:t>That pattern is what forced the framework on the next slide: I needed to see the handovers, not the topics. (~55 sec)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centre of the talk — the classification framework CL7 asks for.</a:t>
            </a:r>
          </a:p>
          <a:p/>
          <a:p>
            <a:r>
              <a:t>The move that made it work: stop classifying papers by topic, and instead follow ONE expert ruling through five checkpoints — trigger, ask, record, reuse, prove. Each column is a governance question.</a:t>
            </a:r>
          </a:p>
          <a:p/>
          <a:p>
            <a:r>
              <a:t>Now read DOWN the columns. That is aggregation, and it is where the gaps become visible. The two dashed lines are the finding: ASK→RECORD and RECORD→REUSE are the weak handoffs.</a:t>
            </a:r>
          </a:p>
          <a:p/>
          <a:p>
            <a:r>
              <a:t>Say the caveat out loud: this is my coding of the corpus I have read, single-researcher, no inter-coder reliability yet. Running the formal searches may change a cell — that would be a real result, not a failure. (~85 sec — most important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gaps, six matching contribution hypotheses — C1 to C6.</a:t>
            </a:r>
          </a:p>
          <a:p/>
          <a:p>
            <a:r>
              <a:t>Framing matters enormously here: each gap is a thin or empty region of the grid you just saw. Gaps come from the findings, not from the conclusion — that is the course's rule and it is also just good science.</a:t>
            </a:r>
          </a:p>
          <a:p/>
          <a:p>
            <a:r>
              <a:t>Avoid the lazy framing that this area is unstudied — deferral and provenance plainly are studied. The defensible gap is the INTEGRATION: connecting intervention, representation, governance, memory and transfer into one traceable loop for variability exploration.</a:t>
            </a:r>
          </a:p>
          <a:p/>
          <a:p>
            <a:r>
              <a:t>And be explicit: C1–C6 are design and research hypotheses. They are not implemented, and not empirically beneficial, until artifacts pass tests and independent evaluation. (~65 sec)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 it together. The gap I take is the connected one - not "when to ask", not "what to</a:t>
            </a:r>
          </a:p>
          <a:p>
            <a:r>
              <a:t>store", but the fact that these are studied separately and the handovers between them are</a:t>
            </a:r>
          </a:p>
          <a:p>
            <a:r>
              <a:t>where the open questions live.</a:t>
            </a:r>
          </a:p>
          <a:p/>
          <a:p>
            <a:r>
              <a:t>Then the gates, in order, because a research agenda without gates is a wish list. Note that</a:t>
            </a:r>
          </a:p>
          <a:p>
            <a:r>
              <a:t>three of the six are hard blockers I do not control: the wording decision, the labels, and</a:t>
            </a:r>
          </a:p>
          <a:p>
            <a:r>
              <a:t>medical governance.</a:t>
            </a:r>
          </a:p>
          <a:p/>
          <a:p>
            <a:r>
              <a:t>Close on the design thesis sentence. That is the one sentence I want them to remember.</a:t>
            </a:r>
          </a:p>
          <a:p>
            <a:r>
              <a:t>(~55 sec)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if asked for exact wording, or if someone challenges the substantial/occasional</a:t>
            </a:r>
          </a:p>
          <a:p>
            <a:r>
              <a:t>terminology - which is a fair challenge, and it is why G6 exists.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answers "how do you know you are not overclaiming". Each claim in the</a:t>
            </a:r>
          </a:p>
          <a:p>
            <a:r>
              <a:t>review is tagged to the maturity of its evidence, and the permitted wording follows from</a:t>
            </a:r>
          </a:p>
          <a:p>
            <a:r>
              <a:t>that tag rather than from how confident I feel.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if asked why a confidence threshold is not enough. The point is bounded expert attention:</a:t>
            </a:r>
          </a:p>
          <a:p>
            <a:r>
              <a:t>a policy, not a threshold - and the priority score is a design hypothesis, not an estimated</a:t>
            </a:r>
          </a:p>
          <a:p>
            <a:r>
              <a:t>model.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if asked what "capturing judgment" actually means. The acceptance test is</a:t>
            </a:r>
          </a:p>
          <a:p>
            <a:r>
              <a:t>reconstruction: could an authorized reviewer who was not present rebuild why this ruling was</a:t>
            </a:r>
          </a:p>
          <a:p>
            <a:r>
              <a:t>made? The reasoning-capture rule at the bottom is the privacy and proportionality boundary.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for the transfer question. The one line to land: similarity retrieves, permission</a:t>
            </a:r>
          </a:p>
          <a:p>
            <a:r>
              <a:t>governs. And updating the store from target labels before evaluation would break the</a:t>
            </a:r>
          </a:p>
          <a:p>
            <a:r>
              <a:t>frozen-store design and void any transfer evidence - which is why it matters.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if asked "how would you know you are wrong". Every study has a stated falsification</a:t>
            </a:r>
          </a:p>
          <a:p>
            <a:r>
              <a:t>condition, written before the data exists. Note also that EXP-005 alone cannot satisfy all</a:t>
            </a:r>
          </a:p>
          <a:p>
            <a:r>
              <a:t>three - each has its own estimand.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I would use if someone asks "so does it work?" or "how much of this did AI write?".</a:t>
            </a:r>
          </a:p>
          <a:p/>
          <a:p>
            <a:r>
              <a:t>Honest answer to the first: I can show mechanism and observability and the trade-off. I</a:t>
            </a:r>
          </a:p>
          <a:p>
            <a:r>
              <a:t>cannot show quality, effort or transfer, because that needs independent expert labels and I</a:t>
            </a:r>
          </a:p>
          <a:p>
            <a:r>
              <a:t>have none validated.</a:t>
            </a:r>
          </a:p>
          <a:p/>
          <a:p>
            <a:r>
              <a:t>Honest answer to the second: AI helped organise, draft and draw. It did not decide what to</a:t>
            </a:r>
          </a:p>
          <a:p>
            <a:r>
              <a:t>include, invent a citation, or create a label. Stating that boundary is what makes the rest</a:t>
            </a:r>
          </a:p>
          <a:p>
            <a:r>
              <a:t>credible.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740"/>
        </a:solidFill>
        <a:effectLst/>
      </p:bgPr>
    </p:bg>
    <p:spTree>
      <p:nvGrpSpPr>
        <p:cNvPr id="1" name=""/>
        <p:cNvGrpSpPr/>
        <p:nvPr/>
      </p:nvGrpSpPr>
      <p:grpSpPr/>
      <p:sp>
        <p:nvSpPr>
          <p:cNvPr id="2" name="TextBox 1"/>
          <p:cNvSpPr txBox="1"/>
          <p:nvPr/>
        </p:nvSpPr>
        <p:spPr>
          <a:xfrm>
            <a:off x="566928" y="896112"/>
            <a:ext cx="11057839" cy="274320"/>
          </a:xfrm>
          <a:prstGeom prst="rect">
            <a:avLst/>
          </a:prstGeom>
          <a:noFill/>
        </p:spPr>
        <p:txBody>
          <a:bodyPr wrap="square" anchor="t" lIns="0" rIns="0" tIns="0" bIns="0">
            <a:spAutoFit/>
          </a:bodyPr>
          <a:lstStyle/>
          <a:p>
            <a:pPr algn="l">
              <a:spcBef>
                <a:spcPts val="0"/>
              </a:spcBef>
              <a:spcAft>
                <a:spcPts val="0"/>
              </a:spcAft>
            </a:pPr>
            <a:r>
              <a:rPr sz="1200" b="1" i="0">
                <a:solidFill>
                  <a:srgbClr val="CDE2FB"/>
                </a:solidFill>
                <a:latin typeface="Calibri"/>
              </a:rPr>
              <a:t>IS RESEARCH SEMINAR  ·  214.4001  ·  FINAL PRESENTATION</a:t>
            </a:r>
          </a:p>
        </p:txBody>
      </p:sp>
      <p:sp>
        <p:nvSpPr>
          <p:cNvPr id="3" name="TextBox 2"/>
          <p:cNvSpPr txBox="1"/>
          <p:nvPr/>
        </p:nvSpPr>
        <p:spPr>
          <a:xfrm>
            <a:off x="566928" y="1335024"/>
            <a:ext cx="10424160" cy="1371600"/>
          </a:xfrm>
          <a:prstGeom prst="rect">
            <a:avLst/>
          </a:prstGeom>
          <a:noFill/>
        </p:spPr>
        <p:txBody>
          <a:bodyPr wrap="square" anchor="t" lIns="0" rIns="0" tIns="0" bIns="0">
            <a:spAutoFit/>
          </a:bodyPr>
          <a:lstStyle/>
          <a:p>
            <a:pPr algn="l">
              <a:lnSpc>
                <a:spcPct val="106000"/>
              </a:lnSpc>
              <a:spcBef>
                <a:spcPts val="0"/>
              </a:spcBef>
              <a:spcAft>
                <a:spcPts val="0"/>
              </a:spcAft>
            </a:pPr>
            <a:r>
              <a:rPr sz="4100" b="1" i="0">
                <a:solidFill>
                  <a:srgbClr val="FFFFFF"/>
                </a:solidFill>
                <a:latin typeface="Cambria"/>
              </a:rPr>
              <a:t>Not all differences matter.</a:t>
            </a:r>
          </a:p>
          <a:p>
            <a:pPr algn="l">
              <a:lnSpc>
                <a:spcPct val="106000"/>
              </a:lnSpc>
              <a:spcBef>
                <a:spcPts val="0"/>
              </a:spcBef>
              <a:spcAft>
                <a:spcPts val="0"/>
              </a:spcAft>
            </a:pPr>
            <a:r>
              <a:rPr sz="4100" b="1" i="0">
                <a:solidFill>
                  <a:srgbClr val="CDE2FB"/>
                </a:solidFill>
                <a:latin typeface="Cambria"/>
              </a:rPr>
              <a:t>So who decides which ones do?</a:t>
            </a:r>
          </a:p>
        </p:txBody>
      </p:sp>
      <p:sp>
        <p:nvSpPr>
          <p:cNvPr id="4" name="TextBox 3"/>
          <p:cNvSpPr txBox="1"/>
          <p:nvPr/>
        </p:nvSpPr>
        <p:spPr>
          <a:xfrm>
            <a:off x="566928" y="2798064"/>
            <a:ext cx="10241280" cy="457200"/>
          </a:xfrm>
          <a:prstGeom prst="rect">
            <a:avLst/>
          </a:prstGeom>
          <a:noFill/>
        </p:spPr>
        <p:txBody>
          <a:bodyPr wrap="square" anchor="t" lIns="0" rIns="0" tIns="0" bIns="0">
            <a:spAutoFit/>
          </a:bodyPr>
          <a:lstStyle/>
          <a:p>
            <a:pPr algn="l">
              <a:lnSpc>
                <a:spcPct val="120000"/>
              </a:lnSpc>
              <a:spcBef>
                <a:spcPts val="0"/>
              </a:spcBef>
              <a:spcAft>
                <a:spcPts val="0"/>
              </a:spcAft>
            </a:pPr>
            <a:r>
              <a:rPr sz="1600" b="0" i="0">
                <a:solidFill>
                  <a:srgbClr val="C8D6E6"/>
                </a:solidFill>
                <a:latin typeface="Calibri"/>
              </a:rPr>
              <a:t>Governed human judgment in agentic-AI variability exploration — a structured exploratory literature review</a:t>
            </a:r>
          </a:p>
        </p:txBody>
      </p:sp>
      <p:sp>
        <p:nvSpPr>
          <p:cNvPr id="5" name="Rounded Rectangle 4"/>
          <p:cNvSpPr/>
          <p:nvPr/>
        </p:nvSpPr>
        <p:spPr>
          <a:xfrm>
            <a:off x="566928" y="3456432"/>
            <a:ext cx="10424160" cy="1280160"/>
          </a:xfrm>
          <a:prstGeom prst="roundRect">
            <a:avLst>
              <a:gd name="adj" fmla="val 4000"/>
            </a:avLst>
          </a:prstGeom>
          <a:solidFill>
            <a:srgbClr val="1B3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77824" y="3621024"/>
            <a:ext cx="9829800" cy="960120"/>
          </a:xfrm>
          <a:prstGeom prst="rect">
            <a:avLst/>
          </a:prstGeom>
          <a:noFill/>
        </p:spPr>
        <p:txBody>
          <a:bodyPr wrap="square" anchor="t" lIns="0" rIns="0" tIns="0" bIns="0">
            <a:spAutoFit/>
          </a:bodyPr>
          <a:lstStyle/>
          <a:p>
            <a:pPr algn="l">
              <a:spcBef>
                <a:spcPts val="0"/>
              </a:spcBef>
              <a:spcAft>
                <a:spcPts val="500"/>
              </a:spcAft>
            </a:pPr>
            <a:r>
              <a:rPr sz="1050" b="1" i="0">
                <a:solidFill>
                  <a:srgbClr val="CDE2FB"/>
                </a:solidFill>
                <a:latin typeface="Calibri"/>
              </a:rPr>
              <a:t>RESEARCH QUESTION</a:t>
            </a:r>
          </a:p>
          <a:p>
            <a:pPr algn="l">
              <a:lnSpc>
                <a:spcPct val="122000"/>
              </a:lnSpc>
              <a:spcBef>
                <a:spcPts val="0"/>
              </a:spcBef>
              <a:spcAft>
                <a:spcPts val="0"/>
              </a:spcAft>
            </a:pPr>
            <a:r>
              <a:rPr sz="1400" b="0" i="1">
                <a:solidFill>
                  <a:srgbClr val="FFFFFF"/>
                </a:solidFill>
                <a:latin typeface="Calibri"/>
              </a:rPr>
              <a:t>How can human judgment be captured, governed, and used to support agentic-AI-driven variability exploration in guideline operationalization scenarios, enabling reliable human–AI co-reasoning?</a:t>
            </a:r>
          </a:p>
        </p:txBody>
      </p:sp>
      <p:sp>
        <p:nvSpPr>
          <p:cNvPr id="7" name="TextBox 6"/>
          <p:cNvSpPr txBox="1"/>
          <p:nvPr/>
        </p:nvSpPr>
        <p:spPr>
          <a:xfrm>
            <a:off x="566928" y="4974336"/>
            <a:ext cx="10424160" cy="1097280"/>
          </a:xfrm>
          <a:prstGeom prst="rect">
            <a:avLst/>
          </a:prstGeom>
          <a:noFill/>
        </p:spPr>
        <p:txBody>
          <a:bodyPr wrap="square" anchor="t" lIns="0" rIns="0" tIns="0" bIns="0">
            <a:spAutoFit/>
          </a:bodyPr>
          <a:lstStyle/>
          <a:p>
            <a:pPr algn="l">
              <a:spcBef>
                <a:spcPts val="0"/>
              </a:spcBef>
              <a:spcAft>
                <a:spcPts val="400"/>
              </a:spcAft>
            </a:pPr>
            <a:r>
              <a:rPr sz="1500" b="1" i="0">
                <a:solidFill>
                  <a:srgbClr val="FFFFFF"/>
                </a:solidFill>
                <a:latin typeface="Calibri"/>
              </a:rPr>
              <a:t>Ali Hamed</a:t>
            </a:r>
          </a:p>
          <a:p>
            <a:pPr algn="l">
              <a:spcBef>
                <a:spcPts val="0"/>
              </a:spcBef>
              <a:spcAft>
                <a:spcPts val="0"/>
              </a:spcAft>
            </a:pPr>
            <a:r>
              <a:rPr sz="1250" b="0" i="0">
                <a:solidFill>
                  <a:srgbClr val="A9BCD0"/>
                </a:solidFill>
                <a:latin typeface="Calibri"/>
              </a:rPr>
              <a:t>M.Sc. Information Systems · University of Haifa</a:t>
            </a:r>
          </a:p>
          <a:p>
            <a:pPr algn="l">
              <a:spcBef>
                <a:spcPts val="200"/>
              </a:spcBef>
              <a:spcAft>
                <a:spcPts val="0"/>
              </a:spcAft>
            </a:pPr>
            <a:r>
              <a:rPr sz="1250" b="0" i="0">
                <a:solidFill>
                  <a:srgbClr val="A9BCD0"/>
                </a:solidFill>
                <a:latin typeface="Calibri"/>
              </a:rPr>
              <a:t>Supervisors: Prof. Iris Reinhartz-Berger · Prof. Arnon Sturm</a:t>
            </a:r>
          </a:p>
          <a:p>
            <a:pPr algn="l">
              <a:spcBef>
                <a:spcPts val="600"/>
              </a:spcBef>
              <a:spcAft>
                <a:spcPts val="0"/>
              </a:spcAft>
            </a:pPr>
            <a:r>
              <a:rPr sz="1050" b="0" i="1">
                <a:solidFill>
                  <a:srgbClr val="7E94AC"/>
                </a:solidFill>
                <a:latin typeface="Calibri"/>
              </a:rPr>
              <a:t>Doctoral working draft · research-question wording provisional, not supervisor-approved · no empirical or medical claim.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237744"/>
          </a:xfrm>
          <a:prstGeom prst="rect">
            <a:avLst/>
          </a:prstGeom>
          <a:noFill/>
        </p:spPr>
        <p:txBody>
          <a:bodyPr wrap="square" anchor="t" lIns="0" rIns="0" tIns="0" bIns="0">
            <a:spAutoFit/>
          </a:bodyPr>
          <a:lstStyle/>
          <a:p>
            <a:pPr algn="l">
              <a:spcBef>
                <a:spcPts val="0"/>
              </a:spcBef>
              <a:spcAft>
                <a:spcPts val="0"/>
              </a:spcAft>
            </a:pPr>
            <a:r>
              <a:rPr sz="1150" b="1" i="0">
                <a:solidFill>
                  <a:srgbClr val="2A78D6"/>
                </a:solidFill>
                <a:latin typeface="Calibri"/>
              </a:rPr>
              <a:t>MOTIVATION · THE PROBLEM</a:t>
            </a:r>
          </a:p>
        </p:txBody>
      </p:sp>
      <p:sp>
        <p:nvSpPr>
          <p:cNvPr id="3" name="TextBox 2"/>
          <p:cNvSpPr txBox="1"/>
          <p:nvPr/>
        </p:nvSpPr>
        <p:spPr>
          <a:xfrm>
            <a:off x="566928" y="713232"/>
            <a:ext cx="11057839" cy="553466"/>
          </a:xfrm>
          <a:prstGeom prst="rect">
            <a:avLst/>
          </a:prstGeom>
          <a:noFill/>
        </p:spPr>
        <p:txBody>
          <a:bodyPr wrap="square" anchor="t" lIns="0" rIns="0" tIns="0" bIns="0">
            <a:spAutoFit/>
          </a:bodyPr>
          <a:lstStyle/>
          <a:p>
            <a:pPr algn="l">
              <a:lnSpc>
                <a:spcPct val="110000"/>
              </a:lnSpc>
              <a:spcBef>
                <a:spcPts val="0"/>
              </a:spcBef>
              <a:spcAft>
                <a:spcPts val="0"/>
              </a:spcAft>
            </a:pPr>
            <a:r>
              <a:rPr sz="3100" b="1" i="0">
                <a:solidFill>
                  <a:srgbClr val="0F2740"/>
                </a:solidFill>
                <a:latin typeface="Cambria"/>
              </a:rPr>
              <a:t>An AI can find every difference — not which ones matter</a:t>
            </a:r>
          </a:p>
        </p:txBody>
      </p:sp>
      <p:sp>
        <p:nvSpPr>
          <p:cNvPr id="4" name="TextBox 3"/>
          <p:cNvSpPr txBox="1"/>
          <p:nvPr/>
        </p:nvSpPr>
        <p:spPr>
          <a:xfrm>
            <a:off x="566928" y="1339850"/>
            <a:ext cx="11057839" cy="294259"/>
          </a:xfrm>
          <a:prstGeom prst="rect">
            <a:avLst/>
          </a:prstGeom>
          <a:noFill/>
        </p:spPr>
        <p:txBody>
          <a:bodyPr wrap="square" anchor="t" lIns="0" rIns="0" tIns="0" bIns="0">
            <a:spAutoFit/>
          </a:bodyPr>
          <a:lstStyle/>
          <a:p>
            <a:pPr algn="l">
              <a:lnSpc>
                <a:spcPct val="118000"/>
              </a:lnSpc>
              <a:spcBef>
                <a:spcPts val="0"/>
              </a:spcBef>
              <a:spcAft>
                <a:spcPts val="0"/>
              </a:spcAft>
            </a:pPr>
            <a:r>
              <a:rPr sz="1450" b="0" i="0">
                <a:solidFill>
                  <a:srgbClr val="5A6472"/>
                </a:solidFill>
                <a:latin typeface="Calibri"/>
              </a:rPr>
              <a:t>The same structural deviation can be three different things, and only situated judgment separates them.</a:t>
            </a:r>
          </a:p>
        </p:txBody>
      </p:sp>
      <p:sp>
        <p:nvSpPr>
          <p:cNvPr id="5" name="Rounded Rectangle 4"/>
          <p:cNvSpPr/>
          <p:nvPr/>
        </p:nvSpPr>
        <p:spPr>
          <a:xfrm>
            <a:off x="566928" y="1780413"/>
            <a:ext cx="3401568" cy="2395728"/>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841248" y="2054733"/>
            <a:ext cx="457200" cy="457200"/>
          </a:xfrm>
          <a:prstGeom prst="ellipse">
            <a:avLst/>
          </a:prstGeom>
          <a:solidFill>
            <a:srgbClr val="0CA30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Calibri"/>
              </a:rPr>
              <a:t>A</a:t>
            </a:r>
          </a:p>
        </p:txBody>
      </p:sp>
      <p:sp>
        <p:nvSpPr>
          <p:cNvPr id="7" name="TextBox 6"/>
          <p:cNvSpPr txBox="1"/>
          <p:nvPr/>
        </p:nvSpPr>
        <p:spPr>
          <a:xfrm>
            <a:off x="841248" y="2694813"/>
            <a:ext cx="2852928" cy="1371600"/>
          </a:xfrm>
          <a:prstGeom prst="rect">
            <a:avLst/>
          </a:prstGeom>
          <a:noFill/>
        </p:spPr>
        <p:txBody>
          <a:bodyPr wrap="square" anchor="t" lIns="0" rIns="0" tIns="0" bIns="0">
            <a:spAutoFit/>
          </a:bodyPr>
          <a:lstStyle/>
          <a:p>
            <a:pPr algn="l">
              <a:spcBef>
                <a:spcPts val="0"/>
              </a:spcBef>
              <a:spcAft>
                <a:spcPts val="800"/>
              </a:spcAft>
            </a:pPr>
            <a:r>
              <a:rPr sz="1650" b="1" i="0">
                <a:solidFill>
                  <a:srgbClr val="0F2740"/>
                </a:solidFill>
                <a:latin typeface="Cambria"/>
              </a:rPr>
              <a:t>A legitimate alternative</a:t>
            </a:r>
          </a:p>
          <a:p>
            <a:pPr algn="l">
              <a:lnSpc>
                <a:spcPct val="126000"/>
              </a:lnSpc>
              <a:spcBef>
                <a:spcPts val="0"/>
              </a:spcBef>
              <a:spcAft>
                <a:spcPts val="0"/>
              </a:spcAft>
            </a:pPr>
            <a:r>
              <a:rPr sz="1300" b="0" i="0">
                <a:solidFill>
                  <a:srgbClr val="5A6472"/>
                </a:solidFill>
                <a:latin typeface="Calibri"/>
              </a:rPr>
              <a:t>A different representation can be valid under the same language semantics and domain meaning. Penalising it teaches the wrong lesson.</a:t>
            </a:r>
          </a:p>
        </p:txBody>
      </p:sp>
      <p:sp>
        <p:nvSpPr>
          <p:cNvPr id="8" name="Rounded Rectangle 7"/>
          <p:cNvSpPr/>
          <p:nvPr/>
        </p:nvSpPr>
        <p:spPr>
          <a:xfrm>
            <a:off x="4224528" y="1780413"/>
            <a:ext cx="3401568" cy="2395728"/>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4498848" y="2054733"/>
            <a:ext cx="457200" cy="457200"/>
          </a:xfrm>
          <a:prstGeom prst="ellipse">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Calibri"/>
              </a:rPr>
              <a:t>B</a:t>
            </a:r>
          </a:p>
        </p:txBody>
      </p:sp>
      <p:sp>
        <p:nvSpPr>
          <p:cNvPr id="10" name="TextBox 9"/>
          <p:cNvSpPr txBox="1"/>
          <p:nvPr/>
        </p:nvSpPr>
        <p:spPr>
          <a:xfrm>
            <a:off x="4498848" y="2694813"/>
            <a:ext cx="2852928" cy="1371600"/>
          </a:xfrm>
          <a:prstGeom prst="rect">
            <a:avLst/>
          </a:prstGeom>
          <a:noFill/>
        </p:spPr>
        <p:txBody>
          <a:bodyPr wrap="square" anchor="t" lIns="0" rIns="0" tIns="0" bIns="0">
            <a:spAutoFit/>
          </a:bodyPr>
          <a:lstStyle/>
          <a:p>
            <a:pPr algn="l">
              <a:spcBef>
                <a:spcPts val="0"/>
              </a:spcBef>
              <a:spcAft>
                <a:spcPts val="800"/>
              </a:spcAft>
            </a:pPr>
            <a:r>
              <a:rPr sz="1650" b="1" i="0">
                <a:solidFill>
                  <a:srgbClr val="0F2740"/>
                </a:solidFill>
                <a:latin typeface="Cambria"/>
              </a:rPr>
              <a:t>A genuine error</a:t>
            </a:r>
          </a:p>
          <a:p>
            <a:pPr algn="l">
              <a:lnSpc>
                <a:spcPct val="126000"/>
              </a:lnSpc>
              <a:spcBef>
                <a:spcPts val="0"/>
              </a:spcBef>
              <a:spcAft>
                <a:spcPts val="0"/>
              </a:spcAft>
            </a:pPr>
            <a:r>
              <a:rPr sz="1300" b="0" i="0">
                <a:solidFill>
                  <a:srgbClr val="5A6472"/>
                </a:solidFill>
                <a:latin typeface="Calibri"/>
              </a:rPr>
              <a:t>A misconception, omission, syntax violation or domain mistake that should be corrected.</a:t>
            </a:r>
          </a:p>
        </p:txBody>
      </p:sp>
      <p:sp>
        <p:nvSpPr>
          <p:cNvPr id="11" name="Rounded Rectangle 10"/>
          <p:cNvSpPr/>
          <p:nvPr/>
        </p:nvSpPr>
        <p:spPr>
          <a:xfrm>
            <a:off x="7882128" y="1780413"/>
            <a:ext cx="3401568" cy="2395728"/>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56448" y="2054733"/>
            <a:ext cx="457200" cy="45720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Calibri"/>
              </a:rPr>
              <a:t>C</a:t>
            </a:r>
          </a:p>
        </p:txBody>
      </p:sp>
      <p:sp>
        <p:nvSpPr>
          <p:cNvPr id="13" name="TextBox 12"/>
          <p:cNvSpPr txBox="1"/>
          <p:nvPr/>
        </p:nvSpPr>
        <p:spPr>
          <a:xfrm>
            <a:off x="8156448" y="2694813"/>
            <a:ext cx="2852928" cy="1371600"/>
          </a:xfrm>
          <a:prstGeom prst="rect">
            <a:avLst/>
          </a:prstGeom>
          <a:noFill/>
        </p:spPr>
        <p:txBody>
          <a:bodyPr wrap="square" anchor="t" lIns="0" rIns="0" tIns="0" bIns="0">
            <a:spAutoFit/>
          </a:bodyPr>
          <a:lstStyle/>
          <a:p>
            <a:pPr algn="l">
              <a:spcBef>
                <a:spcPts val="0"/>
              </a:spcBef>
              <a:spcAft>
                <a:spcPts val="800"/>
              </a:spcAft>
            </a:pPr>
            <a:r>
              <a:rPr sz="1650" b="1" i="0">
                <a:solidFill>
                  <a:srgbClr val="0F2740"/>
                </a:solidFill>
                <a:latin typeface="Cambria"/>
              </a:rPr>
              <a:t>A defective guideline</a:t>
            </a:r>
          </a:p>
          <a:p>
            <a:pPr algn="l">
              <a:lnSpc>
                <a:spcPct val="126000"/>
              </a:lnSpc>
              <a:spcBef>
                <a:spcPts val="0"/>
              </a:spcBef>
              <a:spcAft>
                <a:spcPts val="0"/>
              </a:spcAft>
            </a:pPr>
            <a:r>
              <a:rPr sz="1300" b="0" i="0">
                <a:solidFill>
                  <a:srgbClr val="5A6472"/>
                </a:solidFill>
                <a:latin typeface="Calibri"/>
              </a:rPr>
              <a:t>The reference itself may be incomplete, underspecified or mismatched to the case — the deviation is evidence against the norm.</a:t>
            </a:r>
          </a:p>
        </p:txBody>
      </p:sp>
      <p:sp>
        <p:nvSpPr>
          <p:cNvPr id="14" name="Rounded Rectangle 13"/>
          <p:cNvSpPr/>
          <p:nvPr/>
        </p:nvSpPr>
        <p:spPr>
          <a:xfrm>
            <a:off x="566928" y="4468749"/>
            <a:ext cx="11057839" cy="914400"/>
          </a:xfrm>
          <a:prstGeom prst="roundRect">
            <a:avLst>
              <a:gd name="adj" fmla="val 4000"/>
            </a:avLst>
          </a:prstGeom>
          <a:solidFill>
            <a:srgbClr val="0F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4633341"/>
            <a:ext cx="10436047" cy="640080"/>
          </a:xfrm>
          <a:prstGeom prst="rect">
            <a:avLst/>
          </a:prstGeom>
          <a:noFill/>
        </p:spPr>
        <p:txBody>
          <a:bodyPr wrap="square" anchor="t" lIns="0" rIns="0" tIns="0" bIns="0">
            <a:spAutoFit/>
          </a:bodyPr>
          <a:lstStyle/>
          <a:p>
            <a:pPr algn="l">
              <a:spcBef>
                <a:spcPts val="0"/>
              </a:spcBef>
              <a:spcAft>
                <a:spcPts val="500"/>
              </a:spcAft>
            </a:pPr>
            <a:r>
              <a:rPr sz="1650" b="1" i="0">
                <a:solidFill>
                  <a:srgbClr val="FFFFFF"/>
                </a:solidFill>
                <a:latin typeface="Cambria"/>
              </a:rPr>
              <a:t>“Human-in-the-loop” is not one problem. It is four design problems:</a:t>
            </a:r>
          </a:p>
          <a:p>
            <a:pPr algn="l">
              <a:spcBef>
                <a:spcPts val="0"/>
              </a:spcBef>
              <a:spcAft>
                <a:spcPts val="0"/>
              </a:spcAft>
            </a:pPr>
            <a:r>
              <a:rPr sz="1400" b="0" i="0">
                <a:solidFill>
                  <a:srgbClr val="CDE2FB"/>
                </a:solidFill>
                <a:latin typeface="Calibri"/>
              </a:rPr>
              <a:t>when to ask  ·  what to capture  ·  how to govern  ·  when to reuse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237744"/>
          </a:xfrm>
          <a:prstGeom prst="rect">
            <a:avLst/>
          </a:prstGeom>
          <a:noFill/>
        </p:spPr>
        <p:txBody>
          <a:bodyPr wrap="square" anchor="t" lIns="0" rIns="0" tIns="0" bIns="0">
            <a:spAutoFit/>
          </a:bodyPr>
          <a:lstStyle/>
          <a:p>
            <a:pPr algn="l">
              <a:spcBef>
                <a:spcPts val="0"/>
              </a:spcBef>
              <a:spcAft>
                <a:spcPts val="0"/>
              </a:spcAft>
            </a:pPr>
            <a:r>
              <a:rPr sz="1150" b="1" i="0">
                <a:solidFill>
                  <a:srgbClr val="2A78D6"/>
                </a:solidFill>
                <a:latin typeface="Calibri"/>
              </a:rPr>
              <a:t>MOTIVATION · EVIDENCE FROM THE PROBLEM WORLD</a:t>
            </a:r>
          </a:p>
        </p:txBody>
      </p:sp>
      <p:sp>
        <p:nvSpPr>
          <p:cNvPr id="3" name="TextBox 2"/>
          <p:cNvSpPr txBox="1"/>
          <p:nvPr/>
        </p:nvSpPr>
        <p:spPr>
          <a:xfrm>
            <a:off x="566928" y="713232"/>
            <a:ext cx="11057839" cy="553466"/>
          </a:xfrm>
          <a:prstGeom prst="rect">
            <a:avLst/>
          </a:prstGeom>
          <a:noFill/>
        </p:spPr>
        <p:txBody>
          <a:bodyPr wrap="square" anchor="t" lIns="0" rIns="0" tIns="0" bIns="0">
            <a:spAutoFit/>
          </a:bodyPr>
          <a:lstStyle/>
          <a:p>
            <a:pPr algn="l">
              <a:lnSpc>
                <a:spcPct val="110000"/>
              </a:lnSpc>
              <a:spcBef>
                <a:spcPts val="0"/>
              </a:spcBef>
              <a:spcAft>
                <a:spcPts val="0"/>
              </a:spcAft>
            </a:pPr>
            <a:r>
              <a:rPr sz="3100" b="1" i="0">
                <a:solidFill>
                  <a:srgbClr val="0F2740"/>
                </a:solidFill>
                <a:latin typeface="Cambria"/>
              </a:rPr>
              <a:t>The framework names its own need for a human</a:t>
            </a:r>
          </a:p>
        </p:txBody>
      </p:sp>
      <p:sp>
        <p:nvSpPr>
          <p:cNvPr id="4" name="TextBox 3"/>
          <p:cNvSpPr txBox="1"/>
          <p:nvPr/>
        </p:nvSpPr>
        <p:spPr>
          <a:xfrm>
            <a:off x="566928" y="1339850"/>
            <a:ext cx="11057839" cy="294259"/>
          </a:xfrm>
          <a:prstGeom prst="rect">
            <a:avLst/>
          </a:prstGeom>
          <a:noFill/>
        </p:spPr>
        <p:txBody>
          <a:bodyPr wrap="square" anchor="t" lIns="0" rIns="0" tIns="0" bIns="0">
            <a:spAutoFit/>
          </a:bodyPr>
          <a:lstStyle/>
          <a:p>
            <a:pPr algn="l">
              <a:lnSpc>
                <a:spcPct val="118000"/>
              </a:lnSpc>
              <a:spcBef>
                <a:spcPts val="0"/>
              </a:spcBef>
              <a:spcAft>
                <a:spcPts val="0"/>
              </a:spcAft>
            </a:pPr>
            <a:r>
              <a:rPr sz="1450" b="0" i="0">
                <a:solidFill>
                  <a:srgbClr val="5A6472"/>
                </a:solidFill>
                <a:latin typeface="Calibri"/>
              </a:rPr>
              <a:t>VEGO-AI assesses domain models with four coordinated LLM agents. It works — unevenly, and it says so.</a:t>
            </a:r>
          </a:p>
        </p:txBody>
      </p:sp>
      <p:pic>
        <p:nvPicPr>
          <p:cNvPr id="5" name="Picture 4" descr="04-published-profile-bare.png"/>
          <p:cNvPicPr>
            <a:picLocks noChangeAspect="1"/>
          </p:cNvPicPr>
          <p:nvPr/>
        </p:nvPicPr>
        <p:blipFill>
          <a:blip r:embed="rId2"/>
          <a:stretch>
            <a:fillRect/>
          </a:stretch>
        </p:blipFill>
        <p:spPr>
          <a:xfrm>
            <a:off x="566928" y="1814680"/>
            <a:ext cx="7589520" cy="3735369"/>
          </a:xfrm>
          <a:prstGeom prst="rect">
            <a:avLst/>
          </a:prstGeom>
        </p:spPr>
      </p:pic>
      <p:sp>
        <p:nvSpPr>
          <p:cNvPr id="6" name="Rounded Rectangle 5"/>
          <p:cNvSpPr/>
          <p:nvPr/>
        </p:nvSpPr>
        <p:spPr>
          <a:xfrm>
            <a:off x="8357616" y="1762125"/>
            <a:ext cx="3267151" cy="3840480"/>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595360" y="1963293"/>
            <a:ext cx="2791663" cy="3474720"/>
          </a:xfrm>
          <a:prstGeom prst="rect">
            <a:avLst/>
          </a:prstGeom>
          <a:noFill/>
        </p:spPr>
        <p:txBody>
          <a:bodyPr wrap="square" anchor="t" lIns="0" rIns="0" tIns="0" bIns="0">
            <a:spAutoFit/>
          </a:bodyPr>
          <a:lstStyle/>
          <a:p>
            <a:pPr algn="l">
              <a:spcBef>
                <a:spcPts val="0"/>
              </a:spcBef>
              <a:spcAft>
                <a:spcPts val="0"/>
              </a:spcAft>
            </a:pPr>
            <a:r>
              <a:rPr sz="3200" b="1" i="0">
                <a:solidFill>
                  <a:srgbClr val="D03B3B"/>
                </a:solidFill>
                <a:latin typeface="Cambria"/>
              </a:rPr>
              <a:t>ρ = 0.22</a:t>
            </a:r>
          </a:p>
          <a:p>
            <a:pPr algn="l">
              <a:lnSpc>
                <a:spcPct val="122000"/>
              </a:lnSpc>
              <a:spcBef>
                <a:spcPts val="300"/>
              </a:spcBef>
              <a:spcAft>
                <a:spcPts val="1200"/>
              </a:spcAft>
            </a:pPr>
            <a:r>
              <a:rPr sz="1200" b="0" i="0">
                <a:solidFill>
                  <a:srgbClr val="5A6472"/>
                </a:solidFill>
                <a:latin typeface="Calibri"/>
              </a:rPr>
              <a:t>Reported correlation between Model-Inspector compliance scores and the human grader.</a:t>
            </a:r>
          </a:p>
          <a:p>
            <a:pPr algn="l">
              <a:spcBef>
                <a:spcPts val="0"/>
              </a:spcBef>
              <a:spcAft>
                <a:spcPts val="500"/>
              </a:spcAft>
            </a:pPr>
            <a:r>
              <a:rPr sz="1200" b="1" i="0">
                <a:solidFill>
                  <a:srgbClr val="0F2740"/>
                </a:solidFill>
                <a:latin typeface="Calibri"/>
              </a:rPr>
              <a:t>The paper's own future work:</a:t>
            </a:r>
          </a:p>
          <a:p>
            <a:pPr algn="l">
              <a:lnSpc>
                <a:spcPct val="124000"/>
              </a:lnSpc>
              <a:spcBef>
                <a:spcPts val="0"/>
              </a:spcBef>
              <a:spcAft>
                <a:spcPts val="1100"/>
              </a:spcAft>
            </a:pPr>
            <a:r>
              <a:rPr sz="1200" b="0" i="1">
                <a:solidFill>
                  <a:srgbClr val="0F2740"/>
                </a:solidFill>
                <a:latin typeface="Calibri"/>
              </a:rPr>
              <a:t>“incorporating human-in-the-loop oversight at key pipeline stages (guideline validation, compliance review, and variability classification) would strengthen reliability”</a:t>
            </a:r>
          </a:p>
          <a:p>
            <a:pPr algn="l">
              <a:lnSpc>
                <a:spcPct val="124000"/>
              </a:lnSpc>
              <a:spcBef>
                <a:spcPts val="0"/>
              </a:spcBef>
              <a:spcAft>
                <a:spcPts val="0"/>
              </a:spcAft>
            </a:pPr>
            <a:r>
              <a:rPr sz="1200" b="1" i="0">
                <a:solidFill>
                  <a:srgbClr val="0B0B0B"/>
                </a:solidFill>
                <a:latin typeface="Calibri"/>
              </a:rPr>
              <a:t>The need for human judgment is not my assumption. It is the framework's own stated next step — and it names the three stages.</a:t>
            </a:r>
          </a:p>
        </p:txBody>
      </p:sp>
      <p:sp>
        <p:nvSpPr>
          <p:cNvPr id="8" name="TextBox 7"/>
          <p:cNvSpPr txBox="1"/>
          <p:nvPr/>
        </p:nvSpPr>
        <p:spPr>
          <a:xfrm>
            <a:off x="566928" y="6291072"/>
            <a:ext cx="11057839" cy="384048"/>
          </a:xfrm>
          <a:prstGeom prst="rect">
            <a:avLst/>
          </a:prstGeom>
          <a:noFill/>
        </p:spPr>
        <p:txBody>
          <a:bodyPr wrap="square" anchor="t" lIns="0" rIns="0" tIns="0" bIns="0">
            <a:spAutoFit/>
          </a:bodyPr>
          <a:lstStyle/>
          <a:p>
            <a:pPr algn="l">
              <a:lnSpc>
                <a:spcPct val="115000"/>
              </a:lnSpc>
              <a:spcBef>
                <a:spcPts val="0"/>
              </a:spcBef>
              <a:spcAft>
                <a:spcPts val="0"/>
              </a:spcAft>
            </a:pPr>
            <a:r>
              <a:rPr sz="1050" b="0" i="0">
                <a:solidFill>
                  <a:srgbClr val="5A6472"/>
                </a:solidFill>
                <a:latin typeface="Calibri"/>
              </a:rPr>
              <a:t>Figures as reported by the paper for its own education-domain evaluation (two domains, one institution, one LLM, two modelling languages) — reported findings, not independently reproduced here.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237744"/>
          </a:xfrm>
          <a:prstGeom prst="rect">
            <a:avLst/>
          </a:prstGeom>
          <a:noFill/>
        </p:spPr>
        <p:txBody>
          <a:bodyPr wrap="square" anchor="t" lIns="0" rIns="0" tIns="0" bIns="0">
            <a:spAutoFit/>
          </a:bodyPr>
          <a:lstStyle/>
          <a:p>
            <a:pPr algn="l">
              <a:spcBef>
                <a:spcPts val="0"/>
              </a:spcBef>
              <a:spcAft>
                <a:spcPts val="0"/>
              </a:spcAft>
            </a:pPr>
            <a:r>
              <a:rPr sz="1150" b="1" i="0">
                <a:solidFill>
                  <a:srgbClr val="2A78D6"/>
                </a:solidFill>
                <a:latin typeface="Calibri"/>
              </a:rPr>
              <a:t>MOTIVATION · EVIDENCE FROM MY OWN INSTRUMENTATION</a:t>
            </a:r>
          </a:p>
        </p:txBody>
      </p:sp>
      <p:sp>
        <p:nvSpPr>
          <p:cNvPr id="3" name="TextBox 2"/>
          <p:cNvSpPr txBox="1"/>
          <p:nvPr/>
        </p:nvSpPr>
        <p:spPr>
          <a:xfrm>
            <a:off x="566928" y="713232"/>
            <a:ext cx="11057839" cy="553466"/>
          </a:xfrm>
          <a:prstGeom prst="rect">
            <a:avLst/>
          </a:prstGeom>
          <a:noFill/>
        </p:spPr>
        <p:txBody>
          <a:bodyPr wrap="square" anchor="t" lIns="0" rIns="0" tIns="0" bIns="0">
            <a:spAutoFit/>
          </a:bodyPr>
          <a:lstStyle/>
          <a:p>
            <a:pPr algn="l">
              <a:lnSpc>
                <a:spcPct val="110000"/>
              </a:lnSpc>
              <a:spcBef>
                <a:spcPts val="0"/>
              </a:spcBef>
              <a:spcAft>
                <a:spcPts val="0"/>
              </a:spcAft>
            </a:pPr>
            <a:r>
              <a:rPr sz="3100" b="1" i="0">
                <a:solidFill>
                  <a:srgbClr val="0F2740"/>
                </a:solidFill>
                <a:latin typeface="Cambria"/>
              </a:rPr>
              <a:t>The same gap is measurable inside the pipeline</a:t>
            </a:r>
          </a:p>
        </p:txBody>
      </p:sp>
      <p:sp>
        <p:nvSpPr>
          <p:cNvPr id="4" name="TextBox 3"/>
          <p:cNvSpPr txBox="1"/>
          <p:nvPr/>
        </p:nvSpPr>
        <p:spPr>
          <a:xfrm>
            <a:off x="566928" y="1339850"/>
            <a:ext cx="11057839" cy="533654"/>
          </a:xfrm>
          <a:prstGeom prst="rect">
            <a:avLst/>
          </a:prstGeom>
          <a:noFill/>
        </p:spPr>
        <p:txBody>
          <a:bodyPr wrap="square" anchor="t" lIns="0" rIns="0" tIns="0" bIns="0">
            <a:spAutoFit/>
          </a:bodyPr>
          <a:lstStyle/>
          <a:p>
            <a:pPr algn="l">
              <a:lnSpc>
                <a:spcPct val="118000"/>
              </a:lnSpc>
              <a:spcBef>
                <a:spcPts val="0"/>
              </a:spcBef>
              <a:spcAft>
                <a:spcPts val="0"/>
              </a:spcAft>
            </a:pPr>
            <a:r>
              <a:rPr sz="1450" b="0" i="0">
                <a:solidFill>
                  <a:srgbClr val="5A6472"/>
                </a:solidFill>
                <a:latin typeface="Calibri"/>
              </a:rPr>
              <a:t>Replaying the assessment pipeline as an event stream shows how little of its reasoning was ever reviewable — and that asking more often does not fix it.</a:t>
            </a:r>
          </a:p>
        </p:txBody>
      </p:sp>
      <p:pic>
        <p:nvPicPr>
          <p:cNvPr id="5" name="Picture 4" descr="02-observability-gap-bare.png"/>
          <p:cNvPicPr>
            <a:picLocks noChangeAspect="1"/>
          </p:cNvPicPr>
          <p:nvPr/>
        </p:nvPicPr>
        <p:blipFill>
          <a:blip r:embed="rId2"/>
          <a:stretch>
            <a:fillRect/>
          </a:stretch>
        </p:blipFill>
        <p:spPr>
          <a:xfrm>
            <a:off x="964970" y="2019808"/>
            <a:ext cx="6336235" cy="3291840"/>
          </a:xfrm>
          <a:prstGeom prst="rect">
            <a:avLst/>
          </a:prstGeom>
        </p:spPr>
      </p:pic>
      <p:sp>
        <p:nvSpPr>
          <p:cNvPr id="6" name="Rounded Rectangle 5"/>
          <p:cNvSpPr/>
          <p:nvPr/>
        </p:nvSpPr>
        <p:spPr>
          <a:xfrm>
            <a:off x="7927848" y="2019808"/>
            <a:ext cx="3696919" cy="1005840"/>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147304" y="2147824"/>
            <a:ext cx="3258007" cy="786384"/>
          </a:xfrm>
          <a:prstGeom prst="rect">
            <a:avLst/>
          </a:prstGeom>
          <a:noFill/>
        </p:spPr>
        <p:txBody>
          <a:bodyPr wrap="square" anchor="t" lIns="0" rIns="0" tIns="0" bIns="0">
            <a:spAutoFit/>
          </a:bodyPr>
          <a:lstStyle/>
          <a:p>
            <a:pPr algn="l">
              <a:spcBef>
                <a:spcPts val="0"/>
              </a:spcBef>
              <a:spcAft>
                <a:spcPts val="200"/>
              </a:spcAft>
            </a:pPr>
            <a:r>
              <a:rPr sz="2500" b="1" i="0">
                <a:solidFill>
                  <a:srgbClr val="2A78D6"/>
                </a:solidFill>
                <a:latin typeface="Cambria"/>
              </a:rPr>
              <a:t>44×</a:t>
            </a:r>
          </a:p>
          <a:p>
            <a:pPr algn="l">
              <a:lnSpc>
                <a:spcPct val="116000"/>
              </a:lnSpc>
              <a:spcBef>
                <a:spcPts val="0"/>
              </a:spcBef>
              <a:spcAft>
                <a:spcPts val="0"/>
              </a:spcAft>
            </a:pPr>
            <a:r>
              <a:rPr sz="1100" b="0" i="0">
                <a:solidFill>
                  <a:srgbClr val="5A6472"/>
                </a:solidFill>
                <a:latin typeface="Calibri"/>
              </a:rPr>
              <a:t>more lifecycle events occurred than the legacy review queue could show</a:t>
            </a:r>
          </a:p>
        </p:txBody>
      </p:sp>
      <p:sp>
        <p:nvSpPr>
          <p:cNvPr id="8" name="Rounded Rectangle 7"/>
          <p:cNvSpPr/>
          <p:nvPr/>
        </p:nvSpPr>
        <p:spPr>
          <a:xfrm>
            <a:off x="7927848" y="3171952"/>
            <a:ext cx="3696919" cy="1005840"/>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147304" y="3299968"/>
            <a:ext cx="3258007" cy="786384"/>
          </a:xfrm>
          <a:prstGeom prst="rect">
            <a:avLst/>
          </a:prstGeom>
          <a:noFill/>
        </p:spPr>
        <p:txBody>
          <a:bodyPr wrap="square" anchor="t" lIns="0" rIns="0" tIns="0" bIns="0">
            <a:spAutoFit/>
          </a:bodyPr>
          <a:lstStyle/>
          <a:p>
            <a:pPr algn="l">
              <a:spcBef>
                <a:spcPts val="0"/>
              </a:spcBef>
              <a:spcAft>
                <a:spcPts val="200"/>
              </a:spcAft>
            </a:pPr>
            <a:r>
              <a:rPr sz="2500" b="1" i="0">
                <a:solidFill>
                  <a:srgbClr val="EB6834"/>
                </a:solidFill>
                <a:latin typeface="Cambria"/>
              </a:rPr>
              <a:t>33</a:t>
            </a:r>
          </a:p>
          <a:p>
            <a:pPr algn="l">
              <a:lnSpc>
                <a:spcPct val="116000"/>
              </a:lnSpc>
              <a:spcBef>
                <a:spcPts val="0"/>
              </a:spcBef>
              <a:spcAft>
                <a:spcPts val="0"/>
              </a:spcAft>
            </a:pPr>
            <a:r>
              <a:rPr sz="1100" b="0" i="0">
                <a:solidFill>
                  <a:srgbClr val="5A6472"/>
                </a:solidFill>
                <a:latin typeface="Calibri"/>
              </a:rPr>
              <a:t>reference guidelines per setting revised with no human ever seeing them</a:t>
            </a:r>
          </a:p>
        </p:txBody>
      </p:sp>
      <p:sp>
        <p:nvSpPr>
          <p:cNvPr id="10" name="Rounded Rectangle 9"/>
          <p:cNvSpPr/>
          <p:nvPr/>
        </p:nvSpPr>
        <p:spPr>
          <a:xfrm>
            <a:off x="7927848" y="4324096"/>
            <a:ext cx="3696919" cy="1005840"/>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147304" y="4452112"/>
            <a:ext cx="3258007" cy="786384"/>
          </a:xfrm>
          <a:prstGeom prst="rect">
            <a:avLst/>
          </a:prstGeom>
          <a:noFill/>
        </p:spPr>
        <p:txBody>
          <a:bodyPr wrap="square" anchor="t" lIns="0" rIns="0" tIns="0" bIns="0">
            <a:spAutoFit/>
          </a:bodyPr>
          <a:lstStyle/>
          <a:p>
            <a:pPr algn="l">
              <a:spcBef>
                <a:spcPts val="0"/>
              </a:spcBef>
              <a:spcAft>
                <a:spcPts val="200"/>
              </a:spcAft>
            </a:pPr>
            <a:r>
              <a:rPr sz="2500" b="1" i="0">
                <a:solidFill>
                  <a:srgbClr val="D03B3B"/>
                </a:solidFill>
                <a:latin typeface="Cambria"/>
              </a:rPr>
              <a:t>0.80+</a:t>
            </a:r>
          </a:p>
          <a:p>
            <a:pPr algn="l">
              <a:lnSpc>
                <a:spcPct val="116000"/>
              </a:lnSpc>
              <a:spcBef>
                <a:spcPts val="0"/>
              </a:spcBef>
              <a:spcAft>
                <a:spcPts val="0"/>
              </a:spcAft>
            </a:pPr>
            <a:r>
              <a:rPr sz="1100" b="0" i="0">
                <a:solidFill>
                  <a:srgbClr val="5A6472"/>
                </a:solidFill>
                <a:latin typeface="Calibri"/>
              </a:rPr>
              <a:t>share of events a human must see to reach 80% high-severity coverage</a:t>
            </a:r>
          </a:p>
        </p:txBody>
      </p:sp>
      <p:sp>
        <p:nvSpPr>
          <p:cNvPr id="12" name="TextBox 11"/>
          <p:cNvSpPr txBox="1"/>
          <p:nvPr/>
        </p:nvSpPr>
        <p:spPr>
          <a:xfrm>
            <a:off x="566928" y="6291072"/>
            <a:ext cx="11057839" cy="384048"/>
          </a:xfrm>
          <a:prstGeom prst="rect">
            <a:avLst/>
          </a:prstGeom>
          <a:noFill/>
        </p:spPr>
        <p:txBody>
          <a:bodyPr wrap="square" anchor="t" lIns="0" rIns="0" tIns="0" bIns="0">
            <a:spAutoFit/>
          </a:bodyPr>
          <a:lstStyle/>
          <a:p>
            <a:pPr algn="l">
              <a:lnSpc>
                <a:spcPct val="115000"/>
              </a:lnSpc>
              <a:spcBef>
                <a:spcPts val="0"/>
              </a:spcBef>
              <a:spcAft>
                <a:spcPts val="0"/>
              </a:spcAft>
            </a:pPr>
            <a:r>
              <a:rPr sz="1050" b="0" i="0">
                <a:solidFill>
                  <a:srgbClr val="5A6472"/>
                </a:solidFill>
                <a:latin typeface="Calibri"/>
              </a:rPr>
              <a:t>EXP-006/007/008 · mechanism and observability evidence only. These are heterogeneous lifecycle observations and routing trade-offs, not quality outcomes — they support no claim about assessment accuracy.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237744"/>
          </a:xfrm>
          <a:prstGeom prst="rect">
            <a:avLst/>
          </a:prstGeom>
          <a:noFill/>
        </p:spPr>
        <p:txBody>
          <a:bodyPr wrap="square" anchor="t" lIns="0" rIns="0" tIns="0" bIns="0">
            <a:spAutoFit/>
          </a:bodyPr>
          <a:lstStyle/>
          <a:p>
            <a:pPr algn="l">
              <a:spcBef>
                <a:spcPts val="0"/>
              </a:spcBef>
              <a:spcAft>
                <a:spcPts val="0"/>
              </a:spcAft>
            </a:pPr>
            <a:r>
              <a:rPr sz="1150" b="1" i="0">
                <a:solidFill>
                  <a:srgbClr val="2A78D6"/>
                </a:solidFill>
                <a:latin typeface="Calibri"/>
              </a:rPr>
              <a:t>RESEARCH CONTEXT · THE VEGO-AI BASELINE</a:t>
            </a:r>
          </a:p>
        </p:txBody>
      </p:sp>
      <p:sp>
        <p:nvSpPr>
          <p:cNvPr id="3" name="TextBox 2"/>
          <p:cNvSpPr txBox="1"/>
          <p:nvPr/>
        </p:nvSpPr>
        <p:spPr>
          <a:xfrm>
            <a:off x="566928" y="713232"/>
            <a:ext cx="11057839" cy="553466"/>
          </a:xfrm>
          <a:prstGeom prst="rect">
            <a:avLst/>
          </a:prstGeom>
          <a:noFill/>
        </p:spPr>
        <p:txBody>
          <a:bodyPr wrap="square" anchor="t" lIns="0" rIns="0" tIns="0" bIns="0">
            <a:spAutoFit/>
          </a:bodyPr>
          <a:lstStyle/>
          <a:p>
            <a:pPr algn="l">
              <a:lnSpc>
                <a:spcPct val="110000"/>
              </a:lnSpc>
              <a:spcBef>
                <a:spcPts val="0"/>
              </a:spcBef>
              <a:spcAft>
                <a:spcPts val="0"/>
              </a:spcAft>
            </a:pPr>
            <a:r>
              <a:rPr sz="3100" b="1" i="0">
                <a:solidFill>
                  <a:srgbClr val="0F2740"/>
                </a:solidFill>
                <a:latin typeface="Cambria"/>
              </a:rPr>
              <a:t>Where judgment would enter the pipeline</a:t>
            </a:r>
          </a:p>
        </p:txBody>
      </p:sp>
      <p:sp>
        <p:nvSpPr>
          <p:cNvPr id="4" name="TextBox 3"/>
          <p:cNvSpPr txBox="1"/>
          <p:nvPr/>
        </p:nvSpPr>
        <p:spPr>
          <a:xfrm>
            <a:off x="566928" y="1339850"/>
            <a:ext cx="11057839" cy="294259"/>
          </a:xfrm>
          <a:prstGeom prst="rect">
            <a:avLst/>
          </a:prstGeom>
          <a:noFill/>
        </p:spPr>
        <p:txBody>
          <a:bodyPr wrap="square" anchor="t" lIns="0" rIns="0" tIns="0" bIns="0">
            <a:spAutoFit/>
          </a:bodyPr>
          <a:lstStyle/>
          <a:p>
            <a:pPr algn="l">
              <a:lnSpc>
                <a:spcPct val="118000"/>
              </a:lnSpc>
              <a:spcBef>
                <a:spcPts val="0"/>
              </a:spcBef>
              <a:spcAft>
                <a:spcPts val="0"/>
              </a:spcAft>
            </a:pPr>
            <a:r>
              <a:rPr sz="1450" b="0" i="0">
                <a:solidFill>
                  <a:srgbClr val="5A6472"/>
                </a:solidFill>
                <a:latin typeface="Calibri"/>
              </a:rPr>
              <a:t>Four coordinated agents. The review asks what a governed human-judgment layer around them would have to do.</a:t>
            </a:r>
          </a:p>
        </p:txBody>
      </p:sp>
      <p:sp>
        <p:nvSpPr>
          <p:cNvPr id="5" name="Rounded Rectangle 4"/>
          <p:cNvSpPr/>
          <p:nvPr/>
        </p:nvSpPr>
        <p:spPr>
          <a:xfrm>
            <a:off x="566928" y="1780413"/>
            <a:ext cx="2599867" cy="1502534"/>
          </a:xfrm>
          <a:prstGeom prst="roundRect">
            <a:avLst>
              <a:gd name="adj" fmla="val 4000"/>
            </a:avLst>
          </a:prstGeom>
          <a:solidFill>
            <a:srgbClr val="0F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49808" y="1945005"/>
            <a:ext cx="2234107" cy="1173350"/>
          </a:xfrm>
          <a:prstGeom prst="rect">
            <a:avLst/>
          </a:prstGeom>
          <a:noFill/>
        </p:spPr>
        <p:txBody>
          <a:bodyPr wrap="square" anchor="ctr" lIns="0" rIns="0" tIns="0" bIns="0">
            <a:spAutoFit/>
          </a:bodyPr>
          <a:lstStyle/>
          <a:p>
            <a:pPr algn="l">
              <a:lnSpc>
                <a:spcPct val="108000"/>
              </a:lnSpc>
              <a:spcBef>
                <a:spcPts val="0"/>
              </a:spcBef>
              <a:spcAft>
                <a:spcPts val="800"/>
              </a:spcAft>
            </a:pPr>
            <a:r>
              <a:rPr sz="1500" b="1" i="0">
                <a:solidFill>
                  <a:srgbClr val="FFFFFF"/>
                </a:solidFill>
                <a:latin typeface="Cambria"/>
              </a:rPr>
              <a:t>Language Advisor</a:t>
            </a:r>
          </a:p>
          <a:p>
            <a:pPr algn="l">
              <a:lnSpc>
                <a:spcPct val="124000"/>
              </a:lnSpc>
              <a:spcBef>
                <a:spcPts val="0"/>
              </a:spcBef>
              <a:spcAft>
                <a:spcPts val="0"/>
              </a:spcAft>
            </a:pPr>
            <a:r>
              <a:rPr sz="1100" b="0" i="0">
                <a:solidFill>
                  <a:srgbClr val="CDE2FB"/>
                </a:solidFill>
                <a:latin typeface="Calibri"/>
              </a:rPr>
              <a:t>language template · metamodel semantics</a:t>
            </a:r>
          </a:p>
        </p:txBody>
      </p:sp>
      <p:sp>
        <p:nvSpPr>
          <p:cNvPr id="7" name="Rounded Rectangle 6"/>
          <p:cNvSpPr/>
          <p:nvPr/>
        </p:nvSpPr>
        <p:spPr>
          <a:xfrm>
            <a:off x="566928" y="3429251"/>
            <a:ext cx="2599867" cy="795459"/>
          </a:xfrm>
          <a:prstGeom prst="roundRect">
            <a:avLst>
              <a:gd name="adj" fmla="val 4000"/>
            </a:avLst>
          </a:prstGeom>
          <a:solidFill>
            <a:srgbClr val="FDF0F0"/>
          </a:solidFill>
          <a:ln w="12700">
            <a:solidFill>
              <a:srgbClr val="F0C8C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31520" y="3484115"/>
            <a:ext cx="2270683" cy="685731"/>
          </a:xfrm>
          <a:prstGeom prst="rect">
            <a:avLst/>
          </a:prstGeom>
          <a:noFill/>
        </p:spPr>
        <p:txBody>
          <a:bodyPr wrap="square" anchor="ctr" lIns="0" rIns="0" tIns="0" bIns="0">
            <a:spAutoFit/>
          </a:bodyPr>
          <a:lstStyle/>
          <a:p>
            <a:pPr algn="l">
              <a:lnSpc>
                <a:spcPct val="114000"/>
              </a:lnSpc>
              <a:spcBef>
                <a:spcPts val="0"/>
              </a:spcBef>
              <a:spcAft>
                <a:spcPts val="0"/>
              </a:spcAft>
            </a:pPr>
            <a:r>
              <a:rPr sz="1100" b="1" i="0">
                <a:solidFill>
                  <a:srgbClr val="D03B3B"/>
                </a:solidFill>
                <a:latin typeface="Calibri"/>
              </a:rPr>
              <a:t>language-rule ambiguity</a:t>
            </a:r>
          </a:p>
        </p:txBody>
      </p:sp>
      <p:sp>
        <p:nvSpPr>
          <p:cNvPr id="9" name="Rounded Rectangle 8"/>
          <p:cNvSpPr/>
          <p:nvPr/>
        </p:nvSpPr>
        <p:spPr>
          <a:xfrm>
            <a:off x="3386251" y="1780413"/>
            <a:ext cx="2599867" cy="1502534"/>
          </a:xfrm>
          <a:prstGeom prst="roundRect">
            <a:avLst>
              <a:gd name="adj" fmla="val 4000"/>
            </a:avLst>
          </a:prstGeom>
          <a:solidFill>
            <a:srgbClr val="0F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569131" y="1945005"/>
            <a:ext cx="2234107" cy="1173350"/>
          </a:xfrm>
          <a:prstGeom prst="rect">
            <a:avLst/>
          </a:prstGeom>
          <a:noFill/>
        </p:spPr>
        <p:txBody>
          <a:bodyPr wrap="square" anchor="ctr" lIns="0" rIns="0" tIns="0" bIns="0">
            <a:spAutoFit/>
          </a:bodyPr>
          <a:lstStyle/>
          <a:p>
            <a:pPr algn="l">
              <a:lnSpc>
                <a:spcPct val="108000"/>
              </a:lnSpc>
              <a:spcBef>
                <a:spcPts val="0"/>
              </a:spcBef>
              <a:spcAft>
                <a:spcPts val="800"/>
              </a:spcAft>
            </a:pPr>
            <a:r>
              <a:rPr sz="1500" b="1" i="0">
                <a:solidFill>
                  <a:srgbClr val="FFFFFF"/>
                </a:solidFill>
                <a:latin typeface="Cambria"/>
              </a:rPr>
              <a:t>Domain Advisor</a:t>
            </a:r>
          </a:p>
          <a:p>
            <a:pPr algn="l">
              <a:lnSpc>
                <a:spcPct val="124000"/>
              </a:lnSpc>
              <a:spcBef>
                <a:spcPts val="0"/>
              </a:spcBef>
              <a:spcAft>
                <a:spcPts val="0"/>
              </a:spcAft>
            </a:pPr>
            <a:r>
              <a:rPr sz="1100" b="0" i="0">
                <a:solidFill>
                  <a:srgbClr val="CDE2FB"/>
                </a:solidFill>
                <a:latin typeface="Calibri"/>
              </a:rPr>
              <a:t>reference guidelines · valid alternatives</a:t>
            </a:r>
          </a:p>
        </p:txBody>
      </p:sp>
      <p:sp>
        <p:nvSpPr>
          <p:cNvPr id="11" name="Rounded Rectangle 10"/>
          <p:cNvSpPr/>
          <p:nvPr/>
        </p:nvSpPr>
        <p:spPr>
          <a:xfrm>
            <a:off x="3386251" y="3429251"/>
            <a:ext cx="2599867" cy="795459"/>
          </a:xfrm>
          <a:prstGeom prst="roundRect">
            <a:avLst>
              <a:gd name="adj" fmla="val 4000"/>
            </a:avLst>
          </a:prstGeom>
          <a:solidFill>
            <a:srgbClr val="FDF0F0"/>
          </a:solidFill>
          <a:ln w="12700">
            <a:solidFill>
              <a:srgbClr val="F0C8C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550843" y="3484115"/>
            <a:ext cx="2270683" cy="685731"/>
          </a:xfrm>
          <a:prstGeom prst="rect">
            <a:avLst/>
          </a:prstGeom>
          <a:noFill/>
        </p:spPr>
        <p:txBody>
          <a:bodyPr wrap="square" anchor="ctr" lIns="0" rIns="0" tIns="0" bIns="0">
            <a:spAutoFit/>
          </a:bodyPr>
          <a:lstStyle/>
          <a:p>
            <a:pPr algn="l">
              <a:lnSpc>
                <a:spcPct val="114000"/>
              </a:lnSpc>
              <a:spcBef>
                <a:spcPts val="0"/>
              </a:spcBef>
              <a:spcAft>
                <a:spcPts val="0"/>
              </a:spcAft>
            </a:pPr>
            <a:r>
              <a:rPr sz="1100" b="1" i="0">
                <a:solidFill>
                  <a:srgbClr val="D03B3B"/>
                </a:solidFill>
                <a:latin typeface="Calibri"/>
              </a:rPr>
              <a:t>guideline mapping, scope</a:t>
            </a:r>
          </a:p>
        </p:txBody>
      </p:sp>
      <p:sp>
        <p:nvSpPr>
          <p:cNvPr id="13" name="Rounded Rectangle 12"/>
          <p:cNvSpPr/>
          <p:nvPr/>
        </p:nvSpPr>
        <p:spPr>
          <a:xfrm>
            <a:off x="6205575" y="1780413"/>
            <a:ext cx="2599867" cy="1502534"/>
          </a:xfrm>
          <a:prstGeom prst="roundRect">
            <a:avLst>
              <a:gd name="adj" fmla="val 4000"/>
            </a:avLst>
          </a:prstGeom>
          <a:solidFill>
            <a:srgbClr val="0F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388455" y="1945005"/>
            <a:ext cx="2234107" cy="1173350"/>
          </a:xfrm>
          <a:prstGeom prst="rect">
            <a:avLst/>
          </a:prstGeom>
          <a:noFill/>
        </p:spPr>
        <p:txBody>
          <a:bodyPr wrap="square" anchor="ctr" lIns="0" rIns="0" tIns="0" bIns="0">
            <a:spAutoFit/>
          </a:bodyPr>
          <a:lstStyle/>
          <a:p>
            <a:pPr algn="l">
              <a:lnSpc>
                <a:spcPct val="108000"/>
              </a:lnSpc>
              <a:spcBef>
                <a:spcPts val="0"/>
              </a:spcBef>
              <a:spcAft>
                <a:spcPts val="800"/>
              </a:spcAft>
            </a:pPr>
            <a:r>
              <a:rPr sz="1500" b="1" i="0">
                <a:solidFill>
                  <a:srgbClr val="FFFFFF"/>
                </a:solidFill>
                <a:latin typeface="Cambria"/>
              </a:rPr>
              <a:t>Model Inspector</a:t>
            </a:r>
          </a:p>
          <a:p>
            <a:pPr algn="l">
              <a:lnSpc>
                <a:spcPct val="124000"/>
              </a:lnSpc>
              <a:spcBef>
                <a:spcPts val="0"/>
              </a:spcBef>
              <a:spcAft>
                <a:spcPts val="0"/>
              </a:spcAft>
            </a:pPr>
            <a:r>
              <a:rPr sz="1100" b="0" i="0">
                <a:solidFill>
                  <a:srgbClr val="CDE2FB"/>
                </a:solidFill>
                <a:latin typeface="Calibri"/>
              </a:rPr>
              <a:t>case assessment · uncovered fragments</a:t>
            </a:r>
          </a:p>
        </p:txBody>
      </p:sp>
      <p:sp>
        <p:nvSpPr>
          <p:cNvPr id="15" name="Rounded Rectangle 14"/>
          <p:cNvSpPr/>
          <p:nvPr/>
        </p:nvSpPr>
        <p:spPr>
          <a:xfrm>
            <a:off x="6205575" y="3429251"/>
            <a:ext cx="2599867" cy="795459"/>
          </a:xfrm>
          <a:prstGeom prst="roundRect">
            <a:avLst>
              <a:gd name="adj" fmla="val 4000"/>
            </a:avLst>
          </a:prstGeom>
          <a:solidFill>
            <a:srgbClr val="FDF0F0"/>
          </a:solidFill>
          <a:ln w="12700">
            <a:solidFill>
              <a:srgbClr val="F0C8C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370167" y="3484115"/>
            <a:ext cx="2270683" cy="685731"/>
          </a:xfrm>
          <a:prstGeom prst="rect">
            <a:avLst/>
          </a:prstGeom>
          <a:noFill/>
        </p:spPr>
        <p:txBody>
          <a:bodyPr wrap="square" anchor="ctr" lIns="0" rIns="0" tIns="0" bIns="0">
            <a:spAutoFit/>
          </a:bodyPr>
          <a:lstStyle/>
          <a:p>
            <a:pPr algn="l">
              <a:lnSpc>
                <a:spcPct val="114000"/>
              </a:lnSpc>
              <a:spcBef>
                <a:spcPts val="0"/>
              </a:spcBef>
              <a:spcAft>
                <a:spcPts val="0"/>
              </a:spcAft>
            </a:pPr>
            <a:r>
              <a:rPr sz="1100" b="1" i="0">
                <a:solidFill>
                  <a:srgbClr val="D03B3B"/>
                </a:solidFill>
                <a:latin typeface="Calibri"/>
              </a:rPr>
              <a:t>disputed compliance</a:t>
            </a:r>
          </a:p>
        </p:txBody>
      </p:sp>
      <p:sp>
        <p:nvSpPr>
          <p:cNvPr id="17" name="Rounded Rectangle 16"/>
          <p:cNvSpPr/>
          <p:nvPr/>
        </p:nvSpPr>
        <p:spPr>
          <a:xfrm>
            <a:off x="9024899" y="1780413"/>
            <a:ext cx="2599867" cy="1502534"/>
          </a:xfrm>
          <a:prstGeom prst="roundRect">
            <a:avLst>
              <a:gd name="adj" fmla="val 4000"/>
            </a:avLst>
          </a:prstGeom>
          <a:solidFill>
            <a:srgbClr val="0F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207779" y="1945005"/>
            <a:ext cx="2234107" cy="1173350"/>
          </a:xfrm>
          <a:prstGeom prst="rect">
            <a:avLst/>
          </a:prstGeom>
          <a:noFill/>
        </p:spPr>
        <p:txBody>
          <a:bodyPr wrap="square" anchor="ctr" lIns="0" rIns="0" tIns="0" bIns="0">
            <a:spAutoFit/>
          </a:bodyPr>
          <a:lstStyle/>
          <a:p>
            <a:pPr algn="l">
              <a:lnSpc>
                <a:spcPct val="108000"/>
              </a:lnSpc>
              <a:spcBef>
                <a:spcPts val="0"/>
              </a:spcBef>
              <a:spcAft>
                <a:spcPts val="800"/>
              </a:spcAft>
            </a:pPr>
            <a:r>
              <a:rPr sz="1500" b="1" i="0">
                <a:solidFill>
                  <a:srgbClr val="FFFFFF"/>
                </a:solidFill>
                <a:latin typeface="Cambria"/>
              </a:rPr>
              <a:t>Variability Explorer</a:t>
            </a:r>
          </a:p>
          <a:p>
            <a:pPr algn="l">
              <a:lnSpc>
                <a:spcPct val="124000"/>
              </a:lnSpc>
              <a:spcBef>
                <a:spcPts val="0"/>
              </a:spcBef>
              <a:spcAft>
                <a:spcPts val="0"/>
              </a:spcAft>
            </a:pPr>
            <a:r>
              <a:rPr sz="1100" b="0" i="0">
                <a:solidFill>
                  <a:srgbClr val="CDE2FB"/>
                </a:solidFill>
                <a:latin typeface="Calibri"/>
              </a:rPr>
              <a:t>recurring patterns · population view</a:t>
            </a:r>
          </a:p>
        </p:txBody>
      </p:sp>
      <p:sp>
        <p:nvSpPr>
          <p:cNvPr id="19" name="Rounded Rectangle 18"/>
          <p:cNvSpPr/>
          <p:nvPr/>
        </p:nvSpPr>
        <p:spPr>
          <a:xfrm>
            <a:off x="9024899" y="3429251"/>
            <a:ext cx="2599867" cy="795459"/>
          </a:xfrm>
          <a:prstGeom prst="roundRect">
            <a:avLst>
              <a:gd name="adj" fmla="val 4000"/>
            </a:avLst>
          </a:prstGeom>
          <a:solidFill>
            <a:srgbClr val="FDF0F0"/>
          </a:solidFill>
          <a:ln w="12700">
            <a:solidFill>
              <a:srgbClr val="F0C8C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189491" y="3484115"/>
            <a:ext cx="2270683" cy="685731"/>
          </a:xfrm>
          <a:prstGeom prst="rect">
            <a:avLst/>
          </a:prstGeom>
          <a:noFill/>
        </p:spPr>
        <p:txBody>
          <a:bodyPr wrap="square" anchor="ctr" lIns="0" rIns="0" tIns="0" bIns="0">
            <a:spAutoFit/>
          </a:bodyPr>
          <a:lstStyle/>
          <a:p>
            <a:pPr algn="l">
              <a:lnSpc>
                <a:spcPct val="114000"/>
              </a:lnSpc>
              <a:spcBef>
                <a:spcPts val="0"/>
              </a:spcBef>
              <a:spcAft>
                <a:spcPts val="0"/>
              </a:spcAft>
            </a:pPr>
            <a:r>
              <a:rPr sz="1100" b="1" i="0">
                <a:solidFill>
                  <a:srgbClr val="D03B3B"/>
                </a:solidFill>
                <a:latin typeface="Calibri"/>
              </a:rPr>
              <a:t>pattern interpretation</a:t>
            </a:r>
          </a:p>
        </p:txBody>
      </p:sp>
      <p:sp>
        <p:nvSpPr>
          <p:cNvPr id="21" name="Rounded Rectangle 20"/>
          <p:cNvSpPr/>
          <p:nvPr/>
        </p:nvSpPr>
        <p:spPr>
          <a:xfrm>
            <a:off x="566928" y="4480742"/>
            <a:ext cx="5419191" cy="1718889"/>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4672" y="4645334"/>
            <a:ext cx="4943703" cy="1389705"/>
          </a:xfrm>
          <a:prstGeom prst="rect">
            <a:avLst/>
          </a:prstGeom>
          <a:noFill/>
        </p:spPr>
        <p:txBody>
          <a:bodyPr wrap="square" anchor="t" lIns="0" rIns="0" tIns="0" bIns="0">
            <a:spAutoFit/>
          </a:bodyPr>
          <a:lstStyle/>
          <a:p>
            <a:pPr algn="l">
              <a:spcBef>
                <a:spcPts val="0"/>
              </a:spcBef>
              <a:spcAft>
                <a:spcPts val="600"/>
              </a:spcAft>
            </a:pPr>
            <a:r>
              <a:rPr sz="1300" b="1" i="0">
                <a:solidFill>
                  <a:srgbClr val="0CA30C"/>
                </a:solidFill>
                <a:latin typeface="Cambria"/>
              </a:rPr>
              <a:t>Reported as working</a:t>
            </a:r>
          </a:p>
          <a:p>
            <a:pPr algn="l">
              <a:lnSpc>
                <a:spcPct val="120000"/>
              </a:lnSpc>
              <a:spcBef>
                <a:spcPts val="0"/>
              </a:spcBef>
              <a:spcAft>
                <a:spcPts val="0"/>
              </a:spcAft>
            </a:pPr>
            <a:r>
              <a:rPr sz="1150" b="0" i="0">
                <a:solidFill>
                  <a:srgbClr val="5A6472"/>
                </a:solidFill>
                <a:latin typeface="Calibri"/>
              </a:rPr>
              <a:t>Modular separation of language and domain concerns; reasonably stable templates and guidelines in the reported settings.</a:t>
            </a:r>
          </a:p>
        </p:txBody>
      </p:sp>
      <p:sp>
        <p:nvSpPr>
          <p:cNvPr id="23" name="Rounded Rectangle 22"/>
          <p:cNvSpPr/>
          <p:nvPr/>
        </p:nvSpPr>
        <p:spPr>
          <a:xfrm>
            <a:off x="6205575" y="4480742"/>
            <a:ext cx="5419191" cy="1718889"/>
          </a:xfrm>
          <a:prstGeom prst="roundRect">
            <a:avLst>
              <a:gd name="adj" fmla="val 4000"/>
            </a:avLst>
          </a:prstGeom>
          <a:solidFill>
            <a:srgbClr val="FDF0F0"/>
          </a:solidFill>
          <a:ln w="12700">
            <a:solidFill>
              <a:srgbClr val="F0C8C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43319" y="4645334"/>
            <a:ext cx="4943703" cy="1389705"/>
          </a:xfrm>
          <a:prstGeom prst="rect">
            <a:avLst/>
          </a:prstGeom>
          <a:noFill/>
        </p:spPr>
        <p:txBody>
          <a:bodyPr wrap="square" anchor="t" lIns="0" rIns="0" tIns="0" bIns="0">
            <a:spAutoFit/>
          </a:bodyPr>
          <a:lstStyle/>
          <a:p>
            <a:pPr algn="l">
              <a:spcBef>
                <a:spcPts val="0"/>
              </a:spcBef>
              <a:spcAft>
                <a:spcPts val="600"/>
              </a:spcAft>
            </a:pPr>
            <a:r>
              <a:rPr sz="1300" b="1" i="0">
                <a:solidFill>
                  <a:srgbClr val="D03B3B"/>
                </a:solidFill>
                <a:latin typeface="Cambria"/>
              </a:rPr>
              <a:t>Not established</a:t>
            </a:r>
          </a:p>
          <a:p>
            <a:pPr algn="l">
              <a:lnSpc>
                <a:spcPct val="120000"/>
              </a:lnSpc>
              <a:spcBef>
                <a:spcPts val="0"/>
              </a:spcBef>
              <a:spcAft>
                <a:spcPts val="0"/>
              </a:spcAft>
            </a:pPr>
            <a:r>
              <a:rPr sz="1150" b="0" i="0">
                <a:solidFill>
                  <a:srgbClr val="5A6472"/>
                </a:solidFill>
                <a:latin typeface="Calibri"/>
              </a:rPr>
              <a:t>No general correctness across institutions, LLMs or domains; no validated reusable human-judgment mechanism; no healthcare readiness.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2740"/>
        </a:solidFill>
        <a:effectLst/>
      </p:bgPr>
    </p:bg>
    <p:spTree>
      <p:nvGrpSpPr>
        <p:cNvPr id="1" name=""/>
        <p:cNvGrpSpPr/>
        <p:nvPr/>
      </p:nvGrpSpPr>
      <p:grpSpPr/>
      <p:sp>
        <p:nvSpPr>
          <p:cNvPr id="2" name="TextBox 1"/>
          <p:cNvSpPr txBox="1"/>
          <p:nvPr/>
        </p:nvSpPr>
        <p:spPr>
          <a:xfrm>
            <a:off x="566928" y="420624"/>
            <a:ext cx="11057839" cy="237744"/>
          </a:xfrm>
          <a:prstGeom prst="rect">
            <a:avLst/>
          </a:prstGeom>
          <a:noFill/>
        </p:spPr>
        <p:txBody>
          <a:bodyPr wrap="square" anchor="t" lIns="0" rIns="0" tIns="0" bIns="0">
            <a:spAutoFit/>
          </a:bodyPr>
          <a:lstStyle/>
          <a:p>
            <a:pPr algn="l">
              <a:spcBef>
                <a:spcPts val="0"/>
              </a:spcBef>
              <a:spcAft>
                <a:spcPts val="0"/>
              </a:spcAft>
            </a:pPr>
            <a:r>
              <a:rPr sz="1150" b="1" i="0">
                <a:solidFill>
                  <a:srgbClr val="CDE2FB"/>
                </a:solidFill>
                <a:latin typeface="Calibri"/>
              </a:rPr>
              <a:t>WHAT I AM ASKING</a:t>
            </a:r>
          </a:p>
        </p:txBody>
      </p:sp>
      <p:sp>
        <p:nvSpPr>
          <p:cNvPr id="3" name="TextBox 2"/>
          <p:cNvSpPr txBox="1"/>
          <p:nvPr/>
        </p:nvSpPr>
        <p:spPr>
          <a:xfrm>
            <a:off x="566928" y="713232"/>
            <a:ext cx="11057839" cy="553466"/>
          </a:xfrm>
          <a:prstGeom prst="rect">
            <a:avLst/>
          </a:prstGeom>
          <a:noFill/>
        </p:spPr>
        <p:txBody>
          <a:bodyPr wrap="square" anchor="t" lIns="0" rIns="0" tIns="0" bIns="0">
            <a:spAutoFit/>
          </a:bodyPr>
          <a:lstStyle/>
          <a:p>
            <a:pPr algn="l">
              <a:lnSpc>
                <a:spcPct val="110000"/>
              </a:lnSpc>
              <a:spcBef>
                <a:spcPts val="0"/>
              </a:spcBef>
              <a:spcAft>
                <a:spcPts val="0"/>
              </a:spcAft>
            </a:pPr>
            <a:r>
              <a:rPr sz="3100" b="1" i="0">
                <a:solidFill>
                  <a:srgbClr val="FFFFFF"/>
                </a:solidFill>
                <a:latin typeface="Cambria"/>
              </a:rPr>
              <a:t>The research question</a:t>
            </a:r>
          </a:p>
        </p:txBody>
      </p:sp>
      <p:sp>
        <p:nvSpPr>
          <p:cNvPr id="4" name="Rounded Rectangle 3"/>
          <p:cNvSpPr/>
          <p:nvPr/>
        </p:nvSpPr>
        <p:spPr>
          <a:xfrm>
            <a:off x="566928" y="1431290"/>
            <a:ext cx="11057839" cy="1335024"/>
          </a:xfrm>
          <a:prstGeom prst="roundRect">
            <a:avLst>
              <a:gd name="adj" fmla="val 4000"/>
            </a:avLst>
          </a:prstGeom>
          <a:solidFill>
            <a:srgbClr val="1B3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932688" y="1650746"/>
            <a:ext cx="10326319" cy="960120"/>
          </a:xfrm>
          <a:prstGeom prst="rect">
            <a:avLst/>
          </a:prstGeom>
          <a:noFill/>
        </p:spPr>
        <p:txBody>
          <a:bodyPr wrap="square" anchor="t" lIns="0" rIns="0" tIns="0" bIns="0">
            <a:spAutoFit/>
          </a:bodyPr>
          <a:lstStyle/>
          <a:p>
            <a:pPr algn="l">
              <a:lnSpc>
                <a:spcPct val="124000"/>
              </a:lnSpc>
              <a:spcBef>
                <a:spcPts val="0"/>
              </a:spcBef>
              <a:spcAft>
                <a:spcPts val="0"/>
              </a:spcAft>
            </a:pPr>
            <a:r>
              <a:rPr sz="1950" b="0" i="1">
                <a:solidFill>
                  <a:srgbClr val="FFFFFF"/>
                </a:solidFill>
                <a:latin typeface="Cambria"/>
              </a:rPr>
              <a:t>How can human judgment be captured, governed, and used to support agentic-AI-driven variability exploration in guideline operationalization scenarios, enabling reliable human–AI co-reasoning?</a:t>
            </a:r>
          </a:p>
        </p:txBody>
      </p:sp>
      <p:sp>
        <p:nvSpPr>
          <p:cNvPr id="6" name="Rounded Rectangle 5"/>
          <p:cNvSpPr/>
          <p:nvPr/>
        </p:nvSpPr>
        <p:spPr>
          <a:xfrm>
            <a:off x="566928" y="3040634"/>
            <a:ext cx="3529584" cy="1700784"/>
          </a:xfrm>
          <a:prstGeom prst="roundRect">
            <a:avLst>
              <a:gd name="adj" fmla="val 4000"/>
            </a:avLst>
          </a:prstGeom>
          <a:solidFill>
            <a:srgbClr val="1B3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04672" y="3241802"/>
            <a:ext cx="3054096" cy="1316736"/>
          </a:xfrm>
          <a:prstGeom prst="rect">
            <a:avLst/>
          </a:prstGeom>
          <a:noFill/>
        </p:spPr>
        <p:txBody>
          <a:bodyPr wrap="square" anchor="t" lIns="0" rIns="0" tIns="0" bIns="0">
            <a:spAutoFit/>
          </a:bodyPr>
          <a:lstStyle/>
          <a:p>
            <a:pPr algn="l">
              <a:lnSpc>
                <a:spcPct val="114000"/>
              </a:lnSpc>
              <a:spcBef>
                <a:spcPts val="0"/>
              </a:spcBef>
              <a:spcAft>
                <a:spcPts val="700"/>
              </a:spcAft>
            </a:pPr>
            <a:r>
              <a:rPr sz="1400" b="1" i="0">
                <a:solidFill>
                  <a:srgbClr val="CDE2FB"/>
                </a:solidFill>
                <a:latin typeface="Cambria"/>
              </a:rPr>
              <a:t>It names the task, not the solution</a:t>
            </a:r>
          </a:p>
          <a:p>
            <a:pPr algn="l">
              <a:lnSpc>
                <a:spcPct val="124000"/>
              </a:lnSpc>
              <a:spcBef>
                <a:spcPts val="0"/>
              </a:spcBef>
              <a:spcAft>
                <a:spcPts val="0"/>
              </a:spcAft>
            </a:pPr>
            <a:r>
              <a:rPr sz="1200" b="0" i="0">
                <a:solidFill>
                  <a:srgbClr val="BFCEDE"/>
                </a:solidFill>
                <a:latin typeface="Calibri"/>
              </a:rPr>
              <a:t>The object of study is variability exploration in guideline operationalization — not a particular agent architecture.</a:t>
            </a:r>
          </a:p>
        </p:txBody>
      </p:sp>
      <p:sp>
        <p:nvSpPr>
          <p:cNvPr id="8" name="Rounded Rectangle 7"/>
          <p:cNvSpPr/>
          <p:nvPr/>
        </p:nvSpPr>
        <p:spPr>
          <a:xfrm>
            <a:off x="4315968" y="3040634"/>
            <a:ext cx="3529584" cy="1700784"/>
          </a:xfrm>
          <a:prstGeom prst="roundRect">
            <a:avLst>
              <a:gd name="adj" fmla="val 4000"/>
            </a:avLst>
          </a:prstGeom>
          <a:solidFill>
            <a:srgbClr val="1B3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4553712" y="3241802"/>
            <a:ext cx="3054096" cy="1316736"/>
          </a:xfrm>
          <a:prstGeom prst="rect">
            <a:avLst/>
          </a:prstGeom>
          <a:noFill/>
        </p:spPr>
        <p:txBody>
          <a:bodyPr wrap="square" anchor="t" lIns="0" rIns="0" tIns="0" bIns="0">
            <a:spAutoFit/>
          </a:bodyPr>
          <a:lstStyle/>
          <a:p>
            <a:pPr algn="l">
              <a:lnSpc>
                <a:spcPct val="114000"/>
              </a:lnSpc>
              <a:spcBef>
                <a:spcPts val="0"/>
              </a:spcBef>
              <a:spcAft>
                <a:spcPts val="700"/>
              </a:spcAft>
            </a:pPr>
            <a:r>
              <a:rPr sz="1400" b="1" i="0">
                <a:solidFill>
                  <a:srgbClr val="CDE2FB"/>
                </a:solidFill>
                <a:latin typeface="Cambria"/>
              </a:rPr>
              <a:t>It is narrower than “human–AI collaboration”</a:t>
            </a:r>
          </a:p>
          <a:p>
            <a:pPr algn="l">
              <a:lnSpc>
                <a:spcPct val="124000"/>
              </a:lnSpc>
              <a:spcBef>
                <a:spcPts val="0"/>
              </a:spcBef>
              <a:spcAft>
                <a:spcPts val="0"/>
              </a:spcAft>
            </a:pPr>
            <a:r>
              <a:rPr sz="1200" b="0" i="0">
                <a:solidFill>
                  <a:srgbClr val="BFCEDE"/>
                </a:solidFill>
                <a:latin typeface="Calibri"/>
              </a:rPr>
              <a:t>Intervention and reuse must attach to a real decision unit: a guideline mapping, a fragment classification, a pattern.</a:t>
            </a:r>
          </a:p>
        </p:txBody>
      </p:sp>
      <p:sp>
        <p:nvSpPr>
          <p:cNvPr id="10" name="Rounded Rectangle 9"/>
          <p:cNvSpPr/>
          <p:nvPr/>
        </p:nvSpPr>
        <p:spPr>
          <a:xfrm>
            <a:off x="8065008" y="3040634"/>
            <a:ext cx="3529584" cy="1700784"/>
          </a:xfrm>
          <a:prstGeom prst="roundRect">
            <a:avLst>
              <a:gd name="adj" fmla="val 4000"/>
            </a:avLst>
          </a:prstGeom>
          <a:solidFill>
            <a:srgbClr val="1B3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302752" y="3241802"/>
            <a:ext cx="3054096" cy="1316736"/>
          </a:xfrm>
          <a:prstGeom prst="rect">
            <a:avLst/>
          </a:prstGeom>
          <a:noFill/>
        </p:spPr>
        <p:txBody>
          <a:bodyPr wrap="square" anchor="t" lIns="0" rIns="0" tIns="0" bIns="0">
            <a:spAutoFit/>
          </a:bodyPr>
          <a:lstStyle/>
          <a:p>
            <a:pPr algn="l">
              <a:lnSpc>
                <a:spcPct val="114000"/>
              </a:lnSpc>
              <a:spcBef>
                <a:spcPts val="0"/>
              </a:spcBef>
              <a:spcAft>
                <a:spcPts val="700"/>
              </a:spcAft>
            </a:pPr>
            <a:r>
              <a:rPr sz="1400" b="1" i="0">
                <a:solidFill>
                  <a:srgbClr val="CDE2FB"/>
                </a:solidFill>
                <a:latin typeface="Cambria"/>
              </a:rPr>
              <a:t>Reuse is not assumed in the headline</a:t>
            </a:r>
          </a:p>
          <a:p>
            <a:pPr algn="l">
              <a:lnSpc>
                <a:spcPct val="124000"/>
              </a:lnSpc>
              <a:spcBef>
                <a:spcPts val="0"/>
              </a:spcBef>
              <a:spcAft>
                <a:spcPts val="0"/>
              </a:spcAft>
            </a:pPr>
            <a:r>
              <a:rPr sz="1200" b="0" i="0">
                <a:solidFill>
                  <a:srgbClr val="BFCEDE"/>
                </a:solidFill>
                <a:latin typeface="Calibri"/>
              </a:rPr>
              <a:t>Whether captured judgment may be reused is a governed, testable concern for the sub-questions — not a premise.</a:t>
            </a:r>
          </a:p>
        </p:txBody>
      </p:sp>
      <p:sp>
        <p:nvSpPr>
          <p:cNvPr id="12" name="TextBox 11"/>
          <p:cNvSpPr txBox="1"/>
          <p:nvPr/>
        </p:nvSpPr>
        <p:spPr>
          <a:xfrm>
            <a:off x="566928" y="6291072"/>
            <a:ext cx="11057839" cy="384048"/>
          </a:xfrm>
          <a:prstGeom prst="rect">
            <a:avLst/>
          </a:prstGeom>
          <a:noFill/>
        </p:spPr>
        <p:txBody>
          <a:bodyPr wrap="square" anchor="t" lIns="0" rIns="0" tIns="0" bIns="0">
            <a:spAutoFit/>
          </a:bodyPr>
          <a:lstStyle/>
          <a:p>
            <a:pPr algn="l">
              <a:lnSpc>
                <a:spcPct val="115000"/>
              </a:lnSpc>
              <a:spcBef>
                <a:spcPts val="0"/>
              </a:spcBef>
              <a:spcAft>
                <a:spcPts val="0"/>
              </a:spcAft>
            </a:pPr>
            <a:r>
              <a:rPr sz="1050" b="0" i="0">
                <a:solidFill>
                  <a:srgbClr val="8F9BA8"/>
                </a:solidFill>
                <a:latin typeface="Calibri"/>
              </a:rPr>
              <a:t>Drafting baseline, not supervisor-approved wording. D-RQ-01/D-RQ-02 remain open, along with “exploration” versus “identification and classification” and “human” versus “expert” judgment.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237744"/>
          </a:xfrm>
          <a:prstGeom prst="rect">
            <a:avLst/>
          </a:prstGeom>
          <a:noFill/>
        </p:spPr>
        <p:txBody>
          <a:bodyPr wrap="square" anchor="t" lIns="0" rIns="0" tIns="0" bIns="0">
            <a:spAutoFit/>
          </a:bodyPr>
          <a:lstStyle/>
          <a:p>
            <a:pPr algn="l">
              <a:spcBef>
                <a:spcPts val="0"/>
              </a:spcBef>
              <a:spcAft>
                <a:spcPts val="0"/>
              </a:spcAft>
            </a:pPr>
            <a:r>
              <a:rPr sz="1150" b="1" i="0">
                <a:solidFill>
                  <a:srgbClr val="2A78D6"/>
                </a:solidFill>
                <a:latin typeface="Calibri"/>
              </a:rPr>
              <a:t>DERIVED SET OF QUESTIONS</a:t>
            </a:r>
          </a:p>
        </p:txBody>
      </p:sp>
      <p:sp>
        <p:nvSpPr>
          <p:cNvPr id="3" name="TextBox 2"/>
          <p:cNvSpPr txBox="1"/>
          <p:nvPr/>
        </p:nvSpPr>
        <p:spPr>
          <a:xfrm>
            <a:off x="566928" y="713232"/>
            <a:ext cx="11057839" cy="553466"/>
          </a:xfrm>
          <a:prstGeom prst="rect">
            <a:avLst/>
          </a:prstGeom>
          <a:noFill/>
        </p:spPr>
        <p:txBody>
          <a:bodyPr wrap="square" anchor="t" lIns="0" rIns="0" tIns="0" bIns="0">
            <a:spAutoFit/>
          </a:bodyPr>
          <a:lstStyle/>
          <a:p>
            <a:pPr algn="l">
              <a:lnSpc>
                <a:spcPct val="110000"/>
              </a:lnSpc>
              <a:spcBef>
                <a:spcPts val="0"/>
              </a:spcBef>
              <a:spcAft>
                <a:spcPts val="0"/>
              </a:spcAft>
            </a:pPr>
            <a:r>
              <a:rPr sz="3100" b="1" i="0">
                <a:solidFill>
                  <a:srgbClr val="0F2740"/>
                </a:solidFill>
                <a:latin typeface="Cambria"/>
              </a:rPr>
              <a:t>Three derived questions — which become three studies</a:t>
            </a:r>
          </a:p>
        </p:txBody>
      </p:sp>
      <p:sp>
        <p:nvSpPr>
          <p:cNvPr id="4" name="TextBox 3"/>
          <p:cNvSpPr txBox="1"/>
          <p:nvPr/>
        </p:nvSpPr>
        <p:spPr>
          <a:xfrm>
            <a:off x="566928" y="1339850"/>
            <a:ext cx="11057839" cy="294259"/>
          </a:xfrm>
          <a:prstGeom prst="rect">
            <a:avLst/>
          </a:prstGeom>
          <a:noFill/>
        </p:spPr>
        <p:txBody>
          <a:bodyPr wrap="square" anchor="t" lIns="0" rIns="0" tIns="0" bIns="0">
            <a:spAutoFit/>
          </a:bodyPr>
          <a:lstStyle/>
          <a:p>
            <a:pPr algn="l">
              <a:lnSpc>
                <a:spcPct val="118000"/>
              </a:lnSpc>
              <a:spcBef>
                <a:spcPts val="0"/>
              </a:spcBef>
              <a:spcAft>
                <a:spcPts val="0"/>
              </a:spcAft>
            </a:pPr>
            <a:r>
              <a:rPr sz="1450" b="0" i="0">
                <a:solidFill>
                  <a:srgbClr val="5A6472"/>
                </a:solidFill>
                <a:latin typeface="Calibri"/>
              </a:rPr>
              <a:t>Each sub-question owns one stage: when to ask, what to keep and govern, and where a ruling may travel.</a:t>
            </a:r>
          </a:p>
        </p:txBody>
      </p:sp>
      <p:sp>
        <p:nvSpPr>
          <p:cNvPr id="5" name="Rounded Rectangle 4"/>
          <p:cNvSpPr/>
          <p:nvPr/>
        </p:nvSpPr>
        <p:spPr>
          <a:xfrm>
            <a:off x="566928" y="1780413"/>
            <a:ext cx="11057839" cy="1207008"/>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841248" y="2036445"/>
            <a:ext cx="548640" cy="54864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SQ1</a:t>
            </a:r>
          </a:p>
        </p:txBody>
      </p:sp>
      <p:sp>
        <p:nvSpPr>
          <p:cNvPr id="7" name="TextBox 6"/>
          <p:cNvSpPr txBox="1"/>
          <p:nvPr/>
        </p:nvSpPr>
        <p:spPr>
          <a:xfrm>
            <a:off x="1591056" y="1945005"/>
            <a:ext cx="6858000" cy="914400"/>
          </a:xfrm>
          <a:prstGeom prst="rect">
            <a:avLst/>
          </a:prstGeom>
          <a:noFill/>
        </p:spPr>
        <p:txBody>
          <a:bodyPr wrap="square" anchor="t" lIns="0" rIns="0" tIns="0" bIns="0">
            <a:spAutoFit/>
          </a:bodyPr>
          <a:lstStyle/>
          <a:p>
            <a:pPr algn="l">
              <a:spcBef>
                <a:spcPts val="0"/>
              </a:spcBef>
              <a:spcAft>
                <a:spcPts val="500"/>
              </a:spcAft>
            </a:pPr>
            <a:r>
              <a:rPr sz="1600" b="1" i="0">
                <a:solidFill>
                  <a:srgbClr val="0F2740"/>
                </a:solidFill>
                <a:latin typeface="Cambria"/>
              </a:rPr>
              <a:t>When to ask</a:t>
            </a:r>
          </a:p>
          <a:p>
            <a:pPr algn="l">
              <a:lnSpc>
                <a:spcPct val="122000"/>
              </a:lnSpc>
              <a:spcBef>
                <a:spcPts val="0"/>
              </a:spcBef>
              <a:spcAft>
                <a:spcPts val="0"/>
              </a:spcAft>
            </a:pPr>
            <a:r>
              <a:rPr sz="1200" b="0" i="0">
                <a:solidFill>
                  <a:srgbClr val="5A6472"/>
                </a:solidFill>
                <a:latin typeface="Calibri"/>
              </a:rPr>
              <a:t>When and how should an agentic assessment system request human judgment, so that important uncertainties are addressed without unnecessary expert burden?</a:t>
            </a:r>
          </a:p>
        </p:txBody>
      </p:sp>
      <p:sp>
        <p:nvSpPr>
          <p:cNvPr id="8" name="Rounded Rectangle 7"/>
          <p:cNvSpPr/>
          <p:nvPr/>
        </p:nvSpPr>
        <p:spPr>
          <a:xfrm>
            <a:off x="8668511" y="1999869"/>
            <a:ext cx="2816352" cy="768096"/>
          </a:xfrm>
          <a:prstGeom prst="roundRect">
            <a:avLst>
              <a:gd name="adj" fmla="val 4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96528" y="2127885"/>
            <a:ext cx="2560320" cy="530352"/>
          </a:xfrm>
          <a:prstGeom prst="rect">
            <a:avLst/>
          </a:prstGeom>
          <a:noFill/>
        </p:spPr>
        <p:txBody>
          <a:bodyPr wrap="square" anchor="ctr" lIns="0" rIns="0" tIns="0" bIns="0">
            <a:spAutoFit/>
          </a:bodyPr>
          <a:lstStyle/>
          <a:p>
            <a:pPr algn="l">
              <a:lnSpc>
                <a:spcPct val="116000"/>
              </a:lnSpc>
              <a:spcBef>
                <a:spcPts val="0"/>
              </a:spcBef>
              <a:spcAft>
                <a:spcPts val="0"/>
              </a:spcAft>
            </a:pPr>
            <a:r>
              <a:rPr sz="1250" b="1" i="0">
                <a:solidFill>
                  <a:srgbClr val="0F2740"/>
                </a:solidFill>
                <a:latin typeface="Calibri"/>
              </a:rPr>
              <a:t>Study 1 · selective intervention</a:t>
            </a:r>
          </a:p>
        </p:txBody>
      </p:sp>
      <p:sp>
        <p:nvSpPr>
          <p:cNvPr id="10" name="Rounded Rectangle 9"/>
          <p:cNvSpPr/>
          <p:nvPr/>
        </p:nvSpPr>
        <p:spPr>
          <a:xfrm>
            <a:off x="566928" y="3152013"/>
            <a:ext cx="11057839" cy="1207008"/>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41248" y="3408045"/>
            <a:ext cx="548640" cy="54864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SQ2</a:t>
            </a:r>
          </a:p>
        </p:txBody>
      </p:sp>
      <p:sp>
        <p:nvSpPr>
          <p:cNvPr id="12" name="TextBox 11"/>
          <p:cNvSpPr txBox="1"/>
          <p:nvPr/>
        </p:nvSpPr>
        <p:spPr>
          <a:xfrm>
            <a:off x="1591056" y="3316605"/>
            <a:ext cx="6858000" cy="914400"/>
          </a:xfrm>
          <a:prstGeom prst="rect">
            <a:avLst/>
          </a:prstGeom>
          <a:noFill/>
        </p:spPr>
        <p:txBody>
          <a:bodyPr wrap="square" anchor="t" lIns="0" rIns="0" tIns="0" bIns="0">
            <a:spAutoFit/>
          </a:bodyPr>
          <a:lstStyle/>
          <a:p>
            <a:pPr algn="l">
              <a:spcBef>
                <a:spcPts val="0"/>
              </a:spcBef>
              <a:spcAft>
                <a:spcPts val="500"/>
              </a:spcAft>
            </a:pPr>
            <a:r>
              <a:rPr sz="1600" b="1" i="0">
                <a:solidFill>
                  <a:srgbClr val="0F2740"/>
                </a:solidFill>
                <a:latin typeface="Cambria"/>
              </a:rPr>
              <a:t>What to capture and govern</a:t>
            </a:r>
          </a:p>
          <a:p>
            <a:pPr algn="l">
              <a:lnSpc>
                <a:spcPct val="122000"/>
              </a:lnSpc>
              <a:spcBef>
                <a:spcPts val="0"/>
              </a:spcBef>
              <a:spcAft>
                <a:spcPts val="0"/>
              </a:spcAft>
            </a:pPr>
            <a:r>
              <a:rPr sz="1200" b="0" i="0">
                <a:solidFill>
                  <a:srgbClr val="5A6472"/>
                </a:solidFill>
                <a:latin typeface="Calibri"/>
              </a:rPr>
              <a:t>How should expert judgment — including the system's own reasoning — be represented, validated, reconciled and stored so it can be reused transparently, without unsafe generalization or loss of human authority?</a:t>
            </a:r>
          </a:p>
        </p:txBody>
      </p:sp>
      <p:sp>
        <p:nvSpPr>
          <p:cNvPr id="13" name="Rounded Rectangle 12"/>
          <p:cNvSpPr/>
          <p:nvPr/>
        </p:nvSpPr>
        <p:spPr>
          <a:xfrm>
            <a:off x="8668511" y="3371469"/>
            <a:ext cx="2816352" cy="768096"/>
          </a:xfrm>
          <a:prstGeom prst="roundRect">
            <a:avLst>
              <a:gd name="adj" fmla="val 4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96528" y="3499485"/>
            <a:ext cx="2560320" cy="530352"/>
          </a:xfrm>
          <a:prstGeom prst="rect">
            <a:avLst/>
          </a:prstGeom>
          <a:noFill/>
        </p:spPr>
        <p:txBody>
          <a:bodyPr wrap="square" anchor="ctr" lIns="0" rIns="0" tIns="0" bIns="0">
            <a:spAutoFit/>
          </a:bodyPr>
          <a:lstStyle/>
          <a:p>
            <a:pPr algn="l">
              <a:lnSpc>
                <a:spcPct val="116000"/>
              </a:lnSpc>
              <a:spcBef>
                <a:spcPts val="0"/>
              </a:spcBef>
              <a:spcAft>
                <a:spcPts val="0"/>
              </a:spcAft>
            </a:pPr>
            <a:r>
              <a:rPr sz="1250" b="1" i="0">
                <a:solidFill>
                  <a:srgbClr val="0F2740"/>
                </a:solidFill>
                <a:latin typeface="Calibri"/>
              </a:rPr>
              <a:t>Study 2 · judgment lifecycle</a:t>
            </a:r>
          </a:p>
        </p:txBody>
      </p:sp>
      <p:sp>
        <p:nvSpPr>
          <p:cNvPr id="15" name="Rounded Rectangle 14"/>
          <p:cNvSpPr/>
          <p:nvPr/>
        </p:nvSpPr>
        <p:spPr>
          <a:xfrm>
            <a:off x="566928" y="4523613"/>
            <a:ext cx="11057839" cy="1207008"/>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841248" y="4779645"/>
            <a:ext cx="548640" cy="54864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SQ3</a:t>
            </a:r>
          </a:p>
        </p:txBody>
      </p:sp>
      <p:sp>
        <p:nvSpPr>
          <p:cNvPr id="17" name="TextBox 16"/>
          <p:cNvSpPr txBox="1"/>
          <p:nvPr/>
        </p:nvSpPr>
        <p:spPr>
          <a:xfrm>
            <a:off x="1591056" y="4688205"/>
            <a:ext cx="6858000" cy="914400"/>
          </a:xfrm>
          <a:prstGeom prst="rect">
            <a:avLst/>
          </a:prstGeom>
          <a:noFill/>
        </p:spPr>
        <p:txBody>
          <a:bodyPr wrap="square" anchor="t" lIns="0" rIns="0" tIns="0" bIns="0">
            <a:spAutoFit/>
          </a:bodyPr>
          <a:lstStyle/>
          <a:p>
            <a:pPr algn="l">
              <a:spcBef>
                <a:spcPts val="0"/>
              </a:spcBef>
              <a:spcAft>
                <a:spcPts val="500"/>
              </a:spcAft>
            </a:pPr>
            <a:r>
              <a:rPr sz="1600" b="1" i="0">
                <a:solidFill>
                  <a:srgbClr val="0F2740"/>
                </a:solidFill>
                <a:latin typeface="Cambria"/>
              </a:rPr>
              <a:t>When to reuse and transfer</a:t>
            </a:r>
          </a:p>
          <a:p>
            <a:pPr algn="l">
              <a:lnSpc>
                <a:spcPct val="122000"/>
              </a:lnSpc>
              <a:spcBef>
                <a:spcPts val="0"/>
              </a:spcBef>
              <a:spcAft>
                <a:spcPts val="0"/>
              </a:spcAft>
            </a:pPr>
            <a:r>
              <a:rPr sz="1200" b="0" i="0">
                <a:solidFill>
                  <a:srgbClr val="5A6472"/>
                </a:solidFill>
                <a:latin typeface="Calibri"/>
              </a:rPr>
              <a:t>How can expert judgment be reused and transferred across guideline-operationalization contexts — what generalizes, and what must adapt?</a:t>
            </a:r>
          </a:p>
        </p:txBody>
      </p:sp>
      <p:sp>
        <p:nvSpPr>
          <p:cNvPr id="18" name="Rounded Rectangle 17"/>
          <p:cNvSpPr/>
          <p:nvPr/>
        </p:nvSpPr>
        <p:spPr>
          <a:xfrm>
            <a:off x="8668511" y="4743069"/>
            <a:ext cx="2816352" cy="768096"/>
          </a:xfrm>
          <a:prstGeom prst="roundRect">
            <a:avLst>
              <a:gd name="adj" fmla="val 4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96528" y="4871085"/>
            <a:ext cx="2560320" cy="530352"/>
          </a:xfrm>
          <a:prstGeom prst="rect">
            <a:avLst/>
          </a:prstGeom>
          <a:noFill/>
        </p:spPr>
        <p:txBody>
          <a:bodyPr wrap="square" anchor="ctr" lIns="0" rIns="0" tIns="0" bIns="0">
            <a:spAutoFit/>
          </a:bodyPr>
          <a:lstStyle/>
          <a:p>
            <a:pPr algn="l">
              <a:lnSpc>
                <a:spcPct val="116000"/>
              </a:lnSpc>
              <a:spcBef>
                <a:spcPts val="0"/>
              </a:spcBef>
              <a:spcAft>
                <a:spcPts val="0"/>
              </a:spcAft>
            </a:pPr>
            <a:r>
              <a:rPr sz="1250" b="1" i="0">
                <a:solidFill>
                  <a:srgbClr val="0F2740"/>
                </a:solidFill>
                <a:latin typeface="Calibri"/>
              </a:rPr>
              <a:t>Study 3 · transfer and evaluation</a:t>
            </a:r>
          </a:p>
        </p:txBody>
      </p:sp>
      <p:sp>
        <p:nvSpPr>
          <p:cNvPr id="20" name="TextBox 19"/>
          <p:cNvSpPr txBox="1"/>
          <p:nvPr/>
        </p:nvSpPr>
        <p:spPr>
          <a:xfrm>
            <a:off x="566928" y="6291072"/>
            <a:ext cx="11057839" cy="384048"/>
          </a:xfrm>
          <a:prstGeom prst="rect">
            <a:avLst/>
          </a:prstGeom>
          <a:noFill/>
        </p:spPr>
        <p:txBody>
          <a:bodyPr wrap="square" anchor="t" lIns="0" rIns="0" tIns="0" bIns="0">
            <a:spAutoFit/>
          </a:bodyPr>
          <a:lstStyle/>
          <a:p>
            <a:pPr algn="l">
              <a:lnSpc>
                <a:spcPct val="115000"/>
              </a:lnSpc>
              <a:spcBef>
                <a:spcPts val="0"/>
              </a:spcBef>
              <a:spcAft>
                <a:spcPts val="0"/>
              </a:spcAft>
            </a:pPr>
            <a:r>
              <a:rPr sz="1050" b="0" i="0">
                <a:solidFill>
                  <a:srgbClr val="5A6472"/>
                </a:solidFill>
                <a:latin typeface="Calibri"/>
              </a:rPr>
              <a:t>Separating the studies prevents one small label set from being treated as evidence for intervention policy, representation validity and transfer at once. The umbrella question is answered only after they integrate.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237744"/>
          </a:xfrm>
          <a:prstGeom prst="rect">
            <a:avLst/>
          </a:prstGeom>
          <a:noFill/>
        </p:spPr>
        <p:txBody>
          <a:bodyPr wrap="square" anchor="t" lIns="0" rIns="0" tIns="0" bIns="0">
            <a:spAutoFit/>
          </a:bodyPr>
          <a:lstStyle/>
          <a:p>
            <a:pPr algn="l">
              <a:spcBef>
                <a:spcPts val="0"/>
              </a:spcBef>
              <a:spcAft>
                <a:spcPts val="0"/>
              </a:spcAft>
            </a:pPr>
            <a:r>
              <a:rPr sz="1150" b="1" i="0">
                <a:solidFill>
                  <a:srgbClr val="2A78D6"/>
                </a:solidFill>
                <a:latin typeface="Calibri"/>
              </a:rPr>
              <a:t>METHOD</a:t>
            </a:r>
          </a:p>
        </p:txBody>
      </p:sp>
      <p:sp>
        <p:nvSpPr>
          <p:cNvPr id="3" name="TextBox 2"/>
          <p:cNvSpPr txBox="1"/>
          <p:nvPr/>
        </p:nvSpPr>
        <p:spPr>
          <a:xfrm>
            <a:off x="566928" y="713232"/>
            <a:ext cx="11057839" cy="553466"/>
          </a:xfrm>
          <a:prstGeom prst="rect">
            <a:avLst/>
          </a:prstGeom>
          <a:noFill/>
        </p:spPr>
        <p:txBody>
          <a:bodyPr wrap="square" anchor="t" lIns="0" rIns="0" tIns="0" bIns="0">
            <a:spAutoFit/>
          </a:bodyPr>
          <a:lstStyle/>
          <a:p>
            <a:pPr algn="l">
              <a:lnSpc>
                <a:spcPct val="110000"/>
              </a:lnSpc>
              <a:spcBef>
                <a:spcPts val="0"/>
              </a:spcBef>
              <a:spcAft>
                <a:spcPts val="0"/>
              </a:spcAft>
            </a:pPr>
            <a:r>
              <a:rPr sz="3100" b="1" i="0">
                <a:solidFill>
                  <a:srgbClr val="0F2740"/>
                </a:solidFill>
                <a:latin typeface="Cambria"/>
              </a:rPr>
              <a:t>How the review was done</a:t>
            </a:r>
          </a:p>
        </p:txBody>
      </p:sp>
      <p:sp>
        <p:nvSpPr>
          <p:cNvPr id="4" name="TextBox 3"/>
          <p:cNvSpPr txBox="1"/>
          <p:nvPr/>
        </p:nvSpPr>
        <p:spPr>
          <a:xfrm>
            <a:off x="566928" y="1339850"/>
            <a:ext cx="11057839" cy="294259"/>
          </a:xfrm>
          <a:prstGeom prst="rect">
            <a:avLst/>
          </a:prstGeom>
          <a:noFill/>
        </p:spPr>
        <p:txBody>
          <a:bodyPr wrap="square" anchor="t" lIns="0" rIns="0" tIns="0" bIns="0">
            <a:spAutoFit/>
          </a:bodyPr>
          <a:lstStyle/>
          <a:p>
            <a:pPr algn="l">
              <a:lnSpc>
                <a:spcPct val="118000"/>
              </a:lnSpc>
              <a:spcBef>
                <a:spcPts val="0"/>
              </a:spcBef>
              <a:spcAft>
                <a:spcPts val="0"/>
              </a:spcAft>
            </a:pPr>
            <a:r>
              <a:rPr sz="1450" b="0" i="0">
                <a:solidFill>
                  <a:srgbClr val="5A6472"/>
                </a:solidFill>
                <a:latin typeface="Calibri"/>
              </a:rPr>
              <a:t>A structured exploratory review with systematic controls — organised by concepts, not by paper summaries.</a:t>
            </a:r>
          </a:p>
        </p:txBody>
      </p:sp>
      <p:sp>
        <p:nvSpPr>
          <p:cNvPr id="5" name="Rounded Rectangle 4"/>
          <p:cNvSpPr/>
          <p:nvPr/>
        </p:nvSpPr>
        <p:spPr>
          <a:xfrm>
            <a:off x="566928" y="1780413"/>
            <a:ext cx="6446520" cy="3529584"/>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41248" y="1981581"/>
            <a:ext cx="5897880" cy="3154680"/>
          </a:xfrm>
          <a:prstGeom prst="rect">
            <a:avLst/>
          </a:prstGeom>
          <a:noFill/>
        </p:spPr>
        <p:txBody>
          <a:bodyPr wrap="square" anchor="t" lIns="0" rIns="0" tIns="0" bIns="0">
            <a:spAutoFit/>
          </a:bodyPr>
          <a:lstStyle/>
          <a:p>
            <a:pPr algn="l">
              <a:spcBef>
                <a:spcPts val="0"/>
              </a:spcBef>
              <a:spcAft>
                <a:spcPts val="800"/>
              </a:spcAft>
            </a:pPr>
            <a:r>
              <a:rPr sz="1500" b="1" i="0">
                <a:solidFill>
                  <a:srgbClr val="0F2740"/>
                </a:solidFill>
                <a:latin typeface="Cambria"/>
              </a:rPr>
              <a:t>Relevant research areas</a:t>
            </a:r>
          </a:p>
          <a:p>
            <a:pPr algn="l">
              <a:lnSpc>
                <a:spcPct val="120000"/>
              </a:lnSpc>
              <a:spcBef>
                <a:spcPts val="0"/>
              </a:spcBef>
              <a:spcAft>
                <a:spcPts val="700"/>
              </a:spcAft>
            </a:pPr>
            <a:r>
              <a:rPr sz="1250" b="1" i="0">
                <a:solidFill>
                  <a:srgbClr val="0B0B0B"/>
                </a:solidFill>
                <a:latin typeface="Calibri"/>
              </a:rPr>
              <a:t>Human involvement in agentic AI — the core  </a:t>
            </a:r>
            <a:r>
              <a:rPr sz="1250" b="0" i="0">
                <a:solidFill>
                  <a:srgbClr val="5A6472"/>
                </a:solidFill>
                <a:latin typeface="Calibri"/>
              </a:rPr>
              <a:t>mixed initiative, levels of agency, oversight, control</a:t>
            </a:r>
          </a:p>
          <a:p>
            <a:pPr algn="l">
              <a:lnSpc>
                <a:spcPct val="120000"/>
              </a:lnSpc>
              <a:spcBef>
                <a:spcPts val="0"/>
              </a:spcBef>
              <a:spcAft>
                <a:spcPts val="700"/>
              </a:spcAft>
            </a:pPr>
            <a:r>
              <a:rPr sz="1250" b="1" i="0">
                <a:solidFill>
                  <a:srgbClr val="0B0B0B"/>
                </a:solidFill>
                <a:latin typeface="Calibri"/>
              </a:rPr>
              <a:t>Selective intervention  </a:t>
            </a:r>
            <a:r>
              <a:rPr sz="1250" b="0" i="0">
                <a:solidFill>
                  <a:srgbClr val="5A6472"/>
                </a:solidFill>
                <a:latin typeface="Calibri"/>
              </a:rPr>
              <a:t>learning to defer, abstention, uncertainty, value of information, burden</a:t>
            </a:r>
          </a:p>
          <a:p>
            <a:pPr algn="l">
              <a:lnSpc>
                <a:spcPct val="120000"/>
              </a:lnSpc>
              <a:spcBef>
                <a:spcPts val="0"/>
              </a:spcBef>
              <a:spcAft>
                <a:spcPts val="700"/>
              </a:spcAft>
            </a:pPr>
            <a:r>
              <a:rPr sz="1250" b="1" i="0">
                <a:solidFill>
                  <a:srgbClr val="0B0B0B"/>
                </a:solidFill>
                <a:latin typeface="Calibri"/>
              </a:rPr>
              <a:t>Judgment capture and governance  </a:t>
            </a:r>
            <a:r>
              <a:rPr sz="1250" b="0" i="0">
                <a:solidFill>
                  <a:srgbClr val="5A6472"/>
                </a:solidFill>
                <a:latin typeface="Calibri"/>
              </a:rPr>
              <a:t>reasoning capture, provenance, disagreement, authority, expiry, revocation</a:t>
            </a:r>
          </a:p>
          <a:p>
            <a:pPr algn="l">
              <a:lnSpc>
                <a:spcPct val="120000"/>
              </a:lnSpc>
              <a:spcBef>
                <a:spcPts val="0"/>
              </a:spcBef>
              <a:spcAft>
                <a:spcPts val="700"/>
              </a:spcAft>
            </a:pPr>
            <a:r>
              <a:rPr sz="1250" b="1" i="0">
                <a:solidFill>
                  <a:srgbClr val="0B0B0B"/>
                </a:solidFill>
                <a:latin typeface="Calibri"/>
              </a:rPr>
              <a:t>Memory, reuse and transfer  </a:t>
            </a:r>
            <a:r>
              <a:rPr sz="1250" b="0" i="0">
                <a:solidFill>
                  <a:srgbClr val="5A6472"/>
                </a:solidFill>
                <a:latin typeface="Calibri"/>
              </a:rPr>
              <a:t>scope-aware retrieval, domain and guideline adaptation, leakage-safe evaluation</a:t>
            </a:r>
          </a:p>
          <a:p>
            <a:pPr algn="l">
              <a:lnSpc>
                <a:spcPct val="120000"/>
              </a:lnSpc>
              <a:spcBef>
                <a:spcPts val="500"/>
              </a:spcBef>
              <a:spcAft>
                <a:spcPts val="0"/>
              </a:spcAft>
            </a:pPr>
            <a:r>
              <a:rPr sz="1150" b="0" i="1">
                <a:solidFill>
                  <a:srgbClr val="5A6472"/>
                </a:solidFill>
                <a:latin typeface="Calibri"/>
              </a:rPr>
              <a:t>Deliberately outside the review body: enabling technologies (model architectures, local-inference tooling). They are engineering means — the review must justify the problem, not describe the solution.</a:t>
            </a:r>
          </a:p>
        </p:txBody>
      </p:sp>
      <p:sp>
        <p:nvSpPr>
          <p:cNvPr id="7" name="Rounded Rectangle 6"/>
          <p:cNvSpPr/>
          <p:nvPr/>
        </p:nvSpPr>
        <p:spPr>
          <a:xfrm>
            <a:off x="7251192" y="1780413"/>
            <a:ext cx="4373575" cy="1664208"/>
          </a:xfrm>
          <a:prstGeom prst="roundRect">
            <a:avLst>
              <a:gd name="adj" fmla="val 4000"/>
            </a:avLst>
          </a:prstGeom>
          <a:solidFill>
            <a:srgbClr val="FFFFFF"/>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488936" y="1945005"/>
            <a:ext cx="3898087" cy="1371600"/>
          </a:xfrm>
          <a:prstGeom prst="rect">
            <a:avLst/>
          </a:prstGeom>
          <a:noFill/>
        </p:spPr>
        <p:txBody>
          <a:bodyPr wrap="square" anchor="t" lIns="0" rIns="0" tIns="0" bIns="0">
            <a:spAutoFit/>
          </a:bodyPr>
          <a:lstStyle/>
          <a:p>
            <a:pPr algn="l">
              <a:spcBef>
                <a:spcPts val="0"/>
              </a:spcBef>
              <a:spcAft>
                <a:spcPts val="700"/>
              </a:spcAft>
            </a:pPr>
            <a:r>
              <a:rPr sz="1450" b="1" i="0">
                <a:solidFill>
                  <a:srgbClr val="0F2740"/>
                </a:solidFill>
                <a:latin typeface="Cambria"/>
              </a:rPr>
              <a:t>Screening</a:t>
            </a:r>
          </a:p>
          <a:p>
            <a:pPr algn="l">
              <a:lnSpc>
                <a:spcPct val="120000"/>
              </a:lnSpc>
              <a:spcBef>
                <a:spcPts val="0"/>
              </a:spcBef>
              <a:spcAft>
                <a:spcPts val="500"/>
              </a:spcAft>
            </a:pPr>
            <a:r>
              <a:rPr sz="1200" b="1" i="0">
                <a:solidFill>
                  <a:srgbClr val="0CA30C"/>
                </a:solidFill>
                <a:latin typeface="Calibri"/>
              </a:rPr>
              <a:t>Include  </a:t>
            </a:r>
            <a:r>
              <a:rPr sz="1200" b="0" i="0">
                <a:solidFill>
                  <a:srgbClr val="5A6472"/>
                </a:solidFill>
                <a:latin typeface="Calibri"/>
              </a:rPr>
              <a:t>methods, frameworks, artifacts, empirical studies.</a:t>
            </a:r>
          </a:p>
          <a:p>
            <a:pPr algn="l">
              <a:lnSpc>
                <a:spcPct val="120000"/>
              </a:lnSpc>
              <a:spcBef>
                <a:spcPts val="0"/>
              </a:spcBef>
              <a:spcAft>
                <a:spcPts val="0"/>
              </a:spcAft>
            </a:pPr>
            <a:r>
              <a:rPr sz="1200" b="1" i="0">
                <a:solidFill>
                  <a:srgbClr val="D03B3B"/>
                </a:solidFill>
                <a:latin typeface="Calibri"/>
              </a:rPr>
              <a:t>Exclude  </a:t>
            </a:r>
            <a:r>
              <a:rPr sz="1200" b="0" i="0">
                <a:solidFill>
                  <a:srgbClr val="5A6472"/>
                </a:solidFill>
                <a:latin typeface="Calibri"/>
              </a:rPr>
              <a:t>duplicates, passing mentions, off-topic enabling tech, unverifiable sources.</a:t>
            </a:r>
          </a:p>
        </p:txBody>
      </p:sp>
      <p:sp>
        <p:nvSpPr>
          <p:cNvPr id="9" name="Rounded Rectangle 8"/>
          <p:cNvSpPr/>
          <p:nvPr/>
        </p:nvSpPr>
        <p:spPr>
          <a:xfrm>
            <a:off x="7251192" y="3645789"/>
            <a:ext cx="4373575" cy="1664208"/>
          </a:xfrm>
          <a:prstGeom prst="roundRect">
            <a:avLst>
              <a:gd name="adj" fmla="val 4000"/>
            </a:avLst>
          </a:prstGeom>
          <a:solidFill>
            <a:srgbClr val="F3F8F3"/>
          </a:solidFill>
          <a:ln w="12700">
            <a:solidFill>
              <a:srgbClr val="CCE4C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488936" y="3810381"/>
            <a:ext cx="3898087" cy="1371600"/>
          </a:xfrm>
          <a:prstGeom prst="rect">
            <a:avLst/>
          </a:prstGeom>
          <a:noFill/>
        </p:spPr>
        <p:txBody>
          <a:bodyPr wrap="square" anchor="t" lIns="0" rIns="0" tIns="0" bIns="0">
            <a:spAutoFit/>
          </a:bodyPr>
          <a:lstStyle/>
          <a:p>
            <a:pPr algn="l">
              <a:spcBef>
                <a:spcPts val="0"/>
              </a:spcBef>
              <a:spcAft>
                <a:spcPts val="700"/>
              </a:spcAft>
            </a:pPr>
            <a:r>
              <a:rPr sz="1450" b="1" i="0">
                <a:solidFill>
                  <a:srgbClr val="0CA30C"/>
                </a:solidFill>
                <a:latin typeface="Cambria"/>
              </a:rPr>
              <a:t>GenAI disclosure</a:t>
            </a:r>
          </a:p>
          <a:p>
            <a:pPr algn="l">
              <a:lnSpc>
                <a:spcPct val="120000"/>
              </a:lnSpc>
              <a:spcBef>
                <a:spcPts val="0"/>
              </a:spcBef>
              <a:spcAft>
                <a:spcPts val="0"/>
              </a:spcAft>
            </a:pPr>
            <a:r>
              <a:rPr sz="1200" b="0" i="0">
                <a:solidFill>
                  <a:srgbClr val="5A6472"/>
                </a:solidFill>
                <a:latin typeface="Calibri"/>
              </a:rPr>
              <a:t>Used for organisation, synthesis drafting, diagrams and consistency checks. Not used to approve inclusion, invent citations, or create expert labels.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237744"/>
          </a:xfrm>
          <a:prstGeom prst="rect">
            <a:avLst/>
          </a:prstGeom>
          <a:noFill/>
        </p:spPr>
        <p:txBody>
          <a:bodyPr wrap="square" anchor="t" lIns="0" rIns="0" tIns="0" bIns="0">
            <a:spAutoFit/>
          </a:bodyPr>
          <a:lstStyle/>
          <a:p>
            <a:pPr algn="l">
              <a:spcBef>
                <a:spcPts val="0"/>
              </a:spcBef>
              <a:spcAft>
                <a:spcPts val="0"/>
              </a:spcAft>
            </a:pPr>
            <a:r>
              <a:rPr sz="1150" b="1" i="0">
                <a:solidFill>
                  <a:srgbClr val="2A78D6"/>
                </a:solidFill>
                <a:latin typeface="Calibri"/>
              </a:rPr>
              <a:t>METHOD · SOURCES, QUERIES AND STATUS</a:t>
            </a:r>
          </a:p>
        </p:txBody>
      </p:sp>
      <p:sp>
        <p:nvSpPr>
          <p:cNvPr id="3" name="TextBox 2"/>
          <p:cNvSpPr txBox="1"/>
          <p:nvPr/>
        </p:nvSpPr>
        <p:spPr>
          <a:xfrm>
            <a:off x="566928" y="713232"/>
            <a:ext cx="11057839" cy="553466"/>
          </a:xfrm>
          <a:prstGeom prst="rect">
            <a:avLst/>
          </a:prstGeom>
          <a:noFill/>
        </p:spPr>
        <p:txBody>
          <a:bodyPr wrap="square" anchor="t" lIns="0" rIns="0" tIns="0" bIns="0">
            <a:spAutoFit/>
          </a:bodyPr>
          <a:lstStyle/>
          <a:p>
            <a:pPr algn="l">
              <a:lnSpc>
                <a:spcPct val="110000"/>
              </a:lnSpc>
              <a:spcBef>
                <a:spcPts val="0"/>
              </a:spcBef>
              <a:spcAft>
                <a:spcPts val="0"/>
              </a:spcAft>
            </a:pPr>
            <a:r>
              <a:rPr sz="3100" b="1" i="0">
                <a:solidFill>
                  <a:srgbClr val="0F2740"/>
                </a:solidFill>
                <a:latin typeface="Cambria"/>
              </a:rPr>
              <a:t>Search strategy — and what has actually been executed</a:t>
            </a:r>
          </a:p>
        </p:txBody>
      </p:sp>
      <p:sp>
        <p:nvSpPr>
          <p:cNvPr id="4" name="TextBox 3"/>
          <p:cNvSpPr txBox="1"/>
          <p:nvPr/>
        </p:nvSpPr>
        <p:spPr>
          <a:xfrm>
            <a:off x="566928" y="1339850"/>
            <a:ext cx="11057839" cy="294259"/>
          </a:xfrm>
          <a:prstGeom prst="rect">
            <a:avLst/>
          </a:prstGeom>
          <a:noFill/>
        </p:spPr>
        <p:txBody>
          <a:bodyPr wrap="square" anchor="t" lIns="0" rIns="0" tIns="0" bIns="0">
            <a:spAutoFit/>
          </a:bodyPr>
          <a:lstStyle/>
          <a:p>
            <a:pPr algn="l">
              <a:lnSpc>
                <a:spcPct val="118000"/>
              </a:lnSpc>
              <a:spcBef>
                <a:spcPts val="0"/>
              </a:spcBef>
              <a:spcAft>
                <a:spcPts val="0"/>
              </a:spcAft>
            </a:pPr>
            <a:r>
              <a:rPr sz="1450" b="0" i="0">
                <a:solidFill>
                  <a:srgbClr val="5A6472"/>
                </a:solidFill>
                <a:latin typeface="Calibri"/>
              </a:rPr>
              <a:t>The query families are locked. Presenting them is not the same as claiming the formal searches have been run.</a:t>
            </a:r>
          </a:p>
        </p:txBody>
      </p:sp>
      <p:pic>
        <p:nvPicPr>
          <p:cNvPr id="5" name="Picture 4" descr="03-corpus-composition-bare.png"/>
          <p:cNvPicPr>
            <a:picLocks noChangeAspect="1"/>
          </p:cNvPicPr>
          <p:nvPr/>
        </p:nvPicPr>
        <p:blipFill>
          <a:blip r:embed="rId2"/>
          <a:stretch>
            <a:fillRect/>
          </a:stretch>
        </p:blipFill>
        <p:spPr>
          <a:xfrm>
            <a:off x="566928" y="2207413"/>
            <a:ext cx="6675120" cy="3565218"/>
          </a:xfrm>
          <a:prstGeom prst="rect">
            <a:avLst/>
          </a:prstGeom>
        </p:spPr>
      </p:pic>
      <p:sp>
        <p:nvSpPr>
          <p:cNvPr id="6" name="Rounded Rectangle 5"/>
          <p:cNvSpPr/>
          <p:nvPr/>
        </p:nvSpPr>
        <p:spPr>
          <a:xfrm>
            <a:off x="7470648" y="1780413"/>
            <a:ext cx="4154119" cy="2474762"/>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690104" y="1963293"/>
            <a:ext cx="3715207" cy="2109002"/>
          </a:xfrm>
          <a:prstGeom prst="rect">
            <a:avLst/>
          </a:prstGeom>
          <a:noFill/>
        </p:spPr>
        <p:txBody>
          <a:bodyPr wrap="square" anchor="t" lIns="0" rIns="0" tIns="0" bIns="0">
            <a:spAutoFit/>
          </a:bodyPr>
          <a:lstStyle/>
          <a:p>
            <a:pPr algn="l">
              <a:spcBef>
                <a:spcPts val="0"/>
              </a:spcBef>
              <a:spcAft>
                <a:spcPts val="600"/>
              </a:spcAft>
            </a:pPr>
            <a:r>
              <a:rPr sz="1300" b="1" i="0">
                <a:solidFill>
                  <a:srgbClr val="0F2740"/>
                </a:solidFill>
                <a:latin typeface="Cambria"/>
              </a:rPr>
              <a:t>Locked query family — SQ1</a:t>
            </a:r>
          </a:p>
          <a:p>
            <a:pPr algn="l">
              <a:lnSpc>
                <a:spcPct val="124000"/>
              </a:lnSpc>
              <a:spcBef>
                <a:spcPts val="0"/>
              </a:spcBef>
              <a:spcAft>
                <a:spcPts val="800"/>
              </a:spcAft>
            </a:pPr>
            <a:r>
              <a:rPr sz="1100" b="0" i="0">
                <a:solidFill>
                  <a:srgbClr val="5A6472"/>
                </a:solidFill>
                <a:latin typeface="Calibri"/>
              </a:rPr>
              <a:t>(learning to defer OR algorithmic triage OR abstention OR selective prediction) AND (human OR expert) AND (cost OR burden OR timing OR uncertainty OR disagreement)</a:t>
            </a:r>
          </a:p>
          <a:p>
            <a:pPr algn="l">
              <a:lnSpc>
                <a:spcPct val="124000"/>
              </a:lnSpc>
              <a:spcBef>
                <a:spcPts val="0"/>
              </a:spcBef>
              <a:spcAft>
                <a:spcPts val="0"/>
              </a:spcAft>
            </a:pPr>
            <a:r>
              <a:rPr sz="1100" b="0" i="0">
                <a:solidFill>
                  <a:srgbClr val="5A6472"/>
                </a:solidFill>
                <a:latin typeface="Calibri"/>
              </a:rPr>
              <a:t>Sources: Scopus · ACM DL · IEEE Xplore · SpringerLink · Web of Science.  Scholar and dblp for discovery, snowballing and verification.</a:t>
            </a:r>
          </a:p>
        </p:txBody>
      </p:sp>
      <p:sp>
        <p:nvSpPr>
          <p:cNvPr id="8" name="Rounded Rectangle 7"/>
          <p:cNvSpPr/>
          <p:nvPr/>
        </p:nvSpPr>
        <p:spPr>
          <a:xfrm>
            <a:off x="7470648" y="4438055"/>
            <a:ext cx="4154119" cy="1761576"/>
          </a:xfrm>
          <a:prstGeom prst="roundRect">
            <a:avLst>
              <a:gd name="adj" fmla="val 4000"/>
            </a:avLst>
          </a:prstGeom>
          <a:solidFill>
            <a:srgbClr val="FDF0F0"/>
          </a:solidFill>
          <a:ln w="12700">
            <a:solidFill>
              <a:srgbClr val="F0C8C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690104" y="4584359"/>
            <a:ext cx="3715207" cy="1432392"/>
          </a:xfrm>
          <a:prstGeom prst="rect">
            <a:avLst/>
          </a:prstGeom>
          <a:noFill/>
        </p:spPr>
        <p:txBody>
          <a:bodyPr wrap="square" anchor="t" lIns="0" rIns="0" tIns="0" bIns="0">
            <a:spAutoFit/>
          </a:bodyPr>
          <a:lstStyle/>
          <a:p>
            <a:pPr algn="l">
              <a:spcBef>
                <a:spcPts val="0"/>
              </a:spcBef>
              <a:spcAft>
                <a:spcPts val="600"/>
              </a:spcAft>
            </a:pPr>
            <a:r>
              <a:rPr sz="1300" b="1" i="0">
                <a:solidFill>
                  <a:srgbClr val="D03B3B"/>
                </a:solidFill>
                <a:latin typeface="Cambria"/>
              </a:rPr>
              <a:t>Execution status</a:t>
            </a:r>
          </a:p>
          <a:p>
            <a:pPr algn="l">
              <a:lnSpc>
                <a:spcPct val="122000"/>
              </a:lnSpc>
              <a:spcBef>
                <a:spcPts val="0"/>
              </a:spcBef>
              <a:spcAft>
                <a:spcPts val="400"/>
              </a:spcAft>
            </a:pPr>
            <a:r>
              <a:rPr sz="1200" b="0" i="0">
                <a:solidFill>
                  <a:srgbClr val="5A6472"/>
                </a:solidFill>
                <a:latin typeface="Calibri"/>
              </a:rPr>
              <a:t>QL-01–QL-05:  </a:t>
            </a:r>
            <a:r>
              <a:rPr sz="1200" b="1" i="0">
                <a:solidFill>
                  <a:srgbClr val="D03B3B"/>
                </a:solidFill>
                <a:latin typeface="Calibri"/>
              </a:rPr>
              <a:t>0 of 5 executed</a:t>
            </a:r>
          </a:p>
          <a:p>
            <a:pPr algn="l">
              <a:lnSpc>
                <a:spcPct val="122000"/>
              </a:lnSpc>
              <a:spcBef>
                <a:spcPts val="0"/>
              </a:spcBef>
              <a:spcAft>
                <a:spcPts val="0"/>
              </a:spcAft>
            </a:pPr>
            <a:r>
              <a:rPr sz="1100" b="0" i="0">
                <a:solidFill>
                  <a:srgbClr val="5A6472"/>
                </a:solidFill>
                <a:latin typeface="Calibri"/>
              </a:rPr>
              <a:t>20 RQ-anchor mappings verified (5 per question); evidence maturity 14 full-text + 6 record-level. This is what has been found and read — not evidence that nothing else exists.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237744"/>
          </a:xfrm>
          <a:prstGeom prst="rect">
            <a:avLst/>
          </a:prstGeom>
          <a:noFill/>
        </p:spPr>
        <p:txBody>
          <a:bodyPr wrap="square" anchor="t" lIns="0" rIns="0" tIns="0" bIns="0">
            <a:spAutoFit/>
          </a:bodyPr>
          <a:lstStyle/>
          <a:p>
            <a:pPr algn="l">
              <a:spcBef>
                <a:spcPts val="0"/>
              </a:spcBef>
              <a:spcAft>
                <a:spcPts val="0"/>
              </a:spcAft>
            </a:pPr>
            <a:r>
              <a:rPr sz="1150" b="1" i="0">
                <a:solidFill>
                  <a:srgbClr val="2A78D6"/>
                </a:solidFill>
                <a:latin typeface="Calibri"/>
              </a:rPr>
              <a:t>FINDINGS · RESEARCH STREAMS</a:t>
            </a:r>
          </a:p>
        </p:txBody>
      </p:sp>
      <p:sp>
        <p:nvSpPr>
          <p:cNvPr id="3" name="TextBox 2"/>
          <p:cNvSpPr txBox="1"/>
          <p:nvPr/>
        </p:nvSpPr>
        <p:spPr>
          <a:xfrm>
            <a:off x="566928" y="713232"/>
            <a:ext cx="11057839" cy="553466"/>
          </a:xfrm>
          <a:prstGeom prst="rect">
            <a:avLst/>
          </a:prstGeom>
          <a:noFill/>
        </p:spPr>
        <p:txBody>
          <a:bodyPr wrap="square" anchor="t" lIns="0" rIns="0" tIns="0" bIns="0">
            <a:spAutoFit/>
          </a:bodyPr>
          <a:lstStyle/>
          <a:p>
            <a:pPr algn="l">
              <a:lnSpc>
                <a:spcPct val="110000"/>
              </a:lnSpc>
              <a:spcBef>
                <a:spcPts val="0"/>
              </a:spcBef>
              <a:spcAft>
                <a:spcPts val="0"/>
              </a:spcAft>
            </a:pPr>
            <a:r>
              <a:rPr sz="3100" b="1" i="0">
                <a:solidFill>
                  <a:srgbClr val="0F2740"/>
                </a:solidFill>
                <a:latin typeface="Cambria"/>
              </a:rPr>
              <a:t>Six streams — each governs part of the lifecycle</a:t>
            </a:r>
          </a:p>
        </p:txBody>
      </p:sp>
      <p:sp>
        <p:nvSpPr>
          <p:cNvPr id="4" name="TextBox 3"/>
          <p:cNvSpPr txBox="1"/>
          <p:nvPr/>
        </p:nvSpPr>
        <p:spPr>
          <a:xfrm>
            <a:off x="566928" y="1339850"/>
            <a:ext cx="11057839" cy="294259"/>
          </a:xfrm>
          <a:prstGeom prst="rect">
            <a:avLst/>
          </a:prstGeom>
          <a:noFill/>
        </p:spPr>
        <p:txBody>
          <a:bodyPr wrap="square" anchor="t" lIns="0" rIns="0" tIns="0" bIns="0">
            <a:spAutoFit/>
          </a:bodyPr>
          <a:lstStyle/>
          <a:p>
            <a:pPr algn="l">
              <a:lnSpc>
                <a:spcPct val="118000"/>
              </a:lnSpc>
              <a:spcBef>
                <a:spcPts val="0"/>
              </a:spcBef>
              <a:spcAft>
                <a:spcPts val="0"/>
              </a:spcAft>
            </a:pPr>
            <a:r>
              <a:rPr sz="1450" b="0" i="0">
                <a:solidFill>
                  <a:srgbClr val="5A6472"/>
                </a:solidFill>
                <a:latin typeface="Calibri"/>
              </a:rPr>
              <a:t>Concept matrix from the review: what each stream asks, and what it leaves open for governed judgment in agentic assessment.</a:t>
            </a:r>
          </a:p>
        </p:txBody>
      </p:sp>
      <p:sp>
        <p:nvSpPr>
          <p:cNvPr id="5" name="Rounded Rectangle 4"/>
          <p:cNvSpPr/>
          <p:nvPr/>
        </p:nvSpPr>
        <p:spPr>
          <a:xfrm>
            <a:off x="566928" y="1780413"/>
            <a:ext cx="3551834" cy="2099881"/>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768096" y="1945005"/>
            <a:ext cx="347472" cy="34747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a:solidFill>
                  <a:srgbClr val="FFFFFF"/>
                </a:solidFill>
                <a:latin typeface="Calibri"/>
              </a:rPr>
              <a:t>1</a:t>
            </a:r>
          </a:p>
        </p:txBody>
      </p:sp>
      <p:sp>
        <p:nvSpPr>
          <p:cNvPr id="7" name="TextBox 6"/>
          <p:cNvSpPr txBox="1"/>
          <p:nvPr/>
        </p:nvSpPr>
        <p:spPr>
          <a:xfrm>
            <a:off x="1188720" y="1945005"/>
            <a:ext cx="2710586"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0F2740"/>
                </a:solidFill>
                <a:latin typeface="Cambria"/>
              </a:rPr>
              <a:t>Learning to defer / reject option</a:t>
            </a:r>
            <a:r>
              <a:rPr sz="1100" b="1" i="0">
                <a:solidFill>
                  <a:srgbClr val="2A78D6"/>
                </a:solidFill>
                <a:latin typeface="Calibri"/>
              </a:rPr>
              <a:t>   SQ1</a:t>
            </a:r>
          </a:p>
        </p:txBody>
      </p:sp>
      <p:sp>
        <p:nvSpPr>
          <p:cNvPr id="8" name="TextBox 7"/>
          <p:cNvSpPr txBox="1"/>
          <p:nvPr/>
        </p:nvSpPr>
        <p:spPr>
          <a:xfrm>
            <a:off x="768096" y="2383917"/>
            <a:ext cx="3149498" cy="1371600"/>
          </a:xfrm>
          <a:prstGeom prst="rect">
            <a:avLst/>
          </a:prstGeom>
          <a:noFill/>
        </p:spPr>
        <p:txBody>
          <a:bodyPr wrap="square" anchor="t" lIns="0" rIns="0" tIns="0" bIns="0">
            <a:spAutoFit/>
          </a:bodyPr>
          <a:lstStyle/>
          <a:p>
            <a:pPr algn="l">
              <a:lnSpc>
                <a:spcPct val="116000"/>
              </a:lnSpc>
              <a:spcBef>
                <a:spcPts val="0"/>
              </a:spcBef>
              <a:spcAft>
                <a:spcPts val="500"/>
              </a:spcAft>
            </a:pPr>
            <a:r>
              <a:rPr sz="1000" b="0" i="0">
                <a:solidFill>
                  <a:srgbClr val="5A6472"/>
                </a:solidFill>
                <a:latin typeface="Calibri"/>
              </a:rPr>
              <a:t>When to route a decision to a human — uncertainty, expert performance, cost, selective risk.</a:t>
            </a:r>
          </a:p>
          <a:p>
            <a:pPr algn="l">
              <a:lnSpc>
                <a:spcPct val="116000"/>
              </a:lnSpc>
              <a:spcBef>
                <a:spcPts val="0"/>
              </a:spcBef>
              <a:spcAft>
                <a:spcPts val="0"/>
              </a:spcAft>
            </a:pPr>
            <a:r>
              <a:rPr sz="1000" b="1" i="0">
                <a:solidFill>
                  <a:srgbClr val="D03B3B"/>
                </a:solidFill>
                <a:latin typeface="Calibri"/>
              </a:rPr>
              <a:t>Leaves open  </a:t>
            </a:r>
            <a:r>
              <a:rPr sz="1000" b="0" i="0">
                <a:solidFill>
                  <a:srgbClr val="5A6472"/>
                </a:solidFill>
                <a:latin typeface="Calibri"/>
              </a:rPr>
              <a:t>usually treats the expert's response as a terminal label.</a:t>
            </a:r>
          </a:p>
        </p:txBody>
      </p:sp>
      <p:sp>
        <p:nvSpPr>
          <p:cNvPr id="9" name="Rounded Rectangle 8"/>
          <p:cNvSpPr/>
          <p:nvPr/>
        </p:nvSpPr>
        <p:spPr>
          <a:xfrm>
            <a:off x="4319930" y="1780413"/>
            <a:ext cx="3551834" cy="2099881"/>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4521098" y="1945005"/>
            <a:ext cx="347472" cy="34747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a:solidFill>
                  <a:srgbClr val="FFFFFF"/>
                </a:solidFill>
                <a:latin typeface="Calibri"/>
              </a:rPr>
              <a:t>2</a:t>
            </a:r>
          </a:p>
        </p:txBody>
      </p:sp>
      <p:sp>
        <p:nvSpPr>
          <p:cNvPr id="11" name="TextBox 10"/>
          <p:cNvSpPr txBox="1"/>
          <p:nvPr/>
        </p:nvSpPr>
        <p:spPr>
          <a:xfrm>
            <a:off x="4941722" y="1945005"/>
            <a:ext cx="2710586"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0F2740"/>
                </a:solidFill>
                <a:latin typeface="Cambria"/>
              </a:rPr>
              <a:t>Mixed initiative &amp; human-centred AI</a:t>
            </a:r>
            <a:r>
              <a:rPr sz="1100" b="1" i="0">
                <a:solidFill>
                  <a:srgbClr val="2A78D6"/>
                </a:solidFill>
                <a:latin typeface="Calibri"/>
              </a:rPr>
              <a:t>   SQ1</a:t>
            </a:r>
          </a:p>
        </p:txBody>
      </p:sp>
      <p:sp>
        <p:nvSpPr>
          <p:cNvPr id="12" name="TextBox 11"/>
          <p:cNvSpPr txBox="1"/>
          <p:nvPr/>
        </p:nvSpPr>
        <p:spPr>
          <a:xfrm>
            <a:off x="4521098" y="2383917"/>
            <a:ext cx="3149498" cy="1371600"/>
          </a:xfrm>
          <a:prstGeom prst="rect">
            <a:avLst/>
          </a:prstGeom>
          <a:noFill/>
        </p:spPr>
        <p:txBody>
          <a:bodyPr wrap="square" anchor="t" lIns="0" rIns="0" tIns="0" bIns="0">
            <a:spAutoFit/>
          </a:bodyPr>
          <a:lstStyle/>
          <a:p>
            <a:pPr algn="l">
              <a:lnSpc>
                <a:spcPct val="116000"/>
              </a:lnSpc>
              <a:spcBef>
                <a:spcPts val="0"/>
              </a:spcBef>
              <a:spcAft>
                <a:spcPts val="500"/>
              </a:spcAft>
            </a:pPr>
            <a:r>
              <a:rPr sz="1000" b="0" i="0">
                <a:solidFill>
                  <a:srgbClr val="5A6472"/>
                </a:solidFill>
                <a:latin typeface="Calibri"/>
              </a:rPr>
              <a:t>Who acts and who controls — initiative timing, transparency, correction, override.</a:t>
            </a:r>
          </a:p>
          <a:p>
            <a:pPr algn="l">
              <a:lnSpc>
                <a:spcPct val="116000"/>
              </a:lnSpc>
              <a:spcBef>
                <a:spcPts val="0"/>
              </a:spcBef>
              <a:spcAft>
                <a:spcPts val="0"/>
              </a:spcAft>
            </a:pPr>
            <a:r>
              <a:rPr sz="1000" b="1" i="0">
                <a:solidFill>
                  <a:srgbClr val="D03B3B"/>
                </a:solidFill>
                <a:latin typeface="Calibri"/>
              </a:rPr>
              <a:t>Leaves open  </a:t>
            </a:r>
            <a:r>
              <a:rPr sz="1000" b="0" i="0">
                <a:solidFill>
                  <a:srgbClr val="5A6472"/>
                </a:solidFill>
                <a:latin typeface="Calibri"/>
              </a:rPr>
              <a:t>does not specify a reusable judgment object.</a:t>
            </a:r>
          </a:p>
        </p:txBody>
      </p:sp>
      <p:sp>
        <p:nvSpPr>
          <p:cNvPr id="13" name="Rounded Rectangle 12"/>
          <p:cNvSpPr/>
          <p:nvPr/>
        </p:nvSpPr>
        <p:spPr>
          <a:xfrm>
            <a:off x="8072932" y="1780413"/>
            <a:ext cx="3551834" cy="2099881"/>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274100" y="1945005"/>
            <a:ext cx="347472" cy="34747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a:solidFill>
                  <a:srgbClr val="FFFFFF"/>
                </a:solidFill>
                <a:latin typeface="Calibri"/>
              </a:rPr>
              <a:t>3</a:t>
            </a:r>
          </a:p>
        </p:txBody>
      </p:sp>
      <p:sp>
        <p:nvSpPr>
          <p:cNvPr id="15" name="TextBox 14"/>
          <p:cNvSpPr txBox="1"/>
          <p:nvPr/>
        </p:nvSpPr>
        <p:spPr>
          <a:xfrm>
            <a:off x="8694724" y="1945005"/>
            <a:ext cx="2710586"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0F2740"/>
                </a:solidFill>
                <a:latin typeface="Cambria"/>
              </a:rPr>
              <a:t>Explanatory debugging &amp; disagreement</a:t>
            </a:r>
            <a:r>
              <a:rPr sz="1100" b="1" i="0">
                <a:solidFill>
                  <a:srgbClr val="2A78D6"/>
                </a:solidFill>
                <a:latin typeface="Calibri"/>
              </a:rPr>
              <a:t>   SQ2</a:t>
            </a:r>
          </a:p>
        </p:txBody>
      </p:sp>
      <p:sp>
        <p:nvSpPr>
          <p:cNvPr id="16" name="TextBox 15"/>
          <p:cNvSpPr txBox="1"/>
          <p:nvPr/>
        </p:nvSpPr>
        <p:spPr>
          <a:xfrm>
            <a:off x="8274100" y="2383917"/>
            <a:ext cx="3149498" cy="1371600"/>
          </a:xfrm>
          <a:prstGeom prst="rect">
            <a:avLst/>
          </a:prstGeom>
          <a:noFill/>
        </p:spPr>
        <p:txBody>
          <a:bodyPr wrap="square" anchor="t" lIns="0" rIns="0" tIns="0" bIns="0">
            <a:spAutoFit/>
          </a:bodyPr>
          <a:lstStyle/>
          <a:p>
            <a:pPr algn="l">
              <a:lnSpc>
                <a:spcPct val="116000"/>
              </a:lnSpc>
              <a:spcBef>
                <a:spcPts val="0"/>
              </a:spcBef>
              <a:spcAft>
                <a:spcPts val="500"/>
              </a:spcAft>
            </a:pPr>
            <a:r>
              <a:rPr sz="1000" b="0" i="0">
                <a:solidFill>
                  <a:srgbClr val="5A6472"/>
                </a:solidFill>
                <a:latin typeface="Calibri"/>
              </a:rPr>
              <a:t>How users correct reasoning, and how multiple human judgments relate — dissent, ambiguity, reconciliation.</a:t>
            </a:r>
          </a:p>
          <a:p>
            <a:pPr algn="l">
              <a:lnSpc>
                <a:spcPct val="116000"/>
              </a:lnSpc>
              <a:spcBef>
                <a:spcPts val="0"/>
              </a:spcBef>
              <a:spcAft>
                <a:spcPts val="0"/>
              </a:spcAft>
            </a:pPr>
            <a:r>
              <a:rPr sz="1000" b="1" i="0">
                <a:solidFill>
                  <a:srgbClr val="D03B3B"/>
                </a:solidFill>
                <a:latin typeface="Calibri"/>
              </a:rPr>
              <a:t>Leaves open  </a:t>
            </a:r>
            <a:r>
              <a:rPr sz="1000" b="0" i="0">
                <a:solidFill>
                  <a:srgbClr val="5A6472"/>
                </a:solidFill>
                <a:latin typeface="Calibri"/>
              </a:rPr>
              <a:t>rarely addresses long-term scope and revocation.</a:t>
            </a:r>
          </a:p>
        </p:txBody>
      </p:sp>
      <p:sp>
        <p:nvSpPr>
          <p:cNvPr id="17" name="Rounded Rectangle 16"/>
          <p:cNvSpPr/>
          <p:nvPr/>
        </p:nvSpPr>
        <p:spPr>
          <a:xfrm>
            <a:off x="566928" y="4044886"/>
            <a:ext cx="3551834" cy="2099881"/>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68096" y="4209478"/>
            <a:ext cx="347472" cy="34747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a:solidFill>
                  <a:srgbClr val="FFFFFF"/>
                </a:solidFill>
                <a:latin typeface="Calibri"/>
              </a:rPr>
              <a:t>4</a:t>
            </a:r>
          </a:p>
        </p:txBody>
      </p:sp>
      <p:sp>
        <p:nvSpPr>
          <p:cNvPr id="19" name="TextBox 18"/>
          <p:cNvSpPr txBox="1"/>
          <p:nvPr/>
        </p:nvSpPr>
        <p:spPr>
          <a:xfrm>
            <a:off x="1188720" y="4209478"/>
            <a:ext cx="2710586"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0F2740"/>
                </a:solidFill>
                <a:latin typeface="Cambria"/>
              </a:rPr>
              <a:t>Provenance &amp; documentation</a:t>
            </a:r>
            <a:r>
              <a:rPr sz="1100" b="1" i="0">
                <a:solidFill>
                  <a:srgbClr val="2A78D6"/>
                </a:solidFill>
                <a:latin typeface="Calibri"/>
              </a:rPr>
              <a:t>   SQ2</a:t>
            </a:r>
          </a:p>
        </p:txBody>
      </p:sp>
      <p:sp>
        <p:nvSpPr>
          <p:cNvPr id="20" name="TextBox 19"/>
          <p:cNvSpPr txBox="1"/>
          <p:nvPr/>
        </p:nvSpPr>
        <p:spPr>
          <a:xfrm>
            <a:off x="768096" y="4648390"/>
            <a:ext cx="3149498" cy="1371600"/>
          </a:xfrm>
          <a:prstGeom prst="rect">
            <a:avLst/>
          </a:prstGeom>
          <a:noFill/>
        </p:spPr>
        <p:txBody>
          <a:bodyPr wrap="square" anchor="t" lIns="0" rIns="0" tIns="0" bIns="0">
            <a:spAutoFit/>
          </a:bodyPr>
          <a:lstStyle/>
          <a:p>
            <a:pPr algn="l">
              <a:lnSpc>
                <a:spcPct val="116000"/>
              </a:lnSpc>
              <a:spcBef>
                <a:spcPts val="0"/>
              </a:spcBef>
              <a:spcAft>
                <a:spcPts val="500"/>
              </a:spcAft>
            </a:pPr>
            <a:r>
              <a:rPr sz="1000" b="0" i="0">
                <a:solidFill>
                  <a:srgbClr val="5A6472"/>
                </a:solidFill>
                <a:latin typeface="Calibri"/>
              </a:rPr>
              <a:t>Where evidence and decisions came from — lineage, attribution, purpose, limitations.</a:t>
            </a:r>
          </a:p>
          <a:p>
            <a:pPr algn="l">
              <a:lnSpc>
                <a:spcPct val="116000"/>
              </a:lnSpc>
              <a:spcBef>
                <a:spcPts val="0"/>
              </a:spcBef>
              <a:spcAft>
                <a:spcPts val="0"/>
              </a:spcAft>
            </a:pPr>
            <a:r>
              <a:rPr sz="1000" b="1" i="0">
                <a:solidFill>
                  <a:srgbClr val="D03B3B"/>
                </a:solidFill>
                <a:latin typeface="Calibri"/>
              </a:rPr>
              <a:t>Leaves open  </a:t>
            </a:r>
            <a:r>
              <a:rPr sz="1000" b="0" i="0">
                <a:solidFill>
                  <a:srgbClr val="5A6472"/>
                </a:solidFill>
                <a:latin typeface="Calibri"/>
              </a:rPr>
              <a:t>does not decide when to ask, or when reuse is permitted.</a:t>
            </a:r>
          </a:p>
        </p:txBody>
      </p:sp>
      <p:sp>
        <p:nvSpPr>
          <p:cNvPr id="21" name="Rounded Rectangle 20"/>
          <p:cNvSpPr/>
          <p:nvPr/>
        </p:nvSpPr>
        <p:spPr>
          <a:xfrm>
            <a:off x="4319930" y="4044886"/>
            <a:ext cx="3551834" cy="2099881"/>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4521098" y="4209478"/>
            <a:ext cx="347472" cy="34747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a:solidFill>
                  <a:srgbClr val="FFFFFF"/>
                </a:solidFill>
                <a:latin typeface="Calibri"/>
              </a:rPr>
              <a:t>5</a:t>
            </a:r>
          </a:p>
        </p:txBody>
      </p:sp>
      <p:sp>
        <p:nvSpPr>
          <p:cNvPr id="23" name="TextBox 22"/>
          <p:cNvSpPr txBox="1"/>
          <p:nvPr/>
        </p:nvSpPr>
        <p:spPr>
          <a:xfrm>
            <a:off x="4941722" y="4209478"/>
            <a:ext cx="2710586"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0F2740"/>
                </a:solidFill>
                <a:latin typeface="Cambria"/>
              </a:rPr>
              <a:t>Retrieval &amp; external memory</a:t>
            </a:r>
            <a:r>
              <a:rPr sz="1100" b="1" i="0">
                <a:solidFill>
                  <a:srgbClr val="2A78D6"/>
                </a:solidFill>
                <a:latin typeface="Calibri"/>
              </a:rPr>
              <a:t>   SQ3</a:t>
            </a:r>
          </a:p>
        </p:txBody>
      </p:sp>
      <p:sp>
        <p:nvSpPr>
          <p:cNvPr id="24" name="TextBox 23"/>
          <p:cNvSpPr txBox="1"/>
          <p:nvPr/>
        </p:nvSpPr>
        <p:spPr>
          <a:xfrm>
            <a:off x="4521098" y="4648390"/>
            <a:ext cx="3149498" cy="1371600"/>
          </a:xfrm>
          <a:prstGeom prst="rect">
            <a:avLst/>
          </a:prstGeom>
          <a:noFill/>
        </p:spPr>
        <p:txBody>
          <a:bodyPr wrap="square" anchor="t" lIns="0" rIns="0" tIns="0" bIns="0">
            <a:spAutoFit/>
          </a:bodyPr>
          <a:lstStyle/>
          <a:p>
            <a:pPr algn="l">
              <a:lnSpc>
                <a:spcPct val="116000"/>
              </a:lnSpc>
              <a:spcBef>
                <a:spcPts val="0"/>
              </a:spcBef>
              <a:spcAft>
                <a:spcPts val="500"/>
              </a:spcAft>
            </a:pPr>
            <a:r>
              <a:rPr sz="1000" b="0" i="0">
                <a:solidFill>
                  <a:srgbClr val="5A6472"/>
                </a:solidFill>
                <a:latin typeface="Calibri"/>
              </a:rPr>
              <a:t>How prior evidence is retrieved — non-parametric access over versionable sources.</a:t>
            </a:r>
          </a:p>
          <a:p>
            <a:pPr algn="l">
              <a:lnSpc>
                <a:spcPct val="116000"/>
              </a:lnSpc>
              <a:spcBef>
                <a:spcPts val="0"/>
              </a:spcBef>
              <a:spcAft>
                <a:spcPts val="0"/>
              </a:spcAft>
            </a:pPr>
            <a:r>
              <a:rPr sz="1000" b="1" i="0">
                <a:solidFill>
                  <a:srgbClr val="D03B3B"/>
                </a:solidFill>
                <a:latin typeface="Calibri"/>
              </a:rPr>
              <a:t>Leaves open  </a:t>
            </a:r>
            <a:r>
              <a:rPr sz="1000" b="0" i="0">
                <a:solidFill>
                  <a:srgbClr val="5A6472"/>
                </a:solidFill>
                <a:latin typeface="Calibri"/>
              </a:rPr>
              <a:t>similarity alone grants neither authority nor transfer permission.</a:t>
            </a:r>
          </a:p>
        </p:txBody>
      </p:sp>
      <p:sp>
        <p:nvSpPr>
          <p:cNvPr id="25" name="Rounded Rectangle 24"/>
          <p:cNvSpPr/>
          <p:nvPr/>
        </p:nvSpPr>
        <p:spPr>
          <a:xfrm>
            <a:off x="8072932" y="4044886"/>
            <a:ext cx="3551834" cy="2099881"/>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274100" y="4209478"/>
            <a:ext cx="347472" cy="34747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a:solidFill>
                  <a:srgbClr val="FFFFFF"/>
                </a:solidFill>
                <a:latin typeface="Calibri"/>
              </a:rPr>
              <a:t>6</a:t>
            </a:r>
          </a:p>
        </p:txBody>
      </p:sp>
      <p:sp>
        <p:nvSpPr>
          <p:cNvPr id="27" name="TextBox 26"/>
          <p:cNvSpPr txBox="1"/>
          <p:nvPr/>
        </p:nvSpPr>
        <p:spPr>
          <a:xfrm>
            <a:off x="8694724" y="4209478"/>
            <a:ext cx="2710586" cy="365760"/>
          </a:xfrm>
          <a:prstGeom prst="rect">
            <a:avLst/>
          </a:prstGeom>
          <a:noFill/>
        </p:spPr>
        <p:txBody>
          <a:bodyPr wrap="square" anchor="ctr" lIns="0" rIns="0" tIns="0" bIns="0">
            <a:spAutoFit/>
          </a:bodyPr>
          <a:lstStyle/>
          <a:p>
            <a:pPr algn="l">
              <a:lnSpc>
                <a:spcPct val="106000"/>
              </a:lnSpc>
              <a:spcBef>
                <a:spcPts val="0"/>
              </a:spcBef>
              <a:spcAft>
                <a:spcPts val="0"/>
              </a:spcAft>
            </a:pPr>
            <a:r>
              <a:rPr sz="1250" b="1" i="0">
                <a:solidFill>
                  <a:srgbClr val="0F2740"/>
                </a:solidFill>
                <a:latin typeface="Cambria"/>
              </a:rPr>
              <a:t>Domain &amp; guideline adaptation</a:t>
            </a:r>
            <a:r>
              <a:rPr sz="1100" b="1" i="0">
                <a:solidFill>
                  <a:srgbClr val="2A78D6"/>
                </a:solidFill>
                <a:latin typeface="Calibri"/>
              </a:rPr>
              <a:t>   SQ3</a:t>
            </a:r>
          </a:p>
        </p:txBody>
      </p:sp>
      <p:sp>
        <p:nvSpPr>
          <p:cNvPr id="28" name="TextBox 27"/>
          <p:cNvSpPr txBox="1"/>
          <p:nvPr/>
        </p:nvSpPr>
        <p:spPr>
          <a:xfrm>
            <a:off x="8274100" y="4648390"/>
            <a:ext cx="3149498" cy="1371600"/>
          </a:xfrm>
          <a:prstGeom prst="rect">
            <a:avLst/>
          </a:prstGeom>
          <a:noFill/>
        </p:spPr>
        <p:txBody>
          <a:bodyPr wrap="square" anchor="t" lIns="0" rIns="0" tIns="0" bIns="0">
            <a:spAutoFit/>
          </a:bodyPr>
          <a:lstStyle/>
          <a:p>
            <a:pPr algn="l">
              <a:lnSpc>
                <a:spcPct val="116000"/>
              </a:lnSpc>
              <a:spcBef>
                <a:spcPts val="0"/>
              </a:spcBef>
              <a:spcAft>
                <a:spcPts val="500"/>
              </a:spcAft>
            </a:pPr>
            <a:r>
              <a:rPr sz="1000" b="0" i="0">
                <a:solidFill>
                  <a:srgbClr val="5A6472"/>
                </a:solidFill>
                <a:latin typeface="Calibri"/>
              </a:rPr>
              <a:t>How knowledge moves across contexts — source–target comparison, local validation, transparency.</a:t>
            </a:r>
          </a:p>
          <a:p>
            <a:pPr algn="l">
              <a:lnSpc>
                <a:spcPct val="116000"/>
              </a:lnSpc>
              <a:spcBef>
                <a:spcPts val="0"/>
              </a:spcBef>
              <a:spcAft>
                <a:spcPts val="0"/>
              </a:spcAft>
            </a:pPr>
            <a:r>
              <a:rPr sz="1000" b="1" i="0">
                <a:solidFill>
                  <a:srgbClr val="D03B3B"/>
                </a:solidFill>
                <a:latin typeface="Calibri"/>
              </a:rPr>
              <a:t>Leaves open  </a:t>
            </a:r>
            <a:r>
              <a:rPr sz="1000" b="0" i="0">
                <a:solidFill>
                  <a:srgbClr val="5A6472"/>
                </a:solidFill>
                <a:latin typeface="Calibri"/>
              </a:rPr>
              <a:t>not tailored to granular human judgments inside agent pipelines.</a:t>
            </a:r>
          </a:p>
        </p:txBody>
      </p:sp>
      <p:sp>
        <p:nvSpPr>
          <p:cNvPr id="29" name="TextBox 28"/>
          <p:cNvSpPr txBox="1"/>
          <p:nvPr/>
        </p:nvSpPr>
        <p:spPr>
          <a:xfrm>
            <a:off x="566928" y="6291072"/>
            <a:ext cx="11057839" cy="384048"/>
          </a:xfrm>
          <a:prstGeom prst="rect">
            <a:avLst/>
          </a:prstGeom>
          <a:noFill/>
        </p:spPr>
        <p:txBody>
          <a:bodyPr wrap="square" anchor="t" lIns="0" rIns="0" tIns="0" bIns="0">
            <a:spAutoFit/>
          </a:bodyPr>
          <a:lstStyle/>
          <a:p>
            <a:pPr algn="l">
              <a:lnSpc>
                <a:spcPct val="115000"/>
              </a:lnSpc>
              <a:spcBef>
                <a:spcPts val="0"/>
              </a:spcBef>
              <a:spcAft>
                <a:spcPts val="0"/>
              </a:spcAft>
            </a:pPr>
            <a:r>
              <a:rPr sz="1050" b="0" i="0">
                <a:solidFill>
                  <a:srgbClr val="5A6472"/>
                </a:solidFill>
                <a:latin typeface="Calibri"/>
              </a:rPr>
              <a:t>Concept matrix condensed from structured review v9 §11.1. Each “leaves open” is a residual limitation of the reviewed work — not a claim that the field contains nothing further.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237744"/>
          </a:xfrm>
          <a:prstGeom prst="rect">
            <a:avLst/>
          </a:prstGeom>
          <a:noFill/>
        </p:spPr>
        <p:txBody>
          <a:bodyPr wrap="square" anchor="t" lIns="0" rIns="0" tIns="0" bIns="0">
            <a:spAutoFit/>
          </a:bodyPr>
          <a:lstStyle/>
          <a:p>
            <a:pPr algn="l">
              <a:spcBef>
                <a:spcPts val="0"/>
              </a:spcBef>
              <a:spcAft>
                <a:spcPts val="0"/>
              </a:spcAft>
            </a:pPr>
            <a:r>
              <a:rPr sz="1150" b="1" i="0">
                <a:solidFill>
                  <a:srgbClr val="2A78D6"/>
                </a:solidFill>
                <a:latin typeface="Calibri"/>
              </a:rPr>
              <a:t>FINDINGS · CLASSIFICATION FRAMEWORK</a:t>
            </a:r>
          </a:p>
        </p:txBody>
      </p:sp>
      <p:sp>
        <p:nvSpPr>
          <p:cNvPr id="3" name="TextBox 2"/>
          <p:cNvSpPr txBox="1"/>
          <p:nvPr/>
        </p:nvSpPr>
        <p:spPr>
          <a:xfrm>
            <a:off x="566928" y="713232"/>
            <a:ext cx="11057839" cy="553466"/>
          </a:xfrm>
          <a:prstGeom prst="rect">
            <a:avLst/>
          </a:prstGeom>
          <a:noFill/>
        </p:spPr>
        <p:txBody>
          <a:bodyPr wrap="square" anchor="t" lIns="0" rIns="0" tIns="0" bIns="0">
            <a:spAutoFit/>
          </a:bodyPr>
          <a:lstStyle/>
          <a:p>
            <a:pPr algn="l">
              <a:lnSpc>
                <a:spcPct val="110000"/>
              </a:lnSpc>
              <a:spcBef>
                <a:spcPts val="0"/>
              </a:spcBef>
              <a:spcAft>
                <a:spcPts val="0"/>
              </a:spcAft>
            </a:pPr>
            <a:r>
              <a:rPr sz="3100" b="1" i="0">
                <a:solidFill>
                  <a:srgbClr val="0F2740"/>
                </a:solidFill>
                <a:latin typeface="Cambria"/>
              </a:rPr>
              <a:t>Judgment-lifecycle coverage across the streams</a:t>
            </a:r>
          </a:p>
        </p:txBody>
      </p:sp>
      <p:sp>
        <p:nvSpPr>
          <p:cNvPr id="4" name="TextBox 3"/>
          <p:cNvSpPr txBox="1"/>
          <p:nvPr/>
        </p:nvSpPr>
        <p:spPr>
          <a:xfrm>
            <a:off x="566928" y="1339850"/>
            <a:ext cx="11057839" cy="533654"/>
          </a:xfrm>
          <a:prstGeom prst="rect">
            <a:avLst/>
          </a:prstGeom>
          <a:noFill/>
        </p:spPr>
        <p:txBody>
          <a:bodyPr wrap="square" anchor="t" lIns="0" rIns="0" tIns="0" bIns="0">
            <a:spAutoFit/>
          </a:bodyPr>
          <a:lstStyle/>
          <a:p>
            <a:pPr algn="l">
              <a:lnSpc>
                <a:spcPct val="118000"/>
              </a:lnSpc>
              <a:spcBef>
                <a:spcPts val="0"/>
              </a:spcBef>
              <a:spcAft>
                <a:spcPts val="0"/>
              </a:spcAft>
            </a:pPr>
            <a:r>
              <a:rPr sz="1450" b="0" i="0">
                <a:solidFill>
                  <a:srgbClr val="5A6472"/>
                </a:solidFill>
                <a:latin typeface="Calibri"/>
              </a:rPr>
              <a:t>The unit of analysis is not a paper and not a topic — it is one expert ruling, and the five checkpoints it must pass from the moment an agent hesitates to the moment someone claims the ruling still holds elsewhere.</a:t>
            </a:r>
          </a:p>
        </p:txBody>
      </p:sp>
      <p:pic>
        <p:nvPicPr>
          <p:cNvPr id="5" name="Picture 4" descr="05-maturity-grid-bare.png"/>
          <p:cNvPicPr>
            <a:picLocks noChangeAspect="1"/>
          </p:cNvPicPr>
          <p:nvPr/>
        </p:nvPicPr>
        <p:blipFill>
          <a:blip r:embed="rId2"/>
          <a:stretch>
            <a:fillRect/>
          </a:stretch>
        </p:blipFill>
        <p:spPr>
          <a:xfrm>
            <a:off x="910157" y="2019808"/>
            <a:ext cx="7040220" cy="4051808"/>
          </a:xfrm>
          <a:prstGeom prst="rect">
            <a:avLst/>
          </a:prstGeom>
        </p:spPr>
      </p:pic>
      <p:sp>
        <p:nvSpPr>
          <p:cNvPr id="6" name="TextBox 5"/>
          <p:cNvSpPr txBox="1"/>
          <p:nvPr/>
        </p:nvSpPr>
        <p:spPr>
          <a:xfrm>
            <a:off x="8494775" y="2019808"/>
            <a:ext cx="3129992" cy="256032"/>
          </a:xfrm>
          <a:prstGeom prst="rect">
            <a:avLst/>
          </a:prstGeom>
          <a:noFill/>
        </p:spPr>
        <p:txBody>
          <a:bodyPr wrap="square" anchor="t" lIns="0" rIns="0" tIns="0" bIns="0">
            <a:spAutoFit/>
          </a:bodyPr>
          <a:lstStyle/>
          <a:p>
            <a:pPr algn="l">
              <a:spcBef>
                <a:spcPts val="0"/>
              </a:spcBef>
              <a:spcAft>
                <a:spcPts val="0"/>
              </a:spcAft>
            </a:pPr>
            <a:r>
              <a:rPr sz="1100" b="1" i="0">
                <a:solidFill>
                  <a:srgbClr val="D03B3B"/>
                </a:solidFill>
                <a:latin typeface="Calibri"/>
              </a:rPr>
              <a:t>WHAT THE COLUMNS REVEAL</a:t>
            </a:r>
          </a:p>
        </p:txBody>
      </p:sp>
      <p:sp>
        <p:nvSpPr>
          <p:cNvPr id="7" name="Rounded Rectangle 6"/>
          <p:cNvSpPr/>
          <p:nvPr/>
        </p:nvSpPr>
        <p:spPr>
          <a:xfrm>
            <a:off x="8494775" y="2348992"/>
            <a:ext cx="3129992" cy="1143338"/>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77655" y="2477008"/>
            <a:ext cx="2764232" cy="923882"/>
          </a:xfrm>
          <a:prstGeom prst="rect">
            <a:avLst/>
          </a:prstGeom>
          <a:noFill/>
        </p:spPr>
        <p:txBody>
          <a:bodyPr wrap="square" anchor="t" lIns="0" rIns="0" tIns="0" bIns="0">
            <a:spAutoFit/>
          </a:bodyPr>
          <a:lstStyle/>
          <a:p>
            <a:pPr algn="l">
              <a:spcBef>
                <a:spcPts val="0"/>
              </a:spcBef>
              <a:spcAft>
                <a:spcPts val="400"/>
              </a:spcAft>
            </a:pPr>
            <a:r>
              <a:rPr sz="1250" b="1" i="0">
                <a:solidFill>
                  <a:srgbClr val="0F2740"/>
                </a:solidFill>
                <a:latin typeface="Cambria"/>
              </a:rPr>
              <a:t>ASK → RECORD</a:t>
            </a:r>
          </a:p>
          <a:p>
            <a:pPr algn="l">
              <a:lnSpc>
                <a:spcPct val="114000"/>
              </a:lnSpc>
              <a:spcBef>
                <a:spcPts val="0"/>
              </a:spcBef>
              <a:spcAft>
                <a:spcPts val="0"/>
              </a:spcAft>
            </a:pPr>
            <a:r>
              <a:rPr sz="1000" b="0" i="0">
                <a:solidFill>
                  <a:srgbClr val="5A6472"/>
                </a:solidFill>
                <a:latin typeface="Calibri"/>
              </a:rPr>
              <a:t>Streams that are strong at eliciting a judgment are weak at keeping it. The correction is captured, then the reasoning behind it is discarded.</a:t>
            </a:r>
          </a:p>
        </p:txBody>
      </p:sp>
      <p:sp>
        <p:nvSpPr>
          <p:cNvPr id="9" name="Rounded Rectangle 8"/>
          <p:cNvSpPr/>
          <p:nvPr/>
        </p:nvSpPr>
        <p:spPr>
          <a:xfrm>
            <a:off x="8494775" y="3638634"/>
            <a:ext cx="3129992" cy="1143338"/>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677655" y="3766650"/>
            <a:ext cx="2764232" cy="923882"/>
          </a:xfrm>
          <a:prstGeom prst="rect">
            <a:avLst/>
          </a:prstGeom>
          <a:noFill/>
        </p:spPr>
        <p:txBody>
          <a:bodyPr wrap="square" anchor="t" lIns="0" rIns="0" tIns="0" bIns="0">
            <a:spAutoFit/>
          </a:bodyPr>
          <a:lstStyle/>
          <a:p>
            <a:pPr algn="l">
              <a:spcBef>
                <a:spcPts val="0"/>
              </a:spcBef>
              <a:spcAft>
                <a:spcPts val="400"/>
              </a:spcAft>
            </a:pPr>
            <a:r>
              <a:rPr sz="1250" b="1" i="0">
                <a:solidFill>
                  <a:srgbClr val="0F2740"/>
                </a:solidFill>
                <a:latin typeface="Cambria"/>
              </a:rPr>
              <a:t>RECORD → REUSE</a:t>
            </a:r>
          </a:p>
          <a:p>
            <a:pPr algn="l">
              <a:lnSpc>
                <a:spcPct val="114000"/>
              </a:lnSpc>
              <a:spcBef>
                <a:spcPts val="0"/>
              </a:spcBef>
              <a:spcAft>
                <a:spcPts val="0"/>
              </a:spcAft>
            </a:pPr>
            <a:r>
              <a:rPr sz="1000" b="0" i="0">
                <a:solidFill>
                  <a:srgbClr val="5A6472"/>
                </a:solidFill>
                <a:latin typeface="Calibri"/>
              </a:rPr>
              <a:t>Streams that are strong at storing are weak at licensing. Retrieval fires on similarity; nothing checks whether this ruling may govern this new case.</a:t>
            </a:r>
          </a:p>
        </p:txBody>
      </p:sp>
      <p:sp>
        <p:nvSpPr>
          <p:cNvPr id="11" name="Rounded Rectangle 10"/>
          <p:cNvSpPr/>
          <p:nvPr/>
        </p:nvSpPr>
        <p:spPr>
          <a:xfrm>
            <a:off x="8494775" y="4928277"/>
            <a:ext cx="3129992" cy="1143338"/>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677655" y="5056293"/>
            <a:ext cx="2764232" cy="923882"/>
          </a:xfrm>
          <a:prstGeom prst="rect">
            <a:avLst/>
          </a:prstGeom>
          <a:noFill/>
        </p:spPr>
        <p:txBody>
          <a:bodyPr wrap="square" anchor="t" lIns="0" rIns="0" tIns="0" bIns="0">
            <a:spAutoFit/>
          </a:bodyPr>
          <a:lstStyle/>
          <a:p>
            <a:pPr algn="l">
              <a:spcBef>
                <a:spcPts val="0"/>
              </a:spcBef>
              <a:spcAft>
                <a:spcPts val="400"/>
              </a:spcAft>
            </a:pPr>
            <a:r>
              <a:rPr sz="1250" b="1" i="0">
                <a:solidFill>
                  <a:srgbClr val="0F2740"/>
                </a:solidFill>
                <a:latin typeface="Cambria"/>
              </a:rPr>
              <a:t>No stream spans the loop</a:t>
            </a:r>
          </a:p>
          <a:p>
            <a:pPr algn="l">
              <a:lnSpc>
                <a:spcPct val="114000"/>
              </a:lnSpc>
              <a:spcBef>
                <a:spcPts val="0"/>
              </a:spcBef>
              <a:spcAft>
                <a:spcPts val="0"/>
              </a:spcAft>
            </a:pPr>
            <a:r>
              <a:rPr sz="1000" b="0" i="0">
                <a:solidFill>
                  <a:srgbClr val="5A6472"/>
                </a:solidFill>
                <a:latin typeface="Calibri"/>
              </a:rPr>
              <a:t>Each governs part of the lifecycle. The contribution opportunity is the connection between them, not a missing isolated algorithm.</a:t>
            </a:r>
          </a:p>
        </p:txBody>
      </p:sp>
      <p:sp>
        <p:nvSpPr>
          <p:cNvPr id="13" name="TextBox 12"/>
          <p:cNvSpPr txBox="1"/>
          <p:nvPr/>
        </p:nvSpPr>
        <p:spPr>
          <a:xfrm>
            <a:off x="566928" y="6291072"/>
            <a:ext cx="11057839" cy="384048"/>
          </a:xfrm>
          <a:prstGeom prst="rect">
            <a:avLst/>
          </a:prstGeom>
          <a:noFill/>
        </p:spPr>
        <p:txBody>
          <a:bodyPr wrap="square" anchor="t" lIns="0" rIns="0" tIns="0" bIns="0">
            <a:spAutoFit/>
          </a:bodyPr>
          <a:lstStyle/>
          <a:p>
            <a:pPr algn="l">
              <a:lnSpc>
                <a:spcPct val="115000"/>
              </a:lnSpc>
              <a:spcBef>
                <a:spcPts val="0"/>
              </a:spcBef>
              <a:spcAft>
                <a:spcPts val="0"/>
              </a:spcAft>
            </a:pPr>
            <a:r>
              <a:rPr sz="1050" b="0" i="0">
                <a:solidFill>
                  <a:srgbClr val="5A6472"/>
                </a:solidFill>
                <a:latin typeface="Calibri"/>
              </a:rPr>
              <a:t>Coding is single-researcher synthesis over the current core corpus; inter-coder reliability is not yet estimated, and the formal searches are not yet executed. Structured review v9 §11–12.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237744"/>
          </a:xfrm>
          <a:prstGeom prst="rect">
            <a:avLst/>
          </a:prstGeom>
          <a:noFill/>
        </p:spPr>
        <p:txBody>
          <a:bodyPr wrap="square" anchor="t" lIns="0" rIns="0" tIns="0" bIns="0">
            <a:spAutoFit/>
          </a:bodyPr>
          <a:lstStyle/>
          <a:p>
            <a:pPr algn="l">
              <a:spcBef>
                <a:spcPts val="0"/>
              </a:spcBef>
              <a:spcAft>
                <a:spcPts val="0"/>
              </a:spcAft>
            </a:pPr>
            <a:r>
              <a:rPr sz="1150" b="1" i="0">
                <a:solidFill>
                  <a:srgbClr val="2A78D6"/>
                </a:solidFill>
                <a:latin typeface="Calibri"/>
              </a:rPr>
              <a:t>FINDINGS · IDENTIFIED GAPS</a:t>
            </a:r>
          </a:p>
        </p:txBody>
      </p:sp>
      <p:sp>
        <p:nvSpPr>
          <p:cNvPr id="3" name="TextBox 2"/>
          <p:cNvSpPr txBox="1"/>
          <p:nvPr/>
        </p:nvSpPr>
        <p:spPr>
          <a:xfrm>
            <a:off x="566928" y="713232"/>
            <a:ext cx="11057839" cy="553466"/>
          </a:xfrm>
          <a:prstGeom prst="rect">
            <a:avLst/>
          </a:prstGeom>
          <a:noFill/>
        </p:spPr>
        <p:txBody>
          <a:bodyPr wrap="square" anchor="t" lIns="0" rIns="0" tIns="0" bIns="0">
            <a:spAutoFit/>
          </a:bodyPr>
          <a:lstStyle/>
          <a:p>
            <a:pPr algn="l">
              <a:lnSpc>
                <a:spcPct val="110000"/>
              </a:lnSpc>
              <a:spcBef>
                <a:spcPts val="0"/>
              </a:spcBef>
              <a:spcAft>
                <a:spcPts val="0"/>
              </a:spcAft>
            </a:pPr>
            <a:r>
              <a:rPr sz="3100" b="1" i="0">
                <a:solidFill>
                  <a:srgbClr val="0F2740"/>
                </a:solidFill>
                <a:latin typeface="Cambria"/>
              </a:rPr>
              <a:t>What the framework makes visible</a:t>
            </a:r>
          </a:p>
        </p:txBody>
      </p:sp>
      <p:sp>
        <p:nvSpPr>
          <p:cNvPr id="4" name="TextBox 3"/>
          <p:cNvSpPr txBox="1"/>
          <p:nvPr/>
        </p:nvSpPr>
        <p:spPr>
          <a:xfrm>
            <a:off x="566928" y="1339850"/>
            <a:ext cx="11057839" cy="294259"/>
          </a:xfrm>
          <a:prstGeom prst="rect">
            <a:avLst/>
          </a:prstGeom>
          <a:noFill/>
        </p:spPr>
        <p:txBody>
          <a:bodyPr wrap="square" anchor="t" lIns="0" rIns="0" tIns="0" bIns="0">
            <a:spAutoFit/>
          </a:bodyPr>
          <a:lstStyle/>
          <a:p>
            <a:pPr algn="l">
              <a:lnSpc>
                <a:spcPct val="118000"/>
              </a:lnSpc>
              <a:spcBef>
                <a:spcPts val="0"/>
              </a:spcBef>
              <a:spcAft>
                <a:spcPts val="0"/>
              </a:spcAft>
            </a:pPr>
            <a:r>
              <a:rPr sz="1450" b="0" i="0">
                <a:solidFill>
                  <a:srgbClr val="5A6472"/>
                </a:solidFill>
                <a:latin typeface="Calibri"/>
              </a:rPr>
              <a:t>Each gap is a thin or empty region of the matrix, paired with the artifact hypothesised to close it.</a:t>
            </a:r>
          </a:p>
        </p:txBody>
      </p:sp>
      <p:sp>
        <p:nvSpPr>
          <p:cNvPr id="5" name="TextBox 4"/>
          <p:cNvSpPr txBox="1"/>
          <p:nvPr/>
        </p:nvSpPr>
        <p:spPr>
          <a:xfrm>
            <a:off x="566928" y="1780413"/>
            <a:ext cx="11057839" cy="274320"/>
          </a:xfrm>
          <a:prstGeom prst="rect">
            <a:avLst/>
          </a:prstGeom>
          <a:noFill/>
        </p:spPr>
        <p:txBody>
          <a:bodyPr wrap="square" anchor="t" lIns="0" rIns="0" tIns="0" bIns="0">
            <a:spAutoFit/>
          </a:bodyPr>
          <a:lstStyle/>
          <a:p>
            <a:pPr algn="l">
              <a:spcBef>
                <a:spcPts val="0"/>
              </a:spcBef>
              <a:spcAft>
                <a:spcPts val="0"/>
              </a:spcAft>
            </a:pPr>
            <a:r>
              <a:rPr sz="1300" b="1" i="0">
                <a:solidFill>
                  <a:srgbClr val="D03B3B"/>
                </a:solidFill>
                <a:latin typeface="Cambria"/>
              </a:rPr>
              <a:t>Six residual gaps — each with a matching contribution hypothesis</a:t>
            </a:r>
          </a:p>
        </p:txBody>
      </p:sp>
      <p:sp>
        <p:nvSpPr>
          <p:cNvPr id="6" name="Rounded Rectangle 5"/>
          <p:cNvSpPr/>
          <p:nvPr/>
        </p:nvSpPr>
        <p:spPr>
          <a:xfrm>
            <a:off x="566928" y="2146173"/>
            <a:ext cx="11057839" cy="578040"/>
          </a:xfrm>
          <a:prstGeom prst="roundRect">
            <a:avLst>
              <a:gd name="adj" fmla="val 4000"/>
            </a:avLst>
          </a:prstGeom>
          <a:solidFill>
            <a:srgbClr val="CDE2FB"/>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786384" y="2274189"/>
            <a:ext cx="365760" cy="36576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G1</a:t>
            </a:r>
          </a:p>
        </p:txBody>
      </p:sp>
      <p:sp>
        <p:nvSpPr>
          <p:cNvPr id="8" name="TextBox 7"/>
          <p:cNvSpPr txBox="1"/>
          <p:nvPr/>
        </p:nvSpPr>
        <p:spPr>
          <a:xfrm>
            <a:off x="1316736" y="2237613"/>
            <a:ext cx="3017520" cy="395160"/>
          </a:xfrm>
          <a:prstGeom prst="rect">
            <a:avLst/>
          </a:prstGeom>
          <a:noFill/>
        </p:spPr>
        <p:txBody>
          <a:bodyPr wrap="square" anchor="ctr" lIns="0" rIns="0" tIns="0" bIns="0">
            <a:spAutoFit/>
          </a:bodyPr>
          <a:lstStyle/>
          <a:p>
            <a:pPr algn="l">
              <a:lnSpc>
                <a:spcPct val="112000"/>
              </a:lnSpc>
              <a:spcBef>
                <a:spcPts val="0"/>
              </a:spcBef>
              <a:spcAft>
                <a:spcPts val="0"/>
              </a:spcAft>
            </a:pPr>
            <a:r>
              <a:rPr sz="1250" b="1" i="0">
                <a:solidFill>
                  <a:srgbClr val="0F2740"/>
                </a:solidFill>
                <a:latin typeface="Cambria"/>
              </a:rPr>
              <a:t>Bounded-attention intervention</a:t>
            </a:r>
          </a:p>
        </p:txBody>
      </p:sp>
      <p:sp>
        <p:nvSpPr>
          <p:cNvPr id="9" name="TextBox 8"/>
          <p:cNvSpPr txBox="1"/>
          <p:nvPr/>
        </p:nvSpPr>
        <p:spPr>
          <a:xfrm>
            <a:off x="4443984" y="2237613"/>
            <a:ext cx="4160520" cy="395160"/>
          </a:xfrm>
          <a:prstGeom prst="rect">
            <a:avLst/>
          </a:prstGeom>
          <a:noFill/>
        </p:spPr>
        <p:txBody>
          <a:bodyPr wrap="square" anchor="ctr" lIns="0" rIns="0" tIns="0" bIns="0">
            <a:spAutoFit/>
          </a:bodyPr>
          <a:lstStyle/>
          <a:p>
            <a:pPr algn="l">
              <a:lnSpc>
                <a:spcPct val="114000"/>
              </a:lnSpc>
              <a:spcBef>
                <a:spcPts val="0"/>
              </a:spcBef>
              <a:spcAft>
                <a:spcPts val="0"/>
              </a:spcAft>
            </a:pPr>
            <a:r>
              <a:rPr sz="950" b="0" i="0">
                <a:solidFill>
                  <a:srgbClr val="5A6472"/>
                </a:solidFill>
                <a:latin typeface="Calibri"/>
              </a:rPr>
              <a:t>Deferral and active-learning work supplies routing methods, but not a policy combining uncertainty, consequence, disagreement, novelty, reuse value and queue state at fragment and pattern level.</a:t>
            </a:r>
          </a:p>
        </p:txBody>
      </p:sp>
      <p:sp>
        <p:nvSpPr>
          <p:cNvPr id="10" name="TextBox 9"/>
          <p:cNvSpPr txBox="1"/>
          <p:nvPr/>
        </p:nvSpPr>
        <p:spPr>
          <a:xfrm>
            <a:off x="8750807" y="2237613"/>
            <a:ext cx="2788920" cy="395160"/>
          </a:xfrm>
          <a:prstGeom prst="rect">
            <a:avLst/>
          </a:prstGeom>
          <a:noFill/>
        </p:spPr>
        <p:txBody>
          <a:bodyPr wrap="square" anchor="ctr" lIns="0" rIns="0" tIns="0" bIns="0">
            <a:spAutoFit/>
          </a:bodyPr>
          <a:lstStyle/>
          <a:p>
            <a:pPr algn="l">
              <a:lnSpc>
                <a:spcPct val="114000"/>
              </a:lnSpc>
              <a:spcBef>
                <a:spcPts val="0"/>
              </a:spcBef>
              <a:spcAft>
                <a:spcPts val="0"/>
              </a:spcAft>
            </a:pPr>
            <a:r>
              <a:rPr sz="1000" b="1" i="0">
                <a:solidFill>
                  <a:srgbClr val="2A78D6"/>
                </a:solidFill>
                <a:latin typeface="Calibri"/>
              </a:rPr>
              <a:t>C1 · Selective Human Review Orchestrator</a:t>
            </a:r>
          </a:p>
        </p:txBody>
      </p:sp>
      <p:sp>
        <p:nvSpPr>
          <p:cNvPr id="11" name="Rounded Rectangle 10"/>
          <p:cNvSpPr/>
          <p:nvPr/>
        </p:nvSpPr>
        <p:spPr>
          <a:xfrm>
            <a:off x="566928" y="2815653"/>
            <a:ext cx="11057839" cy="578040"/>
          </a:xfrm>
          <a:prstGeom prst="roundRect">
            <a:avLst>
              <a:gd name="adj" fmla="val 4000"/>
            </a:avLst>
          </a:prstGeom>
          <a:solidFill>
            <a:srgbClr val="CDE2FB"/>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86384" y="2943669"/>
            <a:ext cx="365760" cy="36576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G2</a:t>
            </a:r>
          </a:p>
        </p:txBody>
      </p:sp>
      <p:sp>
        <p:nvSpPr>
          <p:cNvPr id="13" name="TextBox 12"/>
          <p:cNvSpPr txBox="1"/>
          <p:nvPr/>
        </p:nvSpPr>
        <p:spPr>
          <a:xfrm>
            <a:off x="1316736" y="2907093"/>
            <a:ext cx="3017520" cy="395160"/>
          </a:xfrm>
          <a:prstGeom prst="rect">
            <a:avLst/>
          </a:prstGeom>
          <a:noFill/>
        </p:spPr>
        <p:txBody>
          <a:bodyPr wrap="square" anchor="ctr" lIns="0" rIns="0" tIns="0" bIns="0">
            <a:spAutoFit/>
          </a:bodyPr>
          <a:lstStyle/>
          <a:p>
            <a:pPr algn="l">
              <a:lnSpc>
                <a:spcPct val="112000"/>
              </a:lnSpc>
              <a:spcBef>
                <a:spcPts val="0"/>
              </a:spcBef>
              <a:spcAft>
                <a:spcPts val="0"/>
              </a:spcAft>
            </a:pPr>
            <a:r>
              <a:rPr sz="1250" b="1" i="0">
                <a:solidFill>
                  <a:srgbClr val="0F2740"/>
                </a:solidFill>
                <a:latin typeface="Cambria"/>
              </a:rPr>
              <a:t>Reasoning-rich judgment representation</a:t>
            </a:r>
          </a:p>
        </p:txBody>
      </p:sp>
      <p:sp>
        <p:nvSpPr>
          <p:cNvPr id="14" name="TextBox 13"/>
          <p:cNvSpPr txBox="1"/>
          <p:nvPr/>
        </p:nvSpPr>
        <p:spPr>
          <a:xfrm>
            <a:off x="4443984" y="2907093"/>
            <a:ext cx="4160520" cy="395160"/>
          </a:xfrm>
          <a:prstGeom prst="rect">
            <a:avLst/>
          </a:prstGeom>
          <a:noFill/>
        </p:spPr>
        <p:txBody>
          <a:bodyPr wrap="square" anchor="ctr" lIns="0" rIns="0" tIns="0" bIns="0">
            <a:spAutoFit/>
          </a:bodyPr>
          <a:lstStyle/>
          <a:p>
            <a:pPr algn="l">
              <a:lnSpc>
                <a:spcPct val="114000"/>
              </a:lnSpc>
              <a:spcBef>
                <a:spcPts val="0"/>
              </a:spcBef>
              <a:spcAft>
                <a:spcPts val="0"/>
              </a:spcAft>
            </a:pPr>
            <a:r>
              <a:rPr sz="950" b="0" i="0">
                <a:solidFill>
                  <a:srgbClr val="5A6472"/>
                </a:solidFill>
                <a:latin typeface="Calibri"/>
              </a:rPr>
              <a:t>Feedback systems capture corrections and annotation systems capture labels; the joint representation of decision trace, rationale, evidence, scope, authority and outcome is not established for agentic modelling assessment.</a:t>
            </a:r>
          </a:p>
        </p:txBody>
      </p:sp>
      <p:sp>
        <p:nvSpPr>
          <p:cNvPr id="15" name="TextBox 14"/>
          <p:cNvSpPr txBox="1"/>
          <p:nvPr/>
        </p:nvSpPr>
        <p:spPr>
          <a:xfrm>
            <a:off x="8750807" y="2907093"/>
            <a:ext cx="2788920" cy="395160"/>
          </a:xfrm>
          <a:prstGeom prst="rect">
            <a:avLst/>
          </a:prstGeom>
          <a:noFill/>
        </p:spPr>
        <p:txBody>
          <a:bodyPr wrap="square" anchor="ctr" lIns="0" rIns="0" tIns="0" bIns="0">
            <a:spAutoFit/>
          </a:bodyPr>
          <a:lstStyle/>
          <a:p>
            <a:pPr algn="l">
              <a:lnSpc>
                <a:spcPct val="114000"/>
              </a:lnSpc>
              <a:spcBef>
                <a:spcPts val="0"/>
              </a:spcBef>
              <a:spcAft>
                <a:spcPts val="0"/>
              </a:spcAft>
            </a:pPr>
            <a:r>
              <a:rPr sz="1000" b="1" i="0">
                <a:solidFill>
                  <a:srgbClr val="2A78D6"/>
                </a:solidFill>
                <a:latin typeface="Calibri"/>
              </a:rPr>
              <a:t>C2 · Governed Judgment Object</a:t>
            </a:r>
          </a:p>
        </p:txBody>
      </p:sp>
      <p:sp>
        <p:nvSpPr>
          <p:cNvPr id="16" name="Rounded Rectangle 15"/>
          <p:cNvSpPr/>
          <p:nvPr/>
        </p:nvSpPr>
        <p:spPr>
          <a:xfrm>
            <a:off x="566928" y="3485134"/>
            <a:ext cx="11057839" cy="578040"/>
          </a:xfrm>
          <a:prstGeom prst="roundRect">
            <a:avLst>
              <a:gd name="adj" fmla="val 4000"/>
            </a:avLst>
          </a:prstGeom>
          <a:solidFill>
            <a:srgbClr val="CDE2FB"/>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786384" y="3613150"/>
            <a:ext cx="365760" cy="36576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G3</a:t>
            </a:r>
          </a:p>
        </p:txBody>
      </p:sp>
      <p:sp>
        <p:nvSpPr>
          <p:cNvPr id="18" name="TextBox 17"/>
          <p:cNvSpPr txBox="1"/>
          <p:nvPr/>
        </p:nvSpPr>
        <p:spPr>
          <a:xfrm>
            <a:off x="1316736" y="3576574"/>
            <a:ext cx="3017520" cy="395160"/>
          </a:xfrm>
          <a:prstGeom prst="rect">
            <a:avLst/>
          </a:prstGeom>
          <a:noFill/>
        </p:spPr>
        <p:txBody>
          <a:bodyPr wrap="square" anchor="ctr" lIns="0" rIns="0" tIns="0" bIns="0">
            <a:spAutoFit/>
          </a:bodyPr>
          <a:lstStyle/>
          <a:p>
            <a:pPr algn="l">
              <a:lnSpc>
                <a:spcPct val="112000"/>
              </a:lnSpc>
              <a:spcBef>
                <a:spcPts val="0"/>
              </a:spcBef>
              <a:spcAft>
                <a:spcPts val="0"/>
              </a:spcAft>
            </a:pPr>
            <a:r>
              <a:rPr sz="1250" b="1" i="0">
                <a:solidFill>
                  <a:srgbClr val="0F2740"/>
                </a:solidFill>
                <a:latin typeface="Cambria"/>
              </a:rPr>
              <a:t>Governance lifecycle</a:t>
            </a:r>
          </a:p>
        </p:txBody>
      </p:sp>
      <p:sp>
        <p:nvSpPr>
          <p:cNvPr id="19" name="TextBox 18"/>
          <p:cNvSpPr txBox="1"/>
          <p:nvPr/>
        </p:nvSpPr>
        <p:spPr>
          <a:xfrm>
            <a:off x="4443984" y="3576574"/>
            <a:ext cx="4160520" cy="395160"/>
          </a:xfrm>
          <a:prstGeom prst="rect">
            <a:avLst/>
          </a:prstGeom>
          <a:noFill/>
        </p:spPr>
        <p:txBody>
          <a:bodyPr wrap="square" anchor="ctr" lIns="0" rIns="0" tIns="0" bIns="0">
            <a:spAutoFit/>
          </a:bodyPr>
          <a:lstStyle/>
          <a:p>
            <a:pPr algn="l">
              <a:lnSpc>
                <a:spcPct val="114000"/>
              </a:lnSpc>
              <a:spcBef>
                <a:spcPts val="0"/>
              </a:spcBef>
              <a:spcAft>
                <a:spcPts val="0"/>
              </a:spcAft>
            </a:pPr>
            <a:r>
              <a:rPr sz="950" b="0" i="0">
                <a:solidFill>
                  <a:srgbClr val="5A6472"/>
                </a:solidFill>
                <a:latin typeface="Calibri"/>
              </a:rPr>
              <a:t>Provenance and contestability are well motivated, but operational rules for validation tiers, conflicts, supersession, expiry, revocation and claim-specific authority are missing.</a:t>
            </a:r>
          </a:p>
        </p:txBody>
      </p:sp>
      <p:sp>
        <p:nvSpPr>
          <p:cNvPr id="20" name="TextBox 19"/>
          <p:cNvSpPr txBox="1"/>
          <p:nvPr/>
        </p:nvSpPr>
        <p:spPr>
          <a:xfrm>
            <a:off x="8750807" y="3576574"/>
            <a:ext cx="2788920" cy="395160"/>
          </a:xfrm>
          <a:prstGeom prst="rect">
            <a:avLst/>
          </a:prstGeom>
          <a:noFill/>
        </p:spPr>
        <p:txBody>
          <a:bodyPr wrap="square" anchor="ctr" lIns="0" rIns="0" tIns="0" bIns="0">
            <a:spAutoFit/>
          </a:bodyPr>
          <a:lstStyle/>
          <a:p>
            <a:pPr algn="l">
              <a:lnSpc>
                <a:spcPct val="114000"/>
              </a:lnSpc>
              <a:spcBef>
                <a:spcPts val="0"/>
              </a:spcBef>
              <a:spcAft>
                <a:spcPts val="0"/>
              </a:spcAft>
            </a:pPr>
            <a:r>
              <a:rPr sz="1000" b="1" i="0">
                <a:solidFill>
                  <a:srgbClr val="2A78D6"/>
                </a:solidFill>
                <a:latin typeface="Calibri"/>
              </a:rPr>
              <a:t>C3 · Contestable Judgment Store</a:t>
            </a:r>
          </a:p>
        </p:txBody>
      </p:sp>
      <p:sp>
        <p:nvSpPr>
          <p:cNvPr id="21" name="Rounded Rectangle 20"/>
          <p:cNvSpPr/>
          <p:nvPr/>
        </p:nvSpPr>
        <p:spPr>
          <a:xfrm>
            <a:off x="566928" y="4154614"/>
            <a:ext cx="11057839" cy="578040"/>
          </a:xfrm>
          <a:prstGeom prst="roundRect">
            <a:avLst>
              <a:gd name="adj" fmla="val 4000"/>
            </a:avLst>
          </a:prstGeom>
          <a:solidFill>
            <a:srgbClr val="CDE2FB"/>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86384" y="4282630"/>
            <a:ext cx="365760" cy="36576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G4</a:t>
            </a:r>
          </a:p>
        </p:txBody>
      </p:sp>
      <p:sp>
        <p:nvSpPr>
          <p:cNvPr id="23" name="TextBox 22"/>
          <p:cNvSpPr txBox="1"/>
          <p:nvPr/>
        </p:nvSpPr>
        <p:spPr>
          <a:xfrm>
            <a:off x="1316736" y="4246054"/>
            <a:ext cx="3017520" cy="395160"/>
          </a:xfrm>
          <a:prstGeom prst="rect">
            <a:avLst/>
          </a:prstGeom>
          <a:noFill/>
        </p:spPr>
        <p:txBody>
          <a:bodyPr wrap="square" anchor="ctr" lIns="0" rIns="0" tIns="0" bIns="0">
            <a:spAutoFit/>
          </a:bodyPr>
          <a:lstStyle/>
          <a:p>
            <a:pPr algn="l">
              <a:lnSpc>
                <a:spcPct val="112000"/>
              </a:lnSpc>
              <a:spcBef>
                <a:spcPts val="0"/>
              </a:spcBef>
              <a:spcAft>
                <a:spcPts val="0"/>
              </a:spcAft>
            </a:pPr>
            <a:r>
              <a:rPr sz="1250" b="1" i="0">
                <a:solidFill>
                  <a:srgbClr val="0F2740"/>
                </a:solidFill>
                <a:latin typeface="Cambria"/>
              </a:rPr>
              <a:t>Scope-aware memory</a:t>
            </a:r>
          </a:p>
        </p:txBody>
      </p:sp>
      <p:sp>
        <p:nvSpPr>
          <p:cNvPr id="24" name="TextBox 23"/>
          <p:cNvSpPr txBox="1"/>
          <p:nvPr/>
        </p:nvSpPr>
        <p:spPr>
          <a:xfrm>
            <a:off x="4443984" y="4246054"/>
            <a:ext cx="4160520" cy="395160"/>
          </a:xfrm>
          <a:prstGeom prst="rect">
            <a:avLst/>
          </a:prstGeom>
          <a:noFill/>
        </p:spPr>
        <p:txBody>
          <a:bodyPr wrap="square" anchor="ctr" lIns="0" rIns="0" tIns="0" bIns="0">
            <a:spAutoFit/>
          </a:bodyPr>
          <a:lstStyle/>
          <a:p>
            <a:pPr algn="l">
              <a:lnSpc>
                <a:spcPct val="114000"/>
              </a:lnSpc>
              <a:spcBef>
                <a:spcPts val="0"/>
              </a:spcBef>
              <a:spcAft>
                <a:spcPts val="0"/>
              </a:spcAft>
            </a:pPr>
            <a:r>
              <a:rPr sz="950" b="0" i="0">
                <a:solidFill>
                  <a:srgbClr val="5A6472"/>
                </a:solidFill>
                <a:latin typeface="Calibri"/>
              </a:rPr>
              <a:t>Retrieval augmentation provides retrieval, but not permission. The missing mechanism combines semantic retrieval with hard governance gates and advisory use.</a:t>
            </a:r>
          </a:p>
        </p:txBody>
      </p:sp>
      <p:sp>
        <p:nvSpPr>
          <p:cNvPr id="25" name="TextBox 24"/>
          <p:cNvSpPr txBox="1"/>
          <p:nvPr/>
        </p:nvSpPr>
        <p:spPr>
          <a:xfrm>
            <a:off x="8750807" y="4246054"/>
            <a:ext cx="2788920" cy="395160"/>
          </a:xfrm>
          <a:prstGeom prst="rect">
            <a:avLst/>
          </a:prstGeom>
          <a:noFill/>
        </p:spPr>
        <p:txBody>
          <a:bodyPr wrap="square" anchor="ctr" lIns="0" rIns="0" tIns="0" bIns="0">
            <a:spAutoFit/>
          </a:bodyPr>
          <a:lstStyle/>
          <a:p>
            <a:pPr algn="l">
              <a:lnSpc>
                <a:spcPct val="114000"/>
              </a:lnSpc>
              <a:spcBef>
                <a:spcPts val="0"/>
              </a:spcBef>
              <a:spcAft>
                <a:spcPts val="0"/>
              </a:spcAft>
            </a:pPr>
            <a:r>
              <a:rPr sz="1000" b="1" i="0">
                <a:solidFill>
                  <a:srgbClr val="2A78D6"/>
                </a:solidFill>
                <a:latin typeface="Calibri"/>
              </a:rPr>
              <a:t>C4 · Scope-Aware Retrieval Advisor</a:t>
            </a:r>
          </a:p>
        </p:txBody>
      </p:sp>
      <p:sp>
        <p:nvSpPr>
          <p:cNvPr id="26" name="Rounded Rectangle 25"/>
          <p:cNvSpPr/>
          <p:nvPr/>
        </p:nvSpPr>
        <p:spPr>
          <a:xfrm>
            <a:off x="566928" y="4824095"/>
            <a:ext cx="11057839" cy="578040"/>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86384" y="4952111"/>
            <a:ext cx="365760" cy="365760"/>
          </a:xfrm>
          <a:prstGeom prst="ellipse">
            <a:avLst/>
          </a:prstGeom>
          <a:solidFill>
            <a:srgbClr val="5A647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G5</a:t>
            </a:r>
          </a:p>
        </p:txBody>
      </p:sp>
      <p:sp>
        <p:nvSpPr>
          <p:cNvPr id="28" name="TextBox 27"/>
          <p:cNvSpPr txBox="1"/>
          <p:nvPr/>
        </p:nvSpPr>
        <p:spPr>
          <a:xfrm>
            <a:off x="1316736" y="4915535"/>
            <a:ext cx="3017520" cy="395160"/>
          </a:xfrm>
          <a:prstGeom prst="rect">
            <a:avLst/>
          </a:prstGeom>
          <a:noFill/>
        </p:spPr>
        <p:txBody>
          <a:bodyPr wrap="square" anchor="ctr" lIns="0" rIns="0" tIns="0" bIns="0">
            <a:spAutoFit/>
          </a:bodyPr>
          <a:lstStyle/>
          <a:p>
            <a:pPr algn="l">
              <a:lnSpc>
                <a:spcPct val="112000"/>
              </a:lnSpc>
              <a:spcBef>
                <a:spcPts val="0"/>
              </a:spcBef>
              <a:spcAft>
                <a:spcPts val="0"/>
              </a:spcAft>
            </a:pPr>
            <a:r>
              <a:rPr sz="1250" b="1" i="0">
                <a:solidFill>
                  <a:srgbClr val="0F2740"/>
                </a:solidFill>
                <a:latin typeface="Cambria"/>
              </a:rPr>
              <a:t>Transfer and leakage controls</a:t>
            </a:r>
          </a:p>
        </p:txBody>
      </p:sp>
      <p:sp>
        <p:nvSpPr>
          <p:cNvPr id="29" name="TextBox 28"/>
          <p:cNvSpPr txBox="1"/>
          <p:nvPr/>
        </p:nvSpPr>
        <p:spPr>
          <a:xfrm>
            <a:off x="4443984" y="4915535"/>
            <a:ext cx="4160520" cy="395160"/>
          </a:xfrm>
          <a:prstGeom prst="rect">
            <a:avLst/>
          </a:prstGeom>
          <a:noFill/>
        </p:spPr>
        <p:txBody>
          <a:bodyPr wrap="square" anchor="ctr" lIns="0" rIns="0" tIns="0" bIns="0">
            <a:spAutoFit/>
          </a:bodyPr>
          <a:lstStyle/>
          <a:p>
            <a:pPr algn="l">
              <a:lnSpc>
                <a:spcPct val="114000"/>
              </a:lnSpc>
              <a:spcBef>
                <a:spcPts val="0"/>
              </a:spcBef>
              <a:spcAft>
                <a:spcPts val="0"/>
              </a:spcAft>
            </a:pPr>
            <a:r>
              <a:rPr sz="950" b="0" i="0">
                <a:solidFill>
                  <a:srgbClr val="5A6472"/>
                </a:solidFill>
                <a:latin typeface="Calibri"/>
              </a:rPr>
              <a:t>Adaptation research motivates local validation, but the transfer properties of individual expert judgments and the correct frozen-store evaluation design remain open.</a:t>
            </a:r>
          </a:p>
        </p:txBody>
      </p:sp>
      <p:sp>
        <p:nvSpPr>
          <p:cNvPr id="30" name="TextBox 29"/>
          <p:cNvSpPr txBox="1"/>
          <p:nvPr/>
        </p:nvSpPr>
        <p:spPr>
          <a:xfrm>
            <a:off x="8750807" y="4915535"/>
            <a:ext cx="2788920" cy="395160"/>
          </a:xfrm>
          <a:prstGeom prst="rect">
            <a:avLst/>
          </a:prstGeom>
          <a:noFill/>
        </p:spPr>
        <p:txBody>
          <a:bodyPr wrap="square" anchor="ctr" lIns="0" rIns="0" tIns="0" bIns="0">
            <a:spAutoFit/>
          </a:bodyPr>
          <a:lstStyle/>
          <a:p>
            <a:pPr algn="l">
              <a:lnSpc>
                <a:spcPct val="114000"/>
              </a:lnSpc>
              <a:spcBef>
                <a:spcPts val="0"/>
              </a:spcBef>
              <a:spcAft>
                <a:spcPts val="0"/>
              </a:spcAft>
            </a:pPr>
            <a:r>
              <a:rPr sz="1000" b="1" i="0">
                <a:solidFill>
                  <a:srgbClr val="5A6472"/>
                </a:solidFill>
                <a:latin typeface="Calibri"/>
              </a:rPr>
              <a:t>C5 + C6 · Transfer Ladder · Leakage-Safe Harness</a:t>
            </a:r>
          </a:p>
        </p:txBody>
      </p:sp>
      <p:sp>
        <p:nvSpPr>
          <p:cNvPr id="31" name="Rounded Rectangle 30"/>
          <p:cNvSpPr/>
          <p:nvPr/>
        </p:nvSpPr>
        <p:spPr>
          <a:xfrm>
            <a:off x="566928" y="5493575"/>
            <a:ext cx="11057839" cy="578040"/>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86384" y="5621591"/>
            <a:ext cx="365760" cy="365760"/>
          </a:xfrm>
          <a:prstGeom prst="ellipse">
            <a:avLst/>
          </a:prstGeom>
          <a:solidFill>
            <a:srgbClr val="5A647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G6</a:t>
            </a:r>
          </a:p>
        </p:txBody>
      </p:sp>
      <p:sp>
        <p:nvSpPr>
          <p:cNvPr id="33" name="TextBox 32"/>
          <p:cNvSpPr txBox="1"/>
          <p:nvPr/>
        </p:nvSpPr>
        <p:spPr>
          <a:xfrm>
            <a:off x="1316736" y="5585015"/>
            <a:ext cx="3017520" cy="395160"/>
          </a:xfrm>
          <a:prstGeom prst="rect">
            <a:avLst/>
          </a:prstGeom>
          <a:noFill/>
        </p:spPr>
        <p:txBody>
          <a:bodyPr wrap="square" anchor="ctr" lIns="0" rIns="0" tIns="0" bIns="0">
            <a:spAutoFit/>
          </a:bodyPr>
          <a:lstStyle/>
          <a:p>
            <a:pPr algn="l">
              <a:lnSpc>
                <a:spcPct val="112000"/>
              </a:lnSpc>
              <a:spcBef>
                <a:spcPts val="0"/>
              </a:spcBef>
              <a:spcAft>
                <a:spcPts val="0"/>
              </a:spcAft>
            </a:pPr>
            <a:r>
              <a:rPr sz="1250" b="1" i="0">
                <a:solidFill>
                  <a:srgbClr val="0F2740"/>
                </a:solidFill>
                <a:latin typeface="Cambria"/>
              </a:rPr>
              <a:t>Construct validity of the variability distinction</a:t>
            </a:r>
          </a:p>
        </p:txBody>
      </p:sp>
      <p:sp>
        <p:nvSpPr>
          <p:cNvPr id="34" name="TextBox 33"/>
          <p:cNvSpPr txBox="1"/>
          <p:nvPr/>
        </p:nvSpPr>
        <p:spPr>
          <a:xfrm>
            <a:off x="4443984" y="5585015"/>
            <a:ext cx="4160520" cy="395160"/>
          </a:xfrm>
          <a:prstGeom prst="rect">
            <a:avLst/>
          </a:prstGeom>
          <a:noFill/>
        </p:spPr>
        <p:txBody>
          <a:bodyPr wrap="square" anchor="ctr" lIns="0" rIns="0" tIns="0" bIns="0">
            <a:spAutoFit/>
          </a:bodyPr>
          <a:lstStyle/>
          <a:p>
            <a:pPr algn="l">
              <a:lnSpc>
                <a:spcPct val="114000"/>
              </a:lnSpc>
              <a:spcBef>
                <a:spcPts val="0"/>
              </a:spcBef>
              <a:spcAft>
                <a:spcPts val="0"/>
              </a:spcAft>
            </a:pPr>
            <a:r>
              <a:rPr sz="950" b="0" i="0">
                <a:solidFill>
                  <a:srgbClr val="5A6472"/>
                </a:solidFill>
                <a:latin typeface="Calibri"/>
              </a:rPr>
              <a:t>“Substantial” versus “occasional” mixes validity with frequency language, and may obscure guideline mismatch, ambiguity and distinct error types.</a:t>
            </a:r>
          </a:p>
        </p:txBody>
      </p:sp>
      <p:sp>
        <p:nvSpPr>
          <p:cNvPr id="35" name="TextBox 34"/>
          <p:cNvSpPr txBox="1"/>
          <p:nvPr/>
        </p:nvSpPr>
        <p:spPr>
          <a:xfrm>
            <a:off x="8750807" y="5585015"/>
            <a:ext cx="2788920" cy="395160"/>
          </a:xfrm>
          <a:prstGeom prst="rect">
            <a:avLst/>
          </a:prstGeom>
          <a:noFill/>
        </p:spPr>
        <p:txBody>
          <a:bodyPr wrap="square" anchor="ctr" lIns="0" rIns="0" tIns="0" bIns="0">
            <a:spAutoFit/>
          </a:bodyPr>
          <a:lstStyle/>
          <a:p>
            <a:pPr algn="l">
              <a:lnSpc>
                <a:spcPct val="114000"/>
              </a:lnSpc>
              <a:spcBef>
                <a:spcPts val="0"/>
              </a:spcBef>
              <a:spcAft>
                <a:spcPts val="0"/>
              </a:spcAft>
            </a:pPr>
            <a:r>
              <a:rPr sz="1000" b="1" i="0">
                <a:solidFill>
                  <a:srgbClr val="5A6472"/>
                </a:solidFill>
                <a:latin typeface="Calibri"/>
              </a:rPr>
              <a:t>Terminology / rubric revision</a:t>
            </a:r>
          </a:p>
        </p:txBody>
      </p:sp>
      <p:sp>
        <p:nvSpPr>
          <p:cNvPr id="36" name="TextBox 35"/>
          <p:cNvSpPr txBox="1"/>
          <p:nvPr/>
        </p:nvSpPr>
        <p:spPr>
          <a:xfrm>
            <a:off x="566928" y="6291072"/>
            <a:ext cx="11057839" cy="384048"/>
          </a:xfrm>
          <a:prstGeom prst="rect">
            <a:avLst/>
          </a:prstGeom>
          <a:noFill/>
        </p:spPr>
        <p:txBody>
          <a:bodyPr wrap="square" anchor="t" lIns="0" rIns="0" tIns="0" bIns="0">
            <a:spAutoFit/>
          </a:bodyPr>
          <a:lstStyle/>
          <a:p>
            <a:pPr algn="l">
              <a:lnSpc>
                <a:spcPct val="115000"/>
              </a:lnSpc>
              <a:spcBef>
                <a:spcPts val="0"/>
              </a:spcBef>
              <a:spcAft>
                <a:spcPts val="0"/>
              </a:spcAft>
            </a:pPr>
            <a:r>
              <a:rPr sz="1050" b="0" i="0">
                <a:solidFill>
                  <a:srgbClr val="5A6472"/>
                </a:solidFill>
                <a:latin typeface="Calibri"/>
              </a:rPr>
              <a:t>C1–C6 are design and research-contribution hypotheses. They may be called implemented only when the artifact exists and passes tests, and empirically beneficial only after independent evaluation.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2740"/>
        </a:solidFill>
        <a:effectLst/>
      </p:bgPr>
    </p:bg>
    <p:spTree>
      <p:nvGrpSpPr>
        <p:cNvPr id="1" name=""/>
        <p:cNvGrpSpPr/>
        <p:nvPr/>
      </p:nvGrpSpPr>
      <p:grpSpPr/>
      <p:sp>
        <p:nvSpPr>
          <p:cNvPr id="2" name="TextBox 1"/>
          <p:cNvSpPr txBox="1"/>
          <p:nvPr/>
        </p:nvSpPr>
        <p:spPr>
          <a:xfrm>
            <a:off x="566928" y="420624"/>
            <a:ext cx="11057839" cy="237744"/>
          </a:xfrm>
          <a:prstGeom prst="rect">
            <a:avLst/>
          </a:prstGeom>
          <a:noFill/>
        </p:spPr>
        <p:txBody>
          <a:bodyPr wrap="square" anchor="t" lIns="0" rIns="0" tIns="0" bIns="0">
            <a:spAutoFit/>
          </a:bodyPr>
          <a:lstStyle/>
          <a:p>
            <a:pPr algn="l">
              <a:spcBef>
                <a:spcPts val="0"/>
              </a:spcBef>
              <a:spcAft>
                <a:spcPts val="0"/>
              </a:spcAft>
            </a:pPr>
            <a:r>
              <a:rPr sz="1150" b="1" i="0">
                <a:solidFill>
                  <a:srgbClr val="CDE2FB"/>
                </a:solidFill>
                <a:latin typeface="Calibri"/>
              </a:rPr>
              <a:t>CONCLUSION · DIRECTION AND HARD GATES</a:t>
            </a:r>
          </a:p>
        </p:txBody>
      </p:sp>
      <p:sp>
        <p:nvSpPr>
          <p:cNvPr id="3" name="TextBox 2"/>
          <p:cNvSpPr txBox="1"/>
          <p:nvPr/>
        </p:nvSpPr>
        <p:spPr>
          <a:xfrm>
            <a:off x="566928" y="713232"/>
            <a:ext cx="11057839" cy="553466"/>
          </a:xfrm>
          <a:prstGeom prst="rect">
            <a:avLst/>
          </a:prstGeom>
          <a:noFill/>
        </p:spPr>
        <p:txBody>
          <a:bodyPr wrap="square" anchor="t" lIns="0" rIns="0" tIns="0" bIns="0">
            <a:spAutoFit/>
          </a:bodyPr>
          <a:lstStyle/>
          <a:p>
            <a:pPr algn="l">
              <a:lnSpc>
                <a:spcPct val="110000"/>
              </a:lnSpc>
              <a:spcBef>
                <a:spcPts val="0"/>
              </a:spcBef>
              <a:spcAft>
                <a:spcPts val="0"/>
              </a:spcAft>
            </a:pPr>
            <a:r>
              <a:rPr sz="3100" b="1" i="0">
                <a:solidFill>
                  <a:srgbClr val="FFFFFF"/>
                </a:solidFill>
                <a:latin typeface="Cambria"/>
              </a:rPr>
              <a:t>The gap is integration — and here is what would falsify it</a:t>
            </a:r>
          </a:p>
        </p:txBody>
      </p:sp>
      <p:sp>
        <p:nvSpPr>
          <p:cNvPr id="4" name="Rounded Rectangle 3"/>
          <p:cNvSpPr/>
          <p:nvPr/>
        </p:nvSpPr>
        <p:spPr>
          <a:xfrm>
            <a:off x="566928" y="1339850"/>
            <a:ext cx="11057839" cy="1371600"/>
          </a:xfrm>
          <a:prstGeom prst="roundRect">
            <a:avLst>
              <a:gd name="adj" fmla="val 4000"/>
            </a:avLst>
          </a:prstGeom>
          <a:solidFill>
            <a:srgbClr val="1B3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59536" y="1504442"/>
            <a:ext cx="10472623" cy="1078992"/>
          </a:xfrm>
          <a:prstGeom prst="rect">
            <a:avLst/>
          </a:prstGeom>
          <a:noFill/>
        </p:spPr>
        <p:txBody>
          <a:bodyPr wrap="square" anchor="t" lIns="0" rIns="0" tIns="0" bIns="0">
            <a:spAutoFit/>
          </a:bodyPr>
          <a:lstStyle/>
          <a:p>
            <a:pPr algn="l">
              <a:lnSpc>
                <a:spcPct val="116000"/>
              </a:lnSpc>
              <a:spcBef>
                <a:spcPts val="0"/>
              </a:spcBef>
              <a:spcAft>
                <a:spcPts val="500"/>
              </a:spcAft>
            </a:pPr>
            <a:r>
              <a:rPr sz="1550" b="1" i="0">
                <a:solidFill>
                  <a:srgbClr val="FFFFFF"/>
                </a:solidFill>
                <a:latin typeface="Cambria"/>
              </a:rPr>
              <a:t>The gap is integration, not an isolated missing algorithm.</a:t>
            </a:r>
          </a:p>
          <a:p>
            <a:pPr algn="l">
              <a:lnSpc>
                <a:spcPct val="120000"/>
              </a:lnSpc>
              <a:spcBef>
                <a:spcPts val="0"/>
              </a:spcBef>
              <a:spcAft>
                <a:spcPts val="0"/>
              </a:spcAft>
            </a:pPr>
            <a:r>
              <a:rPr sz="1100" b="0" i="0">
                <a:solidFill>
                  <a:srgbClr val="CDE2FB"/>
                </a:solidFill>
                <a:latin typeface="Calibri"/>
              </a:rPr>
              <a:t>Mixed initiative already manages initiative; deferral already allocates cases; provenance already encodes lineage; retrieval already surfaces evidence; adaptation already models shift. What is unresolved is how to connect them into one traceable loop: request judgment selectively, capture it at the reasoning level, govern it as a versioned lifecycle object, reuse it only as scope-filtered advice, and evaluate it across a frozen leakage boundary.</a:t>
            </a:r>
          </a:p>
        </p:txBody>
      </p:sp>
      <p:sp>
        <p:nvSpPr>
          <p:cNvPr id="6" name="Rounded Rectangle 5"/>
          <p:cNvSpPr/>
          <p:nvPr/>
        </p:nvSpPr>
        <p:spPr>
          <a:xfrm>
            <a:off x="566928" y="2894330"/>
            <a:ext cx="3551834" cy="969264"/>
          </a:xfrm>
          <a:prstGeom prst="roundRect">
            <a:avLst>
              <a:gd name="adj" fmla="val 4000"/>
            </a:avLst>
          </a:prstGeom>
          <a:solidFill>
            <a:srgbClr val="1B3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749808" y="3058922"/>
            <a:ext cx="329184" cy="3291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1</a:t>
            </a:r>
          </a:p>
        </p:txBody>
      </p:sp>
      <p:sp>
        <p:nvSpPr>
          <p:cNvPr id="8" name="TextBox 7"/>
          <p:cNvSpPr txBox="1"/>
          <p:nvPr/>
        </p:nvSpPr>
        <p:spPr>
          <a:xfrm>
            <a:off x="1170432" y="3022346"/>
            <a:ext cx="2765450" cy="731520"/>
          </a:xfrm>
          <a:prstGeom prst="rect">
            <a:avLst/>
          </a:prstGeom>
          <a:noFill/>
        </p:spPr>
        <p:txBody>
          <a:bodyPr wrap="square" anchor="t" lIns="0" rIns="0" tIns="0" bIns="0">
            <a:spAutoFit/>
          </a:bodyPr>
          <a:lstStyle/>
          <a:p>
            <a:pPr algn="l">
              <a:lnSpc>
                <a:spcPct val="110000"/>
              </a:lnSpc>
              <a:spcBef>
                <a:spcPts val="0"/>
              </a:spcBef>
              <a:spcAft>
                <a:spcPts val="300"/>
              </a:spcAft>
            </a:pPr>
            <a:r>
              <a:rPr sz="1250" b="1" i="0">
                <a:solidFill>
                  <a:srgbClr val="FFFFFF"/>
                </a:solidFill>
                <a:latin typeface="Cambria"/>
              </a:rPr>
              <a:t>Finalize RQ terminology</a:t>
            </a:r>
          </a:p>
          <a:p>
            <a:pPr algn="l">
              <a:lnSpc>
                <a:spcPct val="116000"/>
              </a:lnSpc>
              <a:spcBef>
                <a:spcPts val="0"/>
              </a:spcBef>
              <a:spcAft>
                <a:spcPts val="0"/>
              </a:spcAft>
            </a:pPr>
            <a:r>
              <a:rPr sz="1050" b="0" i="0">
                <a:solidFill>
                  <a:srgbClr val="BFCEDE"/>
                </a:solidFill>
                <a:latin typeface="Calibri"/>
              </a:rPr>
              <a:t>supervisor decision log; D-RQ-01/02</a:t>
            </a:r>
          </a:p>
        </p:txBody>
      </p:sp>
      <p:sp>
        <p:nvSpPr>
          <p:cNvPr id="9" name="Rounded Rectangle 8"/>
          <p:cNvSpPr/>
          <p:nvPr/>
        </p:nvSpPr>
        <p:spPr>
          <a:xfrm>
            <a:off x="4319930" y="2894330"/>
            <a:ext cx="3551834" cy="969264"/>
          </a:xfrm>
          <a:prstGeom prst="roundRect">
            <a:avLst>
              <a:gd name="adj" fmla="val 4000"/>
            </a:avLst>
          </a:prstGeom>
          <a:solidFill>
            <a:srgbClr val="1B3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4502810" y="3058922"/>
            <a:ext cx="329184" cy="3291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2</a:t>
            </a:r>
          </a:p>
        </p:txBody>
      </p:sp>
      <p:sp>
        <p:nvSpPr>
          <p:cNvPr id="11" name="TextBox 10"/>
          <p:cNvSpPr txBox="1"/>
          <p:nvPr/>
        </p:nvSpPr>
        <p:spPr>
          <a:xfrm>
            <a:off x="4923434" y="3022346"/>
            <a:ext cx="2765450" cy="731520"/>
          </a:xfrm>
          <a:prstGeom prst="rect">
            <a:avLst/>
          </a:prstGeom>
          <a:noFill/>
        </p:spPr>
        <p:txBody>
          <a:bodyPr wrap="square" anchor="t" lIns="0" rIns="0" tIns="0" bIns="0">
            <a:spAutoFit/>
          </a:bodyPr>
          <a:lstStyle/>
          <a:p>
            <a:pPr algn="l">
              <a:lnSpc>
                <a:spcPct val="110000"/>
              </a:lnSpc>
              <a:spcBef>
                <a:spcPts val="0"/>
              </a:spcBef>
              <a:spcAft>
                <a:spcPts val="300"/>
              </a:spcAft>
            </a:pPr>
            <a:r>
              <a:rPr sz="1250" b="1" i="0">
                <a:solidFill>
                  <a:srgbClr val="FFFFFF"/>
                </a:solidFill>
                <a:latin typeface="Cambria"/>
              </a:rPr>
              <a:t>Execute the locked searches</a:t>
            </a:r>
          </a:p>
          <a:p>
            <a:pPr algn="l">
              <a:lnSpc>
                <a:spcPct val="116000"/>
              </a:lnSpc>
              <a:spcBef>
                <a:spcPts val="0"/>
              </a:spcBef>
              <a:spcAft>
                <a:spcPts val="0"/>
              </a:spcAft>
            </a:pPr>
            <a:r>
              <a:rPr sz="1050" b="0" i="0">
                <a:solidFill>
                  <a:srgbClr val="BFCEDE"/>
                </a:solidFill>
                <a:latin typeface="Calibri"/>
              </a:rPr>
              <a:t>QL-01–QL-05, currently 0 of 5</a:t>
            </a:r>
          </a:p>
        </p:txBody>
      </p:sp>
      <p:sp>
        <p:nvSpPr>
          <p:cNvPr id="12" name="Rounded Rectangle 11"/>
          <p:cNvSpPr/>
          <p:nvPr/>
        </p:nvSpPr>
        <p:spPr>
          <a:xfrm>
            <a:off x="8072932" y="2894330"/>
            <a:ext cx="3551834" cy="969264"/>
          </a:xfrm>
          <a:prstGeom prst="roundRect">
            <a:avLst>
              <a:gd name="adj" fmla="val 4000"/>
            </a:avLst>
          </a:prstGeom>
          <a:solidFill>
            <a:srgbClr val="1B3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255812" y="3058922"/>
            <a:ext cx="329184" cy="3291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3</a:t>
            </a:r>
          </a:p>
        </p:txBody>
      </p:sp>
      <p:sp>
        <p:nvSpPr>
          <p:cNvPr id="14" name="TextBox 13"/>
          <p:cNvSpPr txBox="1"/>
          <p:nvPr/>
        </p:nvSpPr>
        <p:spPr>
          <a:xfrm>
            <a:off x="8676436" y="3022346"/>
            <a:ext cx="2765450" cy="731520"/>
          </a:xfrm>
          <a:prstGeom prst="rect">
            <a:avLst/>
          </a:prstGeom>
          <a:noFill/>
        </p:spPr>
        <p:txBody>
          <a:bodyPr wrap="square" anchor="t" lIns="0" rIns="0" tIns="0" bIns="0">
            <a:spAutoFit/>
          </a:bodyPr>
          <a:lstStyle/>
          <a:p>
            <a:pPr algn="l">
              <a:lnSpc>
                <a:spcPct val="110000"/>
              </a:lnSpc>
              <a:spcBef>
                <a:spcPts val="0"/>
              </a:spcBef>
              <a:spcAft>
                <a:spcPts val="300"/>
              </a:spcAft>
            </a:pPr>
            <a:r>
              <a:rPr sz="1250" b="1" i="0">
                <a:solidFill>
                  <a:srgbClr val="FFFFFF"/>
                </a:solidFill>
                <a:latin typeface="Cambria"/>
              </a:rPr>
              <a:t>Collect independent expert labels</a:t>
            </a:r>
          </a:p>
          <a:p>
            <a:pPr algn="l">
              <a:lnSpc>
                <a:spcPct val="116000"/>
              </a:lnSpc>
              <a:spcBef>
                <a:spcPts val="0"/>
              </a:spcBef>
              <a:spcAft>
                <a:spcPts val="0"/>
              </a:spcAft>
            </a:pPr>
            <a:r>
              <a:rPr sz="1050" b="0" i="0">
                <a:solidFill>
                  <a:srgbClr val="BFCEDE"/>
                </a:solidFill>
                <a:latin typeface="Calibri"/>
              </a:rPr>
              <a:t>EXP-005 at 0/24; ≥20 targeted</a:t>
            </a:r>
          </a:p>
        </p:txBody>
      </p:sp>
      <p:sp>
        <p:nvSpPr>
          <p:cNvPr id="15" name="Rounded Rectangle 14"/>
          <p:cNvSpPr/>
          <p:nvPr/>
        </p:nvSpPr>
        <p:spPr>
          <a:xfrm>
            <a:off x="566928" y="4028186"/>
            <a:ext cx="3551834" cy="969264"/>
          </a:xfrm>
          <a:prstGeom prst="roundRect">
            <a:avLst>
              <a:gd name="adj" fmla="val 4000"/>
            </a:avLst>
          </a:prstGeom>
          <a:solidFill>
            <a:srgbClr val="1B3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49808" y="4192778"/>
            <a:ext cx="329184" cy="3291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4</a:t>
            </a:r>
          </a:p>
        </p:txBody>
      </p:sp>
      <p:sp>
        <p:nvSpPr>
          <p:cNvPr id="17" name="TextBox 16"/>
          <p:cNvSpPr txBox="1"/>
          <p:nvPr/>
        </p:nvSpPr>
        <p:spPr>
          <a:xfrm>
            <a:off x="1170432" y="4156202"/>
            <a:ext cx="2765450" cy="731520"/>
          </a:xfrm>
          <a:prstGeom prst="rect">
            <a:avLst/>
          </a:prstGeom>
          <a:noFill/>
        </p:spPr>
        <p:txBody>
          <a:bodyPr wrap="square" anchor="t" lIns="0" rIns="0" tIns="0" bIns="0">
            <a:spAutoFit/>
          </a:bodyPr>
          <a:lstStyle/>
          <a:p>
            <a:pPr algn="l">
              <a:lnSpc>
                <a:spcPct val="110000"/>
              </a:lnSpc>
              <a:spcBef>
                <a:spcPts val="0"/>
              </a:spcBef>
              <a:spcAft>
                <a:spcPts val="300"/>
              </a:spcAft>
            </a:pPr>
            <a:r>
              <a:rPr sz="1250" b="1" i="0">
                <a:solidFill>
                  <a:srgbClr val="FFFFFF"/>
                </a:solidFill>
                <a:latin typeface="Cambria"/>
              </a:rPr>
              <a:t>Evaluate SQ1 and SQ2 first</a:t>
            </a:r>
          </a:p>
          <a:p>
            <a:pPr algn="l">
              <a:lnSpc>
                <a:spcPct val="116000"/>
              </a:lnSpc>
              <a:spcBef>
                <a:spcPts val="0"/>
              </a:spcBef>
              <a:spcAft>
                <a:spcPts val="0"/>
              </a:spcAft>
            </a:pPr>
            <a:r>
              <a:rPr sz="1050" b="0" i="0">
                <a:solidFill>
                  <a:srgbClr val="BFCEDE"/>
                </a:solidFill>
                <a:latin typeface="Calibri"/>
              </a:rPr>
              <a:t>burden, traceability, same-domain reuse</a:t>
            </a:r>
          </a:p>
        </p:txBody>
      </p:sp>
      <p:sp>
        <p:nvSpPr>
          <p:cNvPr id="18" name="Rounded Rectangle 17"/>
          <p:cNvSpPr/>
          <p:nvPr/>
        </p:nvSpPr>
        <p:spPr>
          <a:xfrm>
            <a:off x="4319930" y="4028186"/>
            <a:ext cx="3551834" cy="969264"/>
          </a:xfrm>
          <a:prstGeom prst="roundRect">
            <a:avLst>
              <a:gd name="adj" fmla="val 4000"/>
            </a:avLst>
          </a:prstGeom>
          <a:solidFill>
            <a:srgbClr val="1B3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502810" y="4192778"/>
            <a:ext cx="329184" cy="3291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5</a:t>
            </a:r>
          </a:p>
        </p:txBody>
      </p:sp>
      <p:sp>
        <p:nvSpPr>
          <p:cNvPr id="20" name="TextBox 19"/>
          <p:cNvSpPr txBox="1"/>
          <p:nvPr/>
        </p:nvSpPr>
        <p:spPr>
          <a:xfrm>
            <a:off x="4923434" y="4156202"/>
            <a:ext cx="2765450" cy="731520"/>
          </a:xfrm>
          <a:prstGeom prst="rect">
            <a:avLst/>
          </a:prstGeom>
          <a:noFill/>
        </p:spPr>
        <p:txBody>
          <a:bodyPr wrap="square" anchor="t" lIns="0" rIns="0" tIns="0" bIns="0">
            <a:spAutoFit/>
          </a:bodyPr>
          <a:lstStyle/>
          <a:p>
            <a:pPr algn="l">
              <a:lnSpc>
                <a:spcPct val="110000"/>
              </a:lnSpc>
              <a:spcBef>
                <a:spcPts val="0"/>
              </a:spcBef>
              <a:spcAft>
                <a:spcPts val="300"/>
              </a:spcAft>
            </a:pPr>
            <a:r>
              <a:rPr sz="1250" b="1" i="0">
                <a:solidFill>
                  <a:srgbClr val="FFFFFF"/>
                </a:solidFill>
                <a:latin typeface="Cambria"/>
              </a:rPr>
              <a:t>Then transfer, frozen-store</a:t>
            </a:r>
          </a:p>
          <a:p>
            <a:pPr algn="l">
              <a:lnSpc>
                <a:spcPct val="116000"/>
              </a:lnSpc>
              <a:spcBef>
                <a:spcPts val="0"/>
              </a:spcBef>
              <a:spcAft>
                <a:spcPts val="0"/>
              </a:spcAft>
            </a:pPr>
            <a:r>
              <a:rPr sz="1050" b="0" i="0">
                <a:solidFill>
                  <a:srgbClr val="BFCEDE"/>
                </a:solidFill>
                <a:latin typeface="Calibri"/>
              </a:rPr>
              <a:t>matched control + blind target labels</a:t>
            </a:r>
          </a:p>
        </p:txBody>
      </p:sp>
      <p:sp>
        <p:nvSpPr>
          <p:cNvPr id="21" name="Rounded Rectangle 20"/>
          <p:cNvSpPr/>
          <p:nvPr/>
        </p:nvSpPr>
        <p:spPr>
          <a:xfrm>
            <a:off x="8072932" y="4028186"/>
            <a:ext cx="3551834" cy="969264"/>
          </a:xfrm>
          <a:prstGeom prst="roundRect">
            <a:avLst>
              <a:gd name="adj" fmla="val 4000"/>
            </a:avLst>
          </a:prstGeom>
          <a:solidFill>
            <a:srgbClr val="1B3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55812" y="4192778"/>
            <a:ext cx="329184" cy="32918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6</a:t>
            </a:r>
          </a:p>
        </p:txBody>
      </p:sp>
      <p:sp>
        <p:nvSpPr>
          <p:cNvPr id="23" name="TextBox 22"/>
          <p:cNvSpPr txBox="1"/>
          <p:nvPr/>
        </p:nvSpPr>
        <p:spPr>
          <a:xfrm>
            <a:off x="8676436" y="4156202"/>
            <a:ext cx="2765450" cy="731520"/>
          </a:xfrm>
          <a:prstGeom prst="rect">
            <a:avLst/>
          </a:prstGeom>
          <a:noFill/>
        </p:spPr>
        <p:txBody>
          <a:bodyPr wrap="square" anchor="t" lIns="0" rIns="0" tIns="0" bIns="0">
            <a:spAutoFit/>
          </a:bodyPr>
          <a:lstStyle/>
          <a:p>
            <a:pPr algn="l">
              <a:lnSpc>
                <a:spcPct val="110000"/>
              </a:lnSpc>
              <a:spcBef>
                <a:spcPts val="0"/>
              </a:spcBef>
              <a:spcAft>
                <a:spcPts val="300"/>
              </a:spcAft>
            </a:pPr>
            <a:r>
              <a:rPr sz="1250" b="1" i="0">
                <a:solidFill>
                  <a:srgbClr val="FFFFFF"/>
                </a:solidFill>
                <a:latin typeface="Cambria"/>
              </a:rPr>
              <a:t>Medical only after gates</a:t>
            </a:r>
          </a:p>
          <a:p>
            <a:pPr algn="l">
              <a:lnSpc>
                <a:spcPct val="116000"/>
              </a:lnSpc>
              <a:spcBef>
                <a:spcPts val="0"/>
              </a:spcBef>
              <a:spcAft>
                <a:spcPts val="0"/>
              </a:spcAft>
            </a:pPr>
            <a:r>
              <a:rPr sz="1050" b="0" i="0">
                <a:solidFill>
                  <a:srgbClr val="BFCEDE"/>
                </a:solidFill>
                <a:latin typeface="Calibri"/>
              </a:rPr>
              <a:t>readiness 0/6; Plan B stays software</a:t>
            </a:r>
          </a:p>
        </p:txBody>
      </p:sp>
      <p:sp>
        <p:nvSpPr>
          <p:cNvPr id="24" name="TextBox 23"/>
          <p:cNvSpPr txBox="1"/>
          <p:nvPr/>
        </p:nvSpPr>
        <p:spPr>
          <a:xfrm>
            <a:off x="566928" y="5216906"/>
            <a:ext cx="11057839" cy="566928"/>
          </a:xfrm>
          <a:prstGeom prst="rect">
            <a:avLst/>
          </a:prstGeom>
          <a:noFill/>
        </p:spPr>
        <p:txBody>
          <a:bodyPr wrap="square" anchor="t" lIns="0" rIns="0" tIns="0" bIns="0">
            <a:spAutoFit/>
          </a:bodyPr>
          <a:lstStyle/>
          <a:p>
            <a:pPr algn="l">
              <a:lnSpc>
                <a:spcPct val="122000"/>
              </a:lnSpc>
              <a:spcBef>
                <a:spcPts val="0"/>
              </a:spcBef>
              <a:spcAft>
                <a:spcPts val="0"/>
              </a:spcAft>
            </a:pPr>
            <a:r>
              <a:rPr sz="1250" b="1" i="0">
                <a:solidFill>
                  <a:srgbClr val="CDE2FB"/>
                </a:solidFill>
                <a:latin typeface="Calibri"/>
              </a:rPr>
              <a:t>Human judgment should be requested selectively, captured with its reasoning, governed as a contestable lifecycle object, reused only as scoped advice, and evaluated across a frozen leakage boundary.</a:t>
            </a:r>
          </a:p>
          <a:p>
            <a:pPr algn="l">
              <a:spcBef>
                <a:spcPts val="800"/>
              </a:spcBef>
              <a:spcAft>
                <a:spcPts val="0"/>
              </a:spcAft>
            </a:pPr>
            <a:r>
              <a:rPr sz="1300" b="1" i="0">
                <a:solidFill>
                  <a:srgbClr val="FFFFFF"/>
                </a:solidFill>
                <a:latin typeface="Calibri"/>
              </a:rPr>
              <a:t>Thank you — questions welcome.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237744"/>
          </a:xfrm>
          <a:prstGeom prst="rect">
            <a:avLst/>
          </a:prstGeom>
          <a:noFill/>
        </p:spPr>
        <p:txBody>
          <a:bodyPr wrap="square" anchor="t" lIns="0" rIns="0" tIns="0" bIns="0">
            <a:spAutoFit/>
          </a:bodyPr>
          <a:lstStyle/>
          <a:p>
            <a:pPr algn="l">
              <a:spcBef>
                <a:spcPts val="0"/>
              </a:spcBef>
              <a:spcAft>
                <a:spcPts val="0"/>
              </a:spcAft>
            </a:pPr>
            <a:r>
              <a:rPr sz="1150" b="1" i="0">
                <a:solidFill>
                  <a:srgbClr val="2A78D6"/>
                </a:solidFill>
                <a:latin typeface="Calibri"/>
              </a:rPr>
              <a:t>BACKUP · TERMINOLOGY</a:t>
            </a:r>
          </a:p>
        </p:txBody>
      </p:sp>
      <p:sp>
        <p:nvSpPr>
          <p:cNvPr id="3" name="TextBox 2"/>
          <p:cNvSpPr txBox="1"/>
          <p:nvPr/>
        </p:nvSpPr>
        <p:spPr>
          <a:xfrm>
            <a:off x="566928" y="713232"/>
            <a:ext cx="11057839" cy="553466"/>
          </a:xfrm>
          <a:prstGeom prst="rect">
            <a:avLst/>
          </a:prstGeom>
          <a:noFill/>
        </p:spPr>
        <p:txBody>
          <a:bodyPr wrap="square" anchor="t" lIns="0" rIns="0" tIns="0" bIns="0">
            <a:spAutoFit/>
          </a:bodyPr>
          <a:lstStyle/>
          <a:p>
            <a:pPr algn="l">
              <a:lnSpc>
                <a:spcPct val="110000"/>
              </a:lnSpc>
              <a:spcBef>
                <a:spcPts val="0"/>
              </a:spcBef>
              <a:spcAft>
                <a:spcPts val="0"/>
              </a:spcAft>
            </a:pPr>
            <a:r>
              <a:rPr sz="3100" b="1" i="0">
                <a:solidFill>
                  <a:srgbClr val="0F2740"/>
                </a:solidFill>
                <a:latin typeface="Cambria"/>
              </a:rPr>
              <a:t>Exact provisional wording and construct boundaries</a:t>
            </a:r>
          </a:p>
        </p:txBody>
      </p:sp>
      <p:sp>
        <p:nvSpPr>
          <p:cNvPr id="4" name="TextBox 3"/>
          <p:cNvSpPr txBox="1"/>
          <p:nvPr/>
        </p:nvSpPr>
        <p:spPr>
          <a:xfrm>
            <a:off x="566928" y="1339850"/>
            <a:ext cx="11057839" cy="294259"/>
          </a:xfrm>
          <a:prstGeom prst="rect">
            <a:avLst/>
          </a:prstGeom>
          <a:noFill/>
        </p:spPr>
        <p:txBody>
          <a:bodyPr wrap="square" anchor="t" lIns="0" rIns="0" tIns="0" bIns="0">
            <a:spAutoFit/>
          </a:bodyPr>
          <a:lstStyle/>
          <a:p>
            <a:pPr algn="l">
              <a:lnSpc>
                <a:spcPct val="118000"/>
              </a:lnSpc>
              <a:spcBef>
                <a:spcPts val="0"/>
              </a:spcBef>
              <a:spcAft>
                <a:spcPts val="0"/>
              </a:spcAft>
            </a:pPr>
            <a:r>
              <a:rPr sz="1450" b="0" i="0">
                <a:solidFill>
                  <a:srgbClr val="5A6472"/>
                </a:solidFill>
                <a:latin typeface="Calibri"/>
              </a:rPr>
              <a:t>Preserved verbatim so the wording can be challenged precisely.</a:t>
            </a:r>
          </a:p>
        </p:txBody>
      </p:sp>
      <p:sp>
        <p:nvSpPr>
          <p:cNvPr id="5" name="Rounded Rectangle 4"/>
          <p:cNvSpPr/>
          <p:nvPr/>
        </p:nvSpPr>
        <p:spPr>
          <a:xfrm>
            <a:off x="566928" y="1780413"/>
            <a:ext cx="5410047" cy="3602736"/>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04672" y="1963293"/>
            <a:ext cx="4934559" cy="3246120"/>
          </a:xfrm>
          <a:prstGeom prst="rect">
            <a:avLst/>
          </a:prstGeom>
          <a:noFill/>
        </p:spPr>
        <p:txBody>
          <a:bodyPr wrap="square" anchor="t" lIns="0" rIns="0" tIns="0" bIns="0">
            <a:spAutoFit/>
          </a:bodyPr>
          <a:lstStyle/>
          <a:p>
            <a:pPr algn="l">
              <a:spcBef>
                <a:spcPts val="0"/>
              </a:spcBef>
              <a:spcAft>
                <a:spcPts val="800"/>
              </a:spcAft>
            </a:pPr>
            <a:r>
              <a:rPr sz="1450" b="1" i="0">
                <a:solidFill>
                  <a:srgbClr val="0F2740"/>
                </a:solidFill>
                <a:latin typeface="Cambria"/>
              </a:rPr>
              <a:t>Provisional questions</a:t>
            </a:r>
          </a:p>
          <a:p>
            <a:pPr algn="l">
              <a:lnSpc>
                <a:spcPct val="118000"/>
              </a:lnSpc>
              <a:spcBef>
                <a:spcPts val="0"/>
              </a:spcBef>
              <a:spcAft>
                <a:spcPts val="700"/>
              </a:spcAft>
            </a:pPr>
            <a:r>
              <a:rPr sz="1150" b="1" i="0">
                <a:solidFill>
                  <a:srgbClr val="2A78D6"/>
                </a:solidFill>
                <a:latin typeface="Calibri"/>
              </a:rPr>
              <a:t>U-RQ  </a:t>
            </a:r>
            <a:r>
              <a:rPr sz="1100" b="0" i="0">
                <a:solidFill>
                  <a:srgbClr val="5A6472"/>
                </a:solidFill>
                <a:latin typeface="Calibri"/>
              </a:rPr>
              <a:t>How can human judgment be captured, governed, and used to support agentic-AI-driven variability exploration in guideline operationalization scenarios, enabling reliable human–AI co-reasoning?</a:t>
            </a:r>
          </a:p>
          <a:p>
            <a:pPr algn="l">
              <a:lnSpc>
                <a:spcPct val="118000"/>
              </a:lnSpc>
              <a:spcBef>
                <a:spcPts val="0"/>
              </a:spcBef>
              <a:spcAft>
                <a:spcPts val="700"/>
              </a:spcAft>
            </a:pPr>
            <a:r>
              <a:rPr sz="1150" b="1" i="0">
                <a:solidFill>
                  <a:srgbClr val="2A78D6"/>
                </a:solidFill>
                <a:latin typeface="Calibri"/>
              </a:rPr>
              <a:t>SQ1  </a:t>
            </a:r>
            <a:r>
              <a:rPr sz="1100" b="0" i="0">
                <a:solidFill>
                  <a:srgbClr val="5A6472"/>
                </a:solidFill>
                <a:latin typeface="Calibri"/>
              </a:rPr>
              <a:t>When and how should an agentic assessment system request human judgment, so that important uncertainties are addressed without unnecessary expert burden?</a:t>
            </a:r>
          </a:p>
          <a:p>
            <a:pPr algn="l">
              <a:lnSpc>
                <a:spcPct val="118000"/>
              </a:lnSpc>
              <a:spcBef>
                <a:spcPts val="0"/>
              </a:spcBef>
              <a:spcAft>
                <a:spcPts val="700"/>
              </a:spcAft>
            </a:pPr>
            <a:r>
              <a:rPr sz="1150" b="1" i="0">
                <a:solidFill>
                  <a:srgbClr val="2A78D6"/>
                </a:solidFill>
                <a:latin typeface="Calibri"/>
              </a:rPr>
              <a:t>SQ2  </a:t>
            </a:r>
            <a:r>
              <a:rPr sz="1100" b="0" i="0">
                <a:solidFill>
                  <a:srgbClr val="5A6472"/>
                </a:solidFill>
                <a:latin typeface="Calibri"/>
              </a:rPr>
              <a:t>How should expert judgment — including the system's own reasoning — be represented, validated, reconciled and stored so it can be reused transparently, without unsafe generalization or loss of human authority?</a:t>
            </a:r>
          </a:p>
          <a:p>
            <a:pPr algn="l">
              <a:lnSpc>
                <a:spcPct val="118000"/>
              </a:lnSpc>
              <a:spcBef>
                <a:spcPts val="0"/>
              </a:spcBef>
              <a:spcAft>
                <a:spcPts val="700"/>
              </a:spcAft>
            </a:pPr>
            <a:r>
              <a:rPr sz="1150" b="1" i="0">
                <a:solidFill>
                  <a:srgbClr val="2A78D6"/>
                </a:solidFill>
                <a:latin typeface="Calibri"/>
              </a:rPr>
              <a:t>SQ3  </a:t>
            </a:r>
            <a:r>
              <a:rPr sz="1100" b="0" i="0">
                <a:solidFill>
                  <a:srgbClr val="5A6472"/>
                </a:solidFill>
                <a:latin typeface="Calibri"/>
              </a:rPr>
              <a:t>How can expert judgment be reused and transferred across guideline-operationalization contexts — what generalizes, and what must adapt?</a:t>
            </a:r>
          </a:p>
        </p:txBody>
      </p:sp>
      <p:sp>
        <p:nvSpPr>
          <p:cNvPr id="7" name="Rounded Rectangle 6"/>
          <p:cNvSpPr/>
          <p:nvPr/>
        </p:nvSpPr>
        <p:spPr>
          <a:xfrm>
            <a:off x="6214719" y="1780413"/>
            <a:ext cx="5410047" cy="3602736"/>
          </a:xfrm>
          <a:prstGeom prst="roundRect">
            <a:avLst>
              <a:gd name="adj" fmla="val 4000"/>
            </a:avLst>
          </a:prstGeom>
          <a:solidFill>
            <a:srgbClr val="FFFFFF"/>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52463" y="1963293"/>
            <a:ext cx="4934559" cy="3246120"/>
          </a:xfrm>
          <a:prstGeom prst="rect">
            <a:avLst/>
          </a:prstGeom>
          <a:noFill/>
        </p:spPr>
        <p:txBody>
          <a:bodyPr wrap="square" anchor="t" lIns="0" rIns="0" tIns="0" bIns="0">
            <a:spAutoFit/>
          </a:bodyPr>
          <a:lstStyle/>
          <a:p>
            <a:pPr algn="l">
              <a:spcBef>
                <a:spcPts val="0"/>
              </a:spcBef>
              <a:spcAft>
                <a:spcPts val="800"/>
              </a:spcAft>
            </a:pPr>
            <a:r>
              <a:rPr sz="1450" b="1" i="0">
                <a:solidFill>
                  <a:srgbClr val="0F2740"/>
                </a:solidFill>
                <a:latin typeface="Cambria"/>
              </a:rPr>
              <a:t>Construct boundaries</a:t>
            </a:r>
          </a:p>
          <a:p>
            <a:pPr algn="l">
              <a:lnSpc>
                <a:spcPct val="118000"/>
              </a:lnSpc>
              <a:spcBef>
                <a:spcPts val="0"/>
              </a:spcBef>
              <a:spcAft>
                <a:spcPts val="700"/>
              </a:spcAft>
            </a:pPr>
            <a:r>
              <a:rPr sz="1150" b="1" i="0">
                <a:solidFill>
                  <a:srgbClr val="0B0B0B"/>
                </a:solidFill>
                <a:latin typeface="Calibri"/>
              </a:rPr>
              <a:t>Human judgment  </a:t>
            </a:r>
            <a:r>
              <a:rPr sz="1100" b="0" i="0">
                <a:solidFill>
                  <a:srgbClr val="5A6472"/>
                </a:solidFill>
                <a:latin typeface="Calibri"/>
              </a:rPr>
              <a:t>a context-bound assessment, correction, rationale or policy decision by an authorized person — not a label.</a:t>
            </a:r>
          </a:p>
          <a:p>
            <a:pPr algn="l">
              <a:lnSpc>
                <a:spcPct val="118000"/>
              </a:lnSpc>
              <a:spcBef>
                <a:spcPts val="0"/>
              </a:spcBef>
              <a:spcAft>
                <a:spcPts val="700"/>
              </a:spcAft>
            </a:pPr>
            <a:r>
              <a:rPr sz="1150" b="1" i="0">
                <a:solidFill>
                  <a:srgbClr val="0B0B0B"/>
                </a:solidFill>
                <a:latin typeface="Calibri"/>
              </a:rPr>
              <a:t>Expert judgment  </a:t>
            </a:r>
            <a:r>
              <a:rPr sz="1100" b="0" i="0">
                <a:solidFill>
                  <a:srgbClr val="5A6472"/>
                </a:solidFill>
                <a:latin typeface="Calibri"/>
              </a:rPr>
              <a:t>authority tied to domain, language, pedagogical or governance competence; partial and contestable.</a:t>
            </a:r>
          </a:p>
          <a:p>
            <a:pPr algn="l">
              <a:lnSpc>
                <a:spcPct val="118000"/>
              </a:lnSpc>
              <a:spcBef>
                <a:spcPts val="0"/>
              </a:spcBef>
              <a:spcAft>
                <a:spcPts val="700"/>
              </a:spcAft>
            </a:pPr>
            <a:r>
              <a:rPr sz="1150" b="1" i="0">
                <a:solidFill>
                  <a:srgbClr val="0B0B0B"/>
                </a:solidFill>
                <a:latin typeface="Calibri"/>
              </a:rPr>
              <a:t>Substantial variability  </a:t>
            </a:r>
            <a:r>
              <a:rPr sz="1100" b="0" i="0">
                <a:solidFill>
                  <a:srgbClr val="5A6472"/>
                </a:solidFill>
                <a:latin typeface="Calibri"/>
              </a:rPr>
              <a:t>a contextually justified alternative consistent with language semantics and domain logic.</a:t>
            </a:r>
          </a:p>
          <a:p>
            <a:pPr algn="l">
              <a:lnSpc>
                <a:spcPct val="118000"/>
              </a:lnSpc>
              <a:spcBef>
                <a:spcPts val="0"/>
              </a:spcBef>
              <a:spcAft>
                <a:spcPts val="700"/>
              </a:spcAft>
            </a:pPr>
            <a:r>
              <a:rPr sz="1150" b="1" i="0">
                <a:solidFill>
                  <a:srgbClr val="0B0B0B"/>
                </a:solidFill>
                <a:latin typeface="Calibri"/>
              </a:rPr>
              <a:t>Occasional variability  </a:t>
            </a:r>
            <a:r>
              <a:rPr sz="1100" b="0" i="0">
                <a:solidFill>
                  <a:srgbClr val="5A6472"/>
                </a:solidFill>
                <a:latin typeface="Calibri"/>
              </a:rPr>
              <a:t>an error, misconception or non-compliance — the term does not mean rare, which is a construct-validity problem flagged as G6.</a:t>
            </a:r>
          </a:p>
          <a:p>
            <a:pPr algn="l">
              <a:lnSpc>
                <a:spcPct val="118000"/>
              </a:lnSpc>
              <a:spcBef>
                <a:spcPts val="0"/>
              </a:spcBef>
              <a:spcAft>
                <a:spcPts val="700"/>
              </a:spcAft>
            </a:pPr>
            <a:r>
              <a:rPr sz="1150" b="1" i="0">
                <a:solidFill>
                  <a:srgbClr val="0B0B0B"/>
                </a:solidFill>
                <a:latin typeface="Calibri"/>
              </a:rPr>
              <a:t>Reusable judgment  </a:t>
            </a:r>
            <a:r>
              <a:rPr sz="1100" b="0" i="0">
                <a:solidFill>
                  <a:srgbClr val="5A6472"/>
                </a:solidFill>
                <a:latin typeface="Calibri"/>
              </a:rPr>
              <a:t>a governed record retrievable under explicit scope, authority, version and validation conditions.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237744"/>
          </a:xfrm>
          <a:prstGeom prst="rect">
            <a:avLst/>
          </a:prstGeom>
          <a:noFill/>
        </p:spPr>
        <p:txBody>
          <a:bodyPr wrap="square" anchor="t" lIns="0" rIns="0" tIns="0" bIns="0">
            <a:spAutoFit/>
          </a:bodyPr>
          <a:lstStyle/>
          <a:p>
            <a:pPr algn="l">
              <a:spcBef>
                <a:spcPts val="0"/>
              </a:spcBef>
              <a:spcAft>
                <a:spcPts val="0"/>
              </a:spcAft>
            </a:pPr>
            <a:r>
              <a:rPr sz="1150" b="1" i="0">
                <a:solidFill>
                  <a:srgbClr val="2A78D6"/>
                </a:solidFill>
                <a:latin typeface="Calibri"/>
              </a:rPr>
              <a:t>BACKUP · CLAIM DISCIPLINE</a:t>
            </a:r>
          </a:p>
        </p:txBody>
      </p:sp>
      <p:sp>
        <p:nvSpPr>
          <p:cNvPr id="3" name="TextBox 2"/>
          <p:cNvSpPr txBox="1"/>
          <p:nvPr/>
        </p:nvSpPr>
        <p:spPr>
          <a:xfrm>
            <a:off x="566928" y="713232"/>
            <a:ext cx="11057839" cy="553466"/>
          </a:xfrm>
          <a:prstGeom prst="rect">
            <a:avLst/>
          </a:prstGeom>
          <a:noFill/>
        </p:spPr>
        <p:txBody>
          <a:bodyPr wrap="square" anchor="t" lIns="0" rIns="0" tIns="0" bIns="0">
            <a:spAutoFit/>
          </a:bodyPr>
          <a:lstStyle/>
          <a:p>
            <a:pPr algn="l">
              <a:lnSpc>
                <a:spcPct val="110000"/>
              </a:lnSpc>
              <a:spcBef>
                <a:spcPts val="0"/>
              </a:spcBef>
              <a:spcAft>
                <a:spcPts val="0"/>
              </a:spcAft>
            </a:pPr>
            <a:r>
              <a:rPr sz="3100" b="1" i="0">
                <a:solidFill>
                  <a:srgbClr val="0F2740"/>
                </a:solidFill>
                <a:latin typeface="Cambria"/>
              </a:rPr>
              <a:t>Evidence levels and permitted claim language</a:t>
            </a:r>
          </a:p>
        </p:txBody>
      </p:sp>
      <p:sp>
        <p:nvSpPr>
          <p:cNvPr id="4" name="TextBox 3"/>
          <p:cNvSpPr txBox="1"/>
          <p:nvPr/>
        </p:nvSpPr>
        <p:spPr>
          <a:xfrm>
            <a:off x="566928" y="1339850"/>
            <a:ext cx="11057839" cy="294259"/>
          </a:xfrm>
          <a:prstGeom prst="rect">
            <a:avLst/>
          </a:prstGeom>
          <a:noFill/>
        </p:spPr>
        <p:txBody>
          <a:bodyPr wrap="square" anchor="t" lIns="0" rIns="0" tIns="0" bIns="0">
            <a:spAutoFit/>
          </a:bodyPr>
          <a:lstStyle/>
          <a:p>
            <a:pPr algn="l">
              <a:lnSpc>
                <a:spcPct val="118000"/>
              </a:lnSpc>
              <a:spcBef>
                <a:spcPts val="0"/>
              </a:spcBef>
              <a:spcAft>
                <a:spcPts val="0"/>
              </a:spcAft>
            </a:pPr>
            <a:r>
              <a:rPr sz="1450" b="0" i="0">
                <a:solidFill>
                  <a:srgbClr val="5A6472"/>
                </a:solidFill>
                <a:latin typeface="Calibri"/>
              </a:rPr>
              <a:t>Every statement in the review is bounded by the maturity of the evidence behind it.</a:t>
            </a:r>
          </a:p>
        </p:txBody>
      </p:sp>
      <p:sp>
        <p:nvSpPr>
          <p:cNvPr id="5" name="Rounded Rectangle 4"/>
          <p:cNvSpPr/>
          <p:nvPr/>
        </p:nvSpPr>
        <p:spPr>
          <a:xfrm>
            <a:off x="566928" y="1780413"/>
            <a:ext cx="11057839" cy="777773"/>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04672" y="1835277"/>
            <a:ext cx="1234440" cy="668045"/>
          </a:xfrm>
          <a:prstGeom prst="rect">
            <a:avLst/>
          </a:prstGeom>
          <a:noFill/>
        </p:spPr>
        <p:txBody>
          <a:bodyPr wrap="square" anchor="ctr" lIns="0" rIns="0" tIns="0" bIns="0">
            <a:spAutoFit/>
          </a:bodyPr>
          <a:lstStyle/>
          <a:p>
            <a:pPr algn="l">
              <a:spcBef>
                <a:spcPts val="0"/>
              </a:spcBef>
              <a:spcAft>
                <a:spcPts val="0"/>
              </a:spcAft>
            </a:pPr>
            <a:r>
              <a:rPr sz="1350" b="1" i="0">
                <a:solidFill>
                  <a:srgbClr val="0CA30C"/>
                </a:solidFill>
                <a:latin typeface="Cambria"/>
              </a:rPr>
              <a:t>FT-A</a:t>
            </a:r>
          </a:p>
        </p:txBody>
      </p:sp>
      <p:sp>
        <p:nvSpPr>
          <p:cNvPr id="7" name="TextBox 6"/>
          <p:cNvSpPr txBox="1"/>
          <p:nvPr/>
        </p:nvSpPr>
        <p:spPr>
          <a:xfrm>
            <a:off x="2167128" y="1835277"/>
            <a:ext cx="5120640" cy="668045"/>
          </a:xfrm>
          <a:prstGeom prst="rect">
            <a:avLst/>
          </a:prstGeom>
          <a:noFill/>
        </p:spPr>
        <p:txBody>
          <a:bodyPr wrap="square" anchor="ctr" lIns="0" rIns="0" tIns="0" bIns="0">
            <a:spAutoFit/>
          </a:bodyPr>
          <a:lstStyle/>
          <a:p>
            <a:pPr algn="l">
              <a:lnSpc>
                <a:spcPct val="116000"/>
              </a:lnSpc>
              <a:spcBef>
                <a:spcPts val="0"/>
              </a:spcBef>
              <a:spcAft>
                <a:spcPts val="0"/>
              </a:spcAft>
            </a:pPr>
            <a:r>
              <a:rPr sz="1100" b="0" i="0">
                <a:solidFill>
                  <a:srgbClr val="5A6472"/>
                </a:solidFill>
                <a:latin typeface="Calibri"/>
              </a:rPr>
              <a:t>Official or author-hosted full text reviewed for method, finding and limitation.  Current count: 14.</a:t>
            </a:r>
          </a:p>
        </p:txBody>
      </p:sp>
      <p:sp>
        <p:nvSpPr>
          <p:cNvPr id="8" name="TextBox 7"/>
          <p:cNvSpPr txBox="1"/>
          <p:nvPr/>
        </p:nvSpPr>
        <p:spPr>
          <a:xfrm>
            <a:off x="7470648" y="1835277"/>
            <a:ext cx="4069080" cy="668045"/>
          </a:xfrm>
          <a:prstGeom prst="rect">
            <a:avLst/>
          </a:prstGeom>
          <a:noFill/>
        </p:spPr>
        <p:txBody>
          <a:bodyPr wrap="square" anchor="ctr" lIns="0" rIns="0" tIns="0" bIns="0">
            <a:spAutoFit/>
          </a:bodyPr>
          <a:lstStyle/>
          <a:p>
            <a:pPr algn="l">
              <a:lnSpc>
                <a:spcPct val="116000"/>
              </a:lnSpc>
              <a:spcBef>
                <a:spcPts val="0"/>
              </a:spcBef>
              <a:spcAft>
                <a:spcPts val="0"/>
              </a:spcAft>
            </a:pPr>
            <a:r>
              <a:rPr sz="1100" b="1" i="0">
                <a:solidFill>
                  <a:srgbClr val="0B0B0B"/>
                </a:solidFill>
                <a:latin typeface="Calibri"/>
              </a:rPr>
              <a:t>May support bounded detailed claims with a locator.</a:t>
            </a:r>
          </a:p>
        </p:txBody>
      </p:sp>
      <p:sp>
        <p:nvSpPr>
          <p:cNvPr id="9" name="Rounded Rectangle 8"/>
          <p:cNvSpPr/>
          <p:nvPr/>
        </p:nvSpPr>
        <p:spPr>
          <a:xfrm>
            <a:off x="566928" y="2649626"/>
            <a:ext cx="11057839" cy="777773"/>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04672" y="2704490"/>
            <a:ext cx="1234440" cy="668045"/>
          </a:xfrm>
          <a:prstGeom prst="rect">
            <a:avLst/>
          </a:prstGeom>
          <a:noFill/>
        </p:spPr>
        <p:txBody>
          <a:bodyPr wrap="square" anchor="ctr" lIns="0" rIns="0" tIns="0" bIns="0">
            <a:spAutoFit/>
          </a:bodyPr>
          <a:lstStyle/>
          <a:p>
            <a:pPr algn="l">
              <a:spcBef>
                <a:spcPts val="0"/>
              </a:spcBef>
              <a:spcAft>
                <a:spcPts val="0"/>
              </a:spcAft>
            </a:pPr>
            <a:r>
              <a:rPr sz="1350" b="1" i="0">
                <a:solidFill>
                  <a:srgbClr val="2A78D6"/>
                </a:solidFill>
                <a:latin typeface="Cambria"/>
              </a:rPr>
              <a:t>FT-B</a:t>
            </a:r>
          </a:p>
        </p:txBody>
      </p:sp>
      <p:sp>
        <p:nvSpPr>
          <p:cNvPr id="11" name="TextBox 10"/>
          <p:cNvSpPr txBox="1"/>
          <p:nvPr/>
        </p:nvSpPr>
        <p:spPr>
          <a:xfrm>
            <a:off x="2167128" y="2704490"/>
            <a:ext cx="5120640" cy="668045"/>
          </a:xfrm>
          <a:prstGeom prst="rect">
            <a:avLst/>
          </a:prstGeom>
          <a:noFill/>
        </p:spPr>
        <p:txBody>
          <a:bodyPr wrap="square" anchor="ctr" lIns="0" rIns="0" tIns="0" bIns="0">
            <a:spAutoFit/>
          </a:bodyPr>
          <a:lstStyle/>
          <a:p>
            <a:pPr algn="l">
              <a:lnSpc>
                <a:spcPct val="116000"/>
              </a:lnSpc>
              <a:spcBef>
                <a:spcPts val="0"/>
              </a:spcBef>
              <a:spcAft>
                <a:spcPts val="0"/>
              </a:spcAft>
            </a:pPr>
            <a:r>
              <a:rPr sz="1100" b="0" i="0">
                <a:solidFill>
                  <a:srgbClr val="5A6472"/>
                </a:solidFill>
                <a:latin typeface="Calibri"/>
              </a:rPr>
              <a:t>Substantial authoritative excerpt or repository record reviewed; full article not fully inspected.  Current count: 6.</a:t>
            </a:r>
          </a:p>
        </p:txBody>
      </p:sp>
      <p:sp>
        <p:nvSpPr>
          <p:cNvPr id="12" name="TextBox 11"/>
          <p:cNvSpPr txBox="1"/>
          <p:nvPr/>
        </p:nvSpPr>
        <p:spPr>
          <a:xfrm>
            <a:off x="7470648" y="2704490"/>
            <a:ext cx="4069080" cy="668045"/>
          </a:xfrm>
          <a:prstGeom prst="rect">
            <a:avLst/>
          </a:prstGeom>
          <a:noFill/>
        </p:spPr>
        <p:txBody>
          <a:bodyPr wrap="square" anchor="ctr" lIns="0" rIns="0" tIns="0" bIns="0">
            <a:spAutoFit/>
          </a:bodyPr>
          <a:lstStyle/>
          <a:p>
            <a:pPr algn="l">
              <a:lnSpc>
                <a:spcPct val="116000"/>
              </a:lnSpc>
              <a:spcBef>
                <a:spcPts val="0"/>
              </a:spcBef>
              <a:spcAft>
                <a:spcPts val="0"/>
              </a:spcAft>
            </a:pPr>
            <a:r>
              <a:rPr sz="1100" b="1" i="0">
                <a:solidFill>
                  <a:srgbClr val="0B0B0B"/>
                </a:solidFill>
                <a:latin typeface="Calibri"/>
              </a:rPr>
              <a:t>May support only the directly visible claim.</a:t>
            </a:r>
          </a:p>
        </p:txBody>
      </p:sp>
      <p:sp>
        <p:nvSpPr>
          <p:cNvPr id="13" name="Rounded Rectangle 12"/>
          <p:cNvSpPr/>
          <p:nvPr/>
        </p:nvSpPr>
        <p:spPr>
          <a:xfrm>
            <a:off x="566928" y="3518839"/>
            <a:ext cx="11057839" cy="777773"/>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2" y="3573703"/>
            <a:ext cx="1234440" cy="668045"/>
          </a:xfrm>
          <a:prstGeom prst="rect">
            <a:avLst/>
          </a:prstGeom>
          <a:noFill/>
        </p:spPr>
        <p:txBody>
          <a:bodyPr wrap="square" anchor="ctr" lIns="0" rIns="0" tIns="0" bIns="0">
            <a:spAutoFit/>
          </a:bodyPr>
          <a:lstStyle/>
          <a:p>
            <a:pPr algn="l">
              <a:spcBef>
                <a:spcPts val="0"/>
              </a:spcBef>
              <a:spcAft>
                <a:spcPts val="0"/>
              </a:spcAft>
            </a:pPr>
            <a:r>
              <a:rPr sz="1350" b="1" i="0">
                <a:solidFill>
                  <a:srgbClr val="5A6472"/>
                </a:solidFill>
                <a:latin typeface="Cambria"/>
              </a:rPr>
              <a:t>ID-S</a:t>
            </a:r>
          </a:p>
        </p:txBody>
      </p:sp>
      <p:sp>
        <p:nvSpPr>
          <p:cNvPr id="15" name="TextBox 14"/>
          <p:cNvSpPr txBox="1"/>
          <p:nvPr/>
        </p:nvSpPr>
        <p:spPr>
          <a:xfrm>
            <a:off x="2167128" y="3573703"/>
            <a:ext cx="5120640" cy="668045"/>
          </a:xfrm>
          <a:prstGeom prst="rect">
            <a:avLst/>
          </a:prstGeom>
          <a:noFill/>
        </p:spPr>
        <p:txBody>
          <a:bodyPr wrap="square" anchor="ctr" lIns="0" rIns="0" tIns="0" bIns="0">
            <a:spAutoFit/>
          </a:bodyPr>
          <a:lstStyle/>
          <a:p>
            <a:pPr algn="l">
              <a:lnSpc>
                <a:spcPct val="116000"/>
              </a:lnSpc>
              <a:spcBef>
                <a:spcPts val="0"/>
              </a:spcBef>
              <a:spcAft>
                <a:spcPts val="0"/>
              </a:spcAft>
            </a:pPr>
            <a:r>
              <a:rPr sz="1100" b="0" i="0">
                <a:solidFill>
                  <a:srgbClr val="5A6472"/>
                </a:solidFill>
                <a:latin typeface="Calibri"/>
              </a:rPr>
              <a:t>Bibliographic identity verified — title, venue, DOI or authoritative record checked.</a:t>
            </a:r>
          </a:p>
        </p:txBody>
      </p:sp>
      <p:sp>
        <p:nvSpPr>
          <p:cNvPr id="16" name="TextBox 15"/>
          <p:cNvSpPr txBox="1"/>
          <p:nvPr/>
        </p:nvSpPr>
        <p:spPr>
          <a:xfrm>
            <a:off x="7470648" y="3573703"/>
            <a:ext cx="4069080" cy="668045"/>
          </a:xfrm>
          <a:prstGeom prst="rect">
            <a:avLst/>
          </a:prstGeom>
          <a:noFill/>
        </p:spPr>
        <p:txBody>
          <a:bodyPr wrap="square" anchor="ctr" lIns="0" rIns="0" tIns="0" bIns="0">
            <a:spAutoFit/>
          </a:bodyPr>
          <a:lstStyle/>
          <a:p>
            <a:pPr algn="l">
              <a:lnSpc>
                <a:spcPct val="116000"/>
              </a:lnSpc>
              <a:spcBef>
                <a:spcPts val="0"/>
              </a:spcBef>
              <a:spcAft>
                <a:spcPts val="0"/>
              </a:spcAft>
            </a:pPr>
            <a:r>
              <a:rPr sz="1100" b="1" i="0">
                <a:solidFill>
                  <a:srgbClr val="0B0B0B"/>
                </a:solidFill>
                <a:latin typeface="Calibri"/>
              </a:rPr>
              <a:t>Discovery and candidate relevance only.</a:t>
            </a:r>
          </a:p>
        </p:txBody>
      </p:sp>
      <p:sp>
        <p:nvSpPr>
          <p:cNvPr id="17" name="Rounded Rectangle 16"/>
          <p:cNvSpPr/>
          <p:nvPr/>
        </p:nvSpPr>
        <p:spPr>
          <a:xfrm>
            <a:off x="566928" y="4388053"/>
            <a:ext cx="11057839" cy="777773"/>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04672" y="4442917"/>
            <a:ext cx="1234440" cy="668045"/>
          </a:xfrm>
          <a:prstGeom prst="rect">
            <a:avLst/>
          </a:prstGeom>
          <a:noFill/>
        </p:spPr>
        <p:txBody>
          <a:bodyPr wrap="square" anchor="ctr" lIns="0" rIns="0" tIns="0" bIns="0">
            <a:spAutoFit/>
          </a:bodyPr>
          <a:lstStyle/>
          <a:p>
            <a:pPr algn="l">
              <a:spcBef>
                <a:spcPts val="0"/>
              </a:spcBef>
              <a:spcAft>
                <a:spcPts val="0"/>
              </a:spcAft>
            </a:pPr>
            <a:r>
              <a:rPr sz="1350" b="1" i="0">
                <a:solidFill>
                  <a:srgbClr val="5A6472"/>
                </a:solidFill>
                <a:latin typeface="Cambria"/>
              </a:rPr>
              <a:t>AB-S</a:t>
            </a:r>
          </a:p>
        </p:txBody>
      </p:sp>
      <p:sp>
        <p:nvSpPr>
          <p:cNvPr id="19" name="TextBox 18"/>
          <p:cNvSpPr txBox="1"/>
          <p:nvPr/>
        </p:nvSpPr>
        <p:spPr>
          <a:xfrm>
            <a:off x="2167128" y="4442917"/>
            <a:ext cx="5120640" cy="668045"/>
          </a:xfrm>
          <a:prstGeom prst="rect">
            <a:avLst/>
          </a:prstGeom>
          <a:noFill/>
        </p:spPr>
        <p:txBody>
          <a:bodyPr wrap="square" anchor="ctr" lIns="0" rIns="0" tIns="0" bIns="0">
            <a:spAutoFit/>
          </a:bodyPr>
          <a:lstStyle/>
          <a:p>
            <a:pPr algn="l">
              <a:lnSpc>
                <a:spcPct val="116000"/>
              </a:lnSpc>
              <a:spcBef>
                <a:spcPts val="0"/>
              </a:spcBef>
              <a:spcAft>
                <a:spcPts val="0"/>
              </a:spcAft>
            </a:pPr>
            <a:r>
              <a:rPr sz="1100" b="0" i="0">
                <a:solidFill>
                  <a:srgbClr val="5A6472"/>
                </a:solidFill>
                <a:latin typeface="Calibri"/>
              </a:rPr>
              <a:t>Title or abstract screened without sufficient full-text evidence.</a:t>
            </a:r>
          </a:p>
        </p:txBody>
      </p:sp>
      <p:sp>
        <p:nvSpPr>
          <p:cNvPr id="20" name="TextBox 19"/>
          <p:cNvSpPr txBox="1"/>
          <p:nvPr/>
        </p:nvSpPr>
        <p:spPr>
          <a:xfrm>
            <a:off x="7470648" y="4442917"/>
            <a:ext cx="4069080" cy="668045"/>
          </a:xfrm>
          <a:prstGeom prst="rect">
            <a:avLst/>
          </a:prstGeom>
          <a:noFill/>
        </p:spPr>
        <p:txBody>
          <a:bodyPr wrap="square" anchor="ctr" lIns="0" rIns="0" tIns="0" bIns="0">
            <a:spAutoFit/>
          </a:bodyPr>
          <a:lstStyle/>
          <a:p>
            <a:pPr algn="l">
              <a:lnSpc>
                <a:spcPct val="116000"/>
              </a:lnSpc>
              <a:spcBef>
                <a:spcPts val="0"/>
              </a:spcBef>
              <a:spcAft>
                <a:spcPts val="0"/>
              </a:spcAft>
            </a:pPr>
            <a:r>
              <a:rPr sz="1100" b="1" i="0">
                <a:solidFill>
                  <a:srgbClr val="0B0B0B"/>
                </a:solidFill>
                <a:latin typeface="Calibri"/>
              </a:rPr>
              <a:t>Search-space description only — never gap proof.</a:t>
            </a:r>
          </a:p>
        </p:txBody>
      </p:sp>
      <p:sp>
        <p:nvSpPr>
          <p:cNvPr id="21" name="Rounded Rectangle 20"/>
          <p:cNvSpPr/>
          <p:nvPr/>
        </p:nvSpPr>
        <p:spPr>
          <a:xfrm>
            <a:off x="566928" y="5257266"/>
            <a:ext cx="11057839" cy="777773"/>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4672" y="5312130"/>
            <a:ext cx="1234440" cy="668045"/>
          </a:xfrm>
          <a:prstGeom prst="rect">
            <a:avLst/>
          </a:prstGeom>
          <a:noFill/>
        </p:spPr>
        <p:txBody>
          <a:bodyPr wrap="square" anchor="ctr" lIns="0" rIns="0" tIns="0" bIns="0">
            <a:spAutoFit/>
          </a:bodyPr>
          <a:lstStyle/>
          <a:p>
            <a:pPr algn="l">
              <a:spcBef>
                <a:spcPts val="0"/>
              </a:spcBef>
              <a:spcAft>
                <a:spcPts val="0"/>
              </a:spcAft>
            </a:pPr>
            <a:r>
              <a:rPr sz="1350" b="1" i="0">
                <a:solidFill>
                  <a:srgbClr val="D03B3B"/>
                </a:solidFill>
                <a:latin typeface="Cambria"/>
              </a:rPr>
              <a:t>Synthesis</a:t>
            </a:r>
          </a:p>
        </p:txBody>
      </p:sp>
      <p:sp>
        <p:nvSpPr>
          <p:cNvPr id="23" name="TextBox 22"/>
          <p:cNvSpPr txBox="1"/>
          <p:nvPr/>
        </p:nvSpPr>
        <p:spPr>
          <a:xfrm>
            <a:off x="2167128" y="5312130"/>
            <a:ext cx="5120640" cy="668045"/>
          </a:xfrm>
          <a:prstGeom prst="rect">
            <a:avLst/>
          </a:prstGeom>
          <a:noFill/>
        </p:spPr>
        <p:txBody>
          <a:bodyPr wrap="square" anchor="ctr" lIns="0" rIns="0" tIns="0" bIns="0">
            <a:spAutoFit/>
          </a:bodyPr>
          <a:lstStyle/>
          <a:p>
            <a:pPr algn="l">
              <a:lnSpc>
                <a:spcPct val="116000"/>
              </a:lnSpc>
              <a:spcBef>
                <a:spcPts val="0"/>
              </a:spcBef>
              <a:spcAft>
                <a:spcPts val="0"/>
              </a:spcAft>
            </a:pPr>
            <a:r>
              <a:rPr sz="1100" b="0" i="0">
                <a:solidFill>
                  <a:srgbClr val="5A6472"/>
                </a:solidFill>
                <a:latin typeface="Calibri"/>
              </a:rPr>
              <a:t>Reasoning that integrates sources or proposes a mechanism.</a:t>
            </a:r>
          </a:p>
        </p:txBody>
      </p:sp>
      <p:sp>
        <p:nvSpPr>
          <p:cNvPr id="24" name="TextBox 23"/>
          <p:cNvSpPr txBox="1"/>
          <p:nvPr/>
        </p:nvSpPr>
        <p:spPr>
          <a:xfrm>
            <a:off x="7470648" y="5312130"/>
            <a:ext cx="4069080" cy="668045"/>
          </a:xfrm>
          <a:prstGeom prst="rect">
            <a:avLst/>
          </a:prstGeom>
          <a:noFill/>
        </p:spPr>
        <p:txBody>
          <a:bodyPr wrap="square" anchor="ctr" lIns="0" rIns="0" tIns="0" bIns="0">
            <a:spAutoFit/>
          </a:bodyPr>
          <a:lstStyle/>
          <a:p>
            <a:pPr algn="l">
              <a:lnSpc>
                <a:spcPct val="116000"/>
              </a:lnSpc>
              <a:spcBef>
                <a:spcPts val="0"/>
              </a:spcBef>
              <a:spcAft>
                <a:spcPts val="0"/>
              </a:spcAft>
            </a:pPr>
            <a:r>
              <a:rPr sz="1100" b="1" i="0">
                <a:solidFill>
                  <a:srgbClr val="0B0B0B"/>
                </a:solidFill>
                <a:latin typeface="Calibri"/>
              </a:rPr>
              <a:t>Must be labelled synthesis, implication or research hypothesis.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237744"/>
          </a:xfrm>
          <a:prstGeom prst="rect">
            <a:avLst/>
          </a:prstGeom>
          <a:noFill/>
        </p:spPr>
        <p:txBody>
          <a:bodyPr wrap="square" anchor="t" lIns="0" rIns="0" tIns="0" bIns="0">
            <a:spAutoFit/>
          </a:bodyPr>
          <a:lstStyle/>
          <a:p>
            <a:pPr algn="l">
              <a:spcBef>
                <a:spcPts val="0"/>
              </a:spcBef>
              <a:spcAft>
                <a:spcPts val="0"/>
              </a:spcAft>
            </a:pPr>
            <a:r>
              <a:rPr sz="1150" b="1" i="0">
                <a:solidFill>
                  <a:srgbClr val="2A78D6"/>
                </a:solidFill>
                <a:latin typeface="Calibri"/>
              </a:rPr>
              <a:t>BACKUP · PROVISIONAL ANSWER</a:t>
            </a:r>
          </a:p>
        </p:txBody>
      </p:sp>
      <p:sp>
        <p:nvSpPr>
          <p:cNvPr id="3" name="TextBox 2"/>
          <p:cNvSpPr txBox="1"/>
          <p:nvPr/>
        </p:nvSpPr>
        <p:spPr>
          <a:xfrm>
            <a:off x="566928" y="713232"/>
            <a:ext cx="11057839" cy="1033780"/>
          </a:xfrm>
          <a:prstGeom prst="rect">
            <a:avLst/>
          </a:prstGeom>
          <a:noFill/>
        </p:spPr>
        <p:txBody>
          <a:bodyPr wrap="square" anchor="t" lIns="0" rIns="0" tIns="0" bIns="0">
            <a:spAutoFit/>
          </a:bodyPr>
          <a:lstStyle/>
          <a:p>
            <a:pPr algn="l">
              <a:lnSpc>
                <a:spcPct val="110000"/>
              </a:lnSpc>
              <a:spcBef>
                <a:spcPts val="0"/>
              </a:spcBef>
              <a:spcAft>
                <a:spcPts val="0"/>
              </a:spcAft>
            </a:pPr>
            <a:r>
              <a:rPr sz="3100" b="1" i="0">
                <a:solidFill>
                  <a:srgbClr val="0F2740"/>
                </a:solidFill>
                <a:latin typeface="Cambria"/>
              </a:rPr>
              <a:t>SQ1 — selective intervention is a resource-allocation problem</a:t>
            </a:r>
          </a:p>
        </p:txBody>
      </p:sp>
      <p:sp>
        <p:nvSpPr>
          <p:cNvPr id="4" name="TextBox 3"/>
          <p:cNvSpPr txBox="1"/>
          <p:nvPr/>
        </p:nvSpPr>
        <p:spPr>
          <a:xfrm>
            <a:off x="566928" y="1820164"/>
            <a:ext cx="11057839" cy="294259"/>
          </a:xfrm>
          <a:prstGeom prst="rect">
            <a:avLst/>
          </a:prstGeom>
          <a:noFill/>
        </p:spPr>
        <p:txBody>
          <a:bodyPr wrap="square" anchor="t" lIns="0" rIns="0" tIns="0" bIns="0">
            <a:spAutoFit/>
          </a:bodyPr>
          <a:lstStyle/>
          <a:p>
            <a:pPr algn="l">
              <a:lnSpc>
                <a:spcPct val="118000"/>
              </a:lnSpc>
              <a:spcBef>
                <a:spcPts val="0"/>
              </a:spcBef>
              <a:spcAft>
                <a:spcPts val="0"/>
              </a:spcAft>
            </a:pPr>
            <a:r>
              <a:rPr sz="1450" b="0" i="0">
                <a:solidFill>
                  <a:srgbClr val="5A6472"/>
                </a:solidFill>
                <a:latin typeface="Calibri"/>
              </a:rPr>
              <a:t>Uncertainty alone is insufficient. Priority must also weigh consequence, novelty, disagreement, reuse value and burden.</a:t>
            </a:r>
          </a:p>
        </p:txBody>
      </p:sp>
      <p:sp>
        <p:nvSpPr>
          <p:cNvPr id="5" name="Rounded Rectangle 4"/>
          <p:cNvSpPr/>
          <p:nvPr/>
        </p:nvSpPr>
        <p:spPr>
          <a:xfrm>
            <a:off x="566928" y="2260727"/>
            <a:ext cx="5410047" cy="3474720"/>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2461895"/>
            <a:ext cx="4897983" cy="3108960"/>
          </a:xfrm>
          <a:prstGeom prst="rect">
            <a:avLst/>
          </a:prstGeom>
          <a:noFill/>
        </p:spPr>
        <p:txBody>
          <a:bodyPr wrap="square" anchor="t" lIns="0" rIns="0" tIns="0" bIns="0">
            <a:spAutoFit/>
          </a:bodyPr>
          <a:lstStyle/>
          <a:p>
            <a:pPr algn="l">
              <a:spcBef>
                <a:spcPts val="0"/>
              </a:spcBef>
              <a:spcAft>
                <a:spcPts val="900"/>
              </a:spcAft>
            </a:pPr>
            <a:r>
              <a:rPr sz="1450" b="1" i="0">
                <a:solidFill>
                  <a:srgbClr val="0F2740"/>
                </a:solidFill>
                <a:latin typeface="Cambria"/>
              </a:rPr>
              <a:t>Trigger signals</a:t>
            </a:r>
          </a:p>
          <a:p>
            <a:pPr algn="l">
              <a:lnSpc>
                <a:spcPct val="120000"/>
              </a:lnSpc>
              <a:spcBef>
                <a:spcPts val="0"/>
              </a:spcBef>
              <a:spcAft>
                <a:spcPts val="600"/>
              </a:spcAft>
            </a:pPr>
            <a:r>
              <a:rPr sz="1200" b="0" i="0">
                <a:solidFill>
                  <a:srgbClr val="5A6472"/>
                </a:solidFill>
                <a:latin typeface="Calibri"/>
              </a:rPr>
              <a:t>•  Calibrated uncertainty</a:t>
            </a:r>
          </a:p>
          <a:p>
            <a:pPr algn="l">
              <a:lnSpc>
                <a:spcPct val="120000"/>
              </a:lnSpc>
              <a:spcBef>
                <a:spcPts val="0"/>
              </a:spcBef>
              <a:spcAft>
                <a:spcPts val="600"/>
              </a:spcAft>
            </a:pPr>
            <a:r>
              <a:rPr sz="1200" b="0" i="0">
                <a:solidFill>
                  <a:srgbClr val="5A6472"/>
                </a:solidFill>
                <a:latin typeface="Calibri"/>
              </a:rPr>
              <a:t>•  Cross-agent disagreement</a:t>
            </a:r>
          </a:p>
          <a:p>
            <a:pPr algn="l">
              <a:lnSpc>
                <a:spcPct val="120000"/>
              </a:lnSpc>
              <a:spcBef>
                <a:spcPts val="0"/>
              </a:spcBef>
              <a:spcAft>
                <a:spcPts val="600"/>
              </a:spcAft>
            </a:pPr>
            <a:r>
              <a:rPr sz="1200" b="0" i="0">
                <a:solidFill>
                  <a:srgbClr val="5A6472"/>
                </a:solidFill>
                <a:latin typeface="Calibri"/>
              </a:rPr>
              <a:t>•  Novelty or coverage gap</a:t>
            </a:r>
          </a:p>
          <a:p>
            <a:pPr algn="l">
              <a:lnSpc>
                <a:spcPct val="120000"/>
              </a:lnSpc>
              <a:spcBef>
                <a:spcPts val="0"/>
              </a:spcBef>
              <a:spcAft>
                <a:spcPts val="600"/>
              </a:spcAft>
            </a:pPr>
            <a:r>
              <a:rPr sz="1200" b="0" i="0">
                <a:solidFill>
                  <a:srgbClr val="5A6472"/>
                </a:solidFill>
                <a:latin typeface="Calibri"/>
              </a:rPr>
              <a:t>•  Consequence and policy importance</a:t>
            </a:r>
          </a:p>
          <a:p>
            <a:pPr algn="l">
              <a:lnSpc>
                <a:spcPct val="120000"/>
              </a:lnSpc>
              <a:spcBef>
                <a:spcPts val="0"/>
              </a:spcBef>
              <a:spcAft>
                <a:spcPts val="600"/>
              </a:spcAft>
            </a:pPr>
            <a:r>
              <a:rPr sz="1200" b="0" i="0">
                <a:solidFill>
                  <a:srgbClr val="5A6472"/>
                </a:solidFill>
                <a:latin typeface="Calibri"/>
              </a:rPr>
              <a:t>•  Weak underlying evidence</a:t>
            </a:r>
          </a:p>
          <a:p>
            <a:pPr algn="l">
              <a:lnSpc>
                <a:spcPct val="120000"/>
              </a:lnSpc>
              <a:spcBef>
                <a:spcPts val="0"/>
              </a:spcBef>
              <a:spcAft>
                <a:spcPts val="600"/>
              </a:spcAft>
            </a:pPr>
            <a:r>
              <a:rPr sz="1200" b="0" i="0">
                <a:solidFill>
                  <a:srgbClr val="5A6472"/>
                </a:solidFill>
                <a:latin typeface="Calibri"/>
              </a:rPr>
              <a:t>•  Expected value of information</a:t>
            </a:r>
          </a:p>
          <a:p>
            <a:pPr algn="l">
              <a:lnSpc>
                <a:spcPct val="120000"/>
              </a:lnSpc>
              <a:spcBef>
                <a:spcPts val="0"/>
              </a:spcBef>
              <a:spcAft>
                <a:spcPts val="600"/>
              </a:spcAft>
            </a:pPr>
            <a:r>
              <a:rPr sz="1200" b="0" i="0">
                <a:solidFill>
                  <a:srgbClr val="5A6472"/>
                </a:solidFill>
                <a:latin typeface="Calibri"/>
              </a:rPr>
              <a:t>•  Reviewer burden and queue state</a:t>
            </a:r>
          </a:p>
        </p:txBody>
      </p:sp>
      <p:sp>
        <p:nvSpPr>
          <p:cNvPr id="7" name="Rounded Rectangle 6"/>
          <p:cNvSpPr/>
          <p:nvPr/>
        </p:nvSpPr>
        <p:spPr>
          <a:xfrm>
            <a:off x="6214719" y="2260727"/>
            <a:ext cx="5410047" cy="3474720"/>
          </a:xfrm>
          <a:prstGeom prst="roundRect">
            <a:avLst>
              <a:gd name="adj" fmla="val 4000"/>
            </a:avLst>
          </a:prstGeom>
          <a:solidFill>
            <a:srgbClr val="FFFFFF"/>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70751" y="2461895"/>
            <a:ext cx="4897983" cy="3108960"/>
          </a:xfrm>
          <a:prstGeom prst="rect">
            <a:avLst/>
          </a:prstGeom>
          <a:noFill/>
        </p:spPr>
        <p:txBody>
          <a:bodyPr wrap="square" anchor="t" lIns="0" rIns="0" tIns="0" bIns="0">
            <a:spAutoFit/>
          </a:bodyPr>
          <a:lstStyle/>
          <a:p>
            <a:pPr algn="l">
              <a:spcBef>
                <a:spcPts val="0"/>
              </a:spcBef>
              <a:spcAft>
                <a:spcPts val="900"/>
              </a:spcAft>
            </a:pPr>
            <a:r>
              <a:rPr sz="1450" b="1" i="0">
                <a:solidFill>
                  <a:srgbClr val="0F2740"/>
                </a:solidFill>
                <a:latin typeface="Cambria"/>
              </a:rPr>
              <a:t>Intervention modes</a:t>
            </a:r>
          </a:p>
          <a:p>
            <a:pPr algn="l">
              <a:lnSpc>
                <a:spcPct val="120000"/>
              </a:lnSpc>
              <a:spcBef>
                <a:spcPts val="0"/>
              </a:spcBef>
              <a:spcAft>
                <a:spcPts val="800"/>
              </a:spcAft>
            </a:pPr>
            <a:r>
              <a:rPr sz="1200" b="1" i="0">
                <a:solidFill>
                  <a:srgbClr val="0B0B0B"/>
                </a:solidFill>
                <a:latin typeface="Calibri"/>
              </a:rPr>
              <a:t>Proceed and log  </a:t>
            </a:r>
            <a:r>
              <a:rPr sz="1200" b="0" i="0">
                <a:solidFill>
                  <a:srgbClr val="5A6472"/>
                </a:solidFill>
                <a:latin typeface="Calibri"/>
              </a:rPr>
              <a:t>low impact, familiar</a:t>
            </a:r>
          </a:p>
          <a:p>
            <a:pPr algn="l">
              <a:lnSpc>
                <a:spcPct val="120000"/>
              </a:lnSpc>
              <a:spcBef>
                <a:spcPts val="0"/>
              </a:spcBef>
              <a:spcAft>
                <a:spcPts val="800"/>
              </a:spcAft>
            </a:pPr>
            <a:r>
              <a:rPr sz="1200" b="1" i="0">
                <a:solidFill>
                  <a:srgbClr val="0B0B0B"/>
                </a:solidFill>
                <a:latin typeface="Calibri"/>
              </a:rPr>
              <a:t>Focused review  </a:t>
            </a:r>
            <a:r>
              <a:rPr sz="1200" b="0" i="0">
                <a:solidFill>
                  <a:srgbClr val="5A6472"/>
                </a:solidFill>
                <a:latin typeface="Calibri"/>
              </a:rPr>
              <a:t>uncertain but bounded</a:t>
            </a:r>
          </a:p>
          <a:p>
            <a:pPr algn="l">
              <a:lnSpc>
                <a:spcPct val="120000"/>
              </a:lnSpc>
              <a:spcBef>
                <a:spcPts val="0"/>
              </a:spcBef>
              <a:spcAft>
                <a:spcPts val="800"/>
              </a:spcAft>
            </a:pPr>
            <a:r>
              <a:rPr sz="1200" b="1" i="0">
                <a:solidFill>
                  <a:srgbClr val="0B0B0B"/>
                </a:solidFill>
                <a:latin typeface="Calibri"/>
              </a:rPr>
              <a:t>Queue or batch review  </a:t>
            </a:r>
            <a:r>
              <a:rPr sz="1200" b="0" i="0">
                <a:solidFill>
                  <a:srgbClr val="5A6472"/>
                </a:solidFill>
                <a:latin typeface="Calibri"/>
              </a:rPr>
              <a:t>important, not urgent</a:t>
            </a:r>
          </a:p>
          <a:p>
            <a:pPr algn="l">
              <a:lnSpc>
                <a:spcPct val="120000"/>
              </a:lnSpc>
              <a:spcBef>
                <a:spcPts val="0"/>
              </a:spcBef>
              <a:spcAft>
                <a:spcPts val="800"/>
              </a:spcAft>
            </a:pPr>
            <a:r>
              <a:rPr sz="1200" b="1" i="0">
                <a:solidFill>
                  <a:srgbClr val="0B0B0B"/>
                </a:solidFill>
                <a:latin typeface="Calibri"/>
              </a:rPr>
              <a:t>Interrupt or stop  </a:t>
            </a:r>
            <a:r>
              <a:rPr sz="1200" b="0" i="0">
                <a:solidFill>
                  <a:srgbClr val="5A6472"/>
                </a:solidFill>
                <a:latin typeface="Calibri"/>
              </a:rPr>
              <a:t>high consequence</a:t>
            </a:r>
          </a:p>
          <a:p>
            <a:pPr algn="l">
              <a:lnSpc>
                <a:spcPct val="122000"/>
              </a:lnSpc>
              <a:spcBef>
                <a:spcPts val="600"/>
              </a:spcBef>
              <a:spcAft>
                <a:spcPts val="0"/>
              </a:spcAft>
            </a:pPr>
            <a:r>
              <a:rPr sz="1150" b="0" i="1">
                <a:solidFill>
                  <a:srgbClr val="0F2740"/>
                </a:solidFill>
                <a:latin typeface="Calibri"/>
              </a:rPr>
              <a:t>Provisional answer: request judgment when the expected value of expert information exceeds review burden and interruption risk — targeting the smallest decision unit.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237744"/>
          </a:xfrm>
          <a:prstGeom prst="rect">
            <a:avLst/>
          </a:prstGeom>
          <a:noFill/>
        </p:spPr>
        <p:txBody>
          <a:bodyPr wrap="square" anchor="t" lIns="0" rIns="0" tIns="0" bIns="0">
            <a:spAutoFit/>
          </a:bodyPr>
          <a:lstStyle/>
          <a:p>
            <a:pPr algn="l">
              <a:spcBef>
                <a:spcPts val="0"/>
              </a:spcBef>
              <a:spcAft>
                <a:spcPts val="0"/>
              </a:spcAft>
            </a:pPr>
            <a:r>
              <a:rPr sz="1150" b="1" i="0">
                <a:solidFill>
                  <a:srgbClr val="2A78D6"/>
                </a:solidFill>
                <a:latin typeface="Calibri"/>
              </a:rPr>
              <a:t>BACKUP · THE GOVERNED JUDGMENT OBJECT</a:t>
            </a:r>
          </a:p>
        </p:txBody>
      </p:sp>
      <p:sp>
        <p:nvSpPr>
          <p:cNvPr id="3" name="TextBox 2"/>
          <p:cNvSpPr txBox="1"/>
          <p:nvPr/>
        </p:nvSpPr>
        <p:spPr>
          <a:xfrm>
            <a:off x="566928" y="713232"/>
            <a:ext cx="11057839" cy="553466"/>
          </a:xfrm>
          <a:prstGeom prst="rect">
            <a:avLst/>
          </a:prstGeom>
          <a:noFill/>
        </p:spPr>
        <p:txBody>
          <a:bodyPr wrap="square" anchor="t" lIns="0" rIns="0" tIns="0" bIns="0">
            <a:spAutoFit/>
          </a:bodyPr>
          <a:lstStyle/>
          <a:p>
            <a:pPr algn="l">
              <a:lnSpc>
                <a:spcPct val="110000"/>
              </a:lnSpc>
              <a:spcBef>
                <a:spcPts val="0"/>
              </a:spcBef>
              <a:spcAft>
                <a:spcPts val="0"/>
              </a:spcAft>
            </a:pPr>
            <a:r>
              <a:rPr sz="3100" b="1" i="0">
                <a:solidFill>
                  <a:srgbClr val="0F2740"/>
                </a:solidFill>
                <a:latin typeface="Cambria"/>
              </a:rPr>
              <a:t>SQ2 — a reusable judgment is not a naked label</a:t>
            </a:r>
          </a:p>
        </p:txBody>
      </p:sp>
      <p:sp>
        <p:nvSpPr>
          <p:cNvPr id="4" name="TextBox 3"/>
          <p:cNvSpPr txBox="1"/>
          <p:nvPr/>
        </p:nvSpPr>
        <p:spPr>
          <a:xfrm>
            <a:off x="566928" y="1339850"/>
            <a:ext cx="11057839" cy="294259"/>
          </a:xfrm>
          <a:prstGeom prst="rect">
            <a:avLst/>
          </a:prstGeom>
          <a:noFill/>
        </p:spPr>
        <p:txBody>
          <a:bodyPr wrap="square" anchor="t" lIns="0" rIns="0" tIns="0" bIns="0">
            <a:spAutoFit/>
          </a:bodyPr>
          <a:lstStyle/>
          <a:p>
            <a:pPr algn="l">
              <a:lnSpc>
                <a:spcPct val="118000"/>
              </a:lnSpc>
              <a:spcBef>
                <a:spcPts val="0"/>
              </a:spcBef>
              <a:spcAft>
                <a:spcPts val="0"/>
              </a:spcAft>
            </a:pPr>
            <a:r>
              <a:rPr sz="1450" b="0" i="0">
                <a:solidFill>
                  <a:srgbClr val="5A6472"/>
                </a:solidFill>
                <a:latin typeface="Calibri"/>
              </a:rPr>
              <a:t>The minimum reusable unit carries its grounding, its reasoning, its authority and its lifecycle.</a:t>
            </a:r>
          </a:p>
        </p:txBody>
      </p:sp>
      <p:sp>
        <p:nvSpPr>
          <p:cNvPr id="5" name="Rounded Rectangle 4"/>
          <p:cNvSpPr/>
          <p:nvPr/>
        </p:nvSpPr>
        <p:spPr>
          <a:xfrm>
            <a:off x="566928" y="1780413"/>
            <a:ext cx="3551834" cy="1188720"/>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768096" y="1963293"/>
            <a:ext cx="347472" cy="34747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1</a:t>
            </a:r>
          </a:p>
        </p:txBody>
      </p:sp>
      <p:sp>
        <p:nvSpPr>
          <p:cNvPr id="7" name="TextBox 6"/>
          <p:cNvSpPr txBox="1"/>
          <p:nvPr/>
        </p:nvSpPr>
        <p:spPr>
          <a:xfrm>
            <a:off x="768096" y="2420493"/>
            <a:ext cx="3149498" cy="457200"/>
          </a:xfrm>
          <a:prstGeom prst="rect">
            <a:avLst/>
          </a:prstGeom>
          <a:noFill/>
        </p:spPr>
        <p:txBody>
          <a:bodyPr wrap="square" anchor="t" lIns="0" rIns="0" tIns="0" bIns="0">
            <a:spAutoFit/>
          </a:bodyPr>
          <a:lstStyle/>
          <a:p>
            <a:pPr algn="l">
              <a:spcBef>
                <a:spcPts val="0"/>
              </a:spcBef>
              <a:spcAft>
                <a:spcPts val="300"/>
              </a:spcAft>
            </a:pPr>
            <a:r>
              <a:rPr sz="1300" b="1" i="0">
                <a:solidFill>
                  <a:srgbClr val="0F2740"/>
                </a:solidFill>
                <a:latin typeface="Cambria"/>
              </a:rPr>
              <a:t>Case grounding</a:t>
            </a:r>
          </a:p>
          <a:p>
            <a:pPr algn="l">
              <a:lnSpc>
                <a:spcPct val="116000"/>
              </a:lnSpc>
              <a:spcBef>
                <a:spcPts val="0"/>
              </a:spcBef>
              <a:spcAft>
                <a:spcPts val="0"/>
              </a:spcAft>
            </a:pPr>
            <a:r>
              <a:rPr sz="1050" b="0" i="0">
                <a:solidFill>
                  <a:srgbClr val="5A6472"/>
                </a:solidFill>
                <a:latin typeface="Calibri"/>
              </a:rPr>
              <a:t>artifact · fragment · guideline version · evidence locator</a:t>
            </a:r>
          </a:p>
        </p:txBody>
      </p:sp>
      <p:sp>
        <p:nvSpPr>
          <p:cNvPr id="8" name="Rounded Rectangle 7"/>
          <p:cNvSpPr/>
          <p:nvPr/>
        </p:nvSpPr>
        <p:spPr>
          <a:xfrm>
            <a:off x="4319930" y="1780413"/>
            <a:ext cx="3551834" cy="1188720"/>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4521098" y="1963293"/>
            <a:ext cx="347472" cy="34747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2</a:t>
            </a:r>
          </a:p>
        </p:txBody>
      </p:sp>
      <p:sp>
        <p:nvSpPr>
          <p:cNvPr id="10" name="TextBox 9"/>
          <p:cNvSpPr txBox="1"/>
          <p:nvPr/>
        </p:nvSpPr>
        <p:spPr>
          <a:xfrm>
            <a:off x="4521098" y="2420493"/>
            <a:ext cx="3149498" cy="457200"/>
          </a:xfrm>
          <a:prstGeom prst="rect">
            <a:avLst/>
          </a:prstGeom>
          <a:noFill/>
        </p:spPr>
        <p:txBody>
          <a:bodyPr wrap="square" anchor="t" lIns="0" rIns="0" tIns="0" bIns="0">
            <a:spAutoFit/>
          </a:bodyPr>
          <a:lstStyle/>
          <a:p>
            <a:pPr algn="l">
              <a:spcBef>
                <a:spcPts val="0"/>
              </a:spcBef>
              <a:spcAft>
                <a:spcPts val="300"/>
              </a:spcAft>
            </a:pPr>
            <a:r>
              <a:rPr sz="1300" b="1" i="0">
                <a:solidFill>
                  <a:srgbClr val="0F2740"/>
                </a:solidFill>
                <a:latin typeface="Cambria"/>
              </a:rPr>
              <a:t>Decision trace</a:t>
            </a:r>
          </a:p>
          <a:p>
            <a:pPr algn="l">
              <a:lnSpc>
                <a:spcPct val="116000"/>
              </a:lnSpc>
              <a:spcBef>
                <a:spcPts val="0"/>
              </a:spcBef>
              <a:spcAft>
                <a:spcPts val="0"/>
              </a:spcAft>
            </a:pPr>
            <a:r>
              <a:rPr sz="1050" b="0" i="0">
                <a:solidFill>
                  <a:srgbClr val="5A6472"/>
                </a:solidFill>
                <a:latin typeface="Calibri"/>
              </a:rPr>
              <a:t>system claim · confidence · concise reasoning · correction</a:t>
            </a:r>
          </a:p>
        </p:txBody>
      </p:sp>
      <p:sp>
        <p:nvSpPr>
          <p:cNvPr id="11" name="Rounded Rectangle 10"/>
          <p:cNvSpPr/>
          <p:nvPr/>
        </p:nvSpPr>
        <p:spPr>
          <a:xfrm>
            <a:off x="8072932" y="1780413"/>
            <a:ext cx="3551834" cy="1188720"/>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274100" y="1963293"/>
            <a:ext cx="347472" cy="34747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3</a:t>
            </a:r>
          </a:p>
        </p:txBody>
      </p:sp>
      <p:sp>
        <p:nvSpPr>
          <p:cNvPr id="13" name="TextBox 12"/>
          <p:cNvSpPr txBox="1"/>
          <p:nvPr/>
        </p:nvSpPr>
        <p:spPr>
          <a:xfrm>
            <a:off x="8274100" y="2420493"/>
            <a:ext cx="3149498" cy="457200"/>
          </a:xfrm>
          <a:prstGeom prst="rect">
            <a:avLst/>
          </a:prstGeom>
          <a:noFill/>
        </p:spPr>
        <p:txBody>
          <a:bodyPr wrap="square" anchor="t" lIns="0" rIns="0" tIns="0" bIns="0">
            <a:spAutoFit/>
          </a:bodyPr>
          <a:lstStyle/>
          <a:p>
            <a:pPr algn="l">
              <a:spcBef>
                <a:spcPts val="0"/>
              </a:spcBef>
              <a:spcAft>
                <a:spcPts val="300"/>
              </a:spcAft>
            </a:pPr>
            <a:r>
              <a:rPr sz="1300" b="1" i="0">
                <a:solidFill>
                  <a:srgbClr val="0F2740"/>
                </a:solidFill>
                <a:latin typeface="Cambria"/>
              </a:rPr>
              <a:t>Governance</a:t>
            </a:r>
          </a:p>
          <a:p>
            <a:pPr algn="l">
              <a:lnSpc>
                <a:spcPct val="116000"/>
              </a:lnSpc>
              <a:spcBef>
                <a:spcPts val="0"/>
              </a:spcBef>
              <a:spcAft>
                <a:spcPts val="0"/>
              </a:spcAft>
            </a:pPr>
            <a:r>
              <a:rPr sz="1050" b="0" i="0">
                <a:solidFill>
                  <a:srgbClr val="5A6472"/>
                </a:solidFill>
                <a:latin typeface="Calibri"/>
              </a:rPr>
              <a:t>authority · scope · visibility · dissent · permission</a:t>
            </a:r>
          </a:p>
        </p:txBody>
      </p:sp>
      <p:sp>
        <p:nvSpPr>
          <p:cNvPr id="14" name="Rounded Rectangle 13"/>
          <p:cNvSpPr/>
          <p:nvPr/>
        </p:nvSpPr>
        <p:spPr>
          <a:xfrm>
            <a:off x="566928" y="3152013"/>
            <a:ext cx="3551834" cy="1188720"/>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68096" y="3334893"/>
            <a:ext cx="347472" cy="34747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4</a:t>
            </a:r>
          </a:p>
        </p:txBody>
      </p:sp>
      <p:sp>
        <p:nvSpPr>
          <p:cNvPr id="16" name="TextBox 15"/>
          <p:cNvSpPr txBox="1"/>
          <p:nvPr/>
        </p:nvSpPr>
        <p:spPr>
          <a:xfrm>
            <a:off x="768096" y="3792093"/>
            <a:ext cx="3149498" cy="457200"/>
          </a:xfrm>
          <a:prstGeom prst="rect">
            <a:avLst/>
          </a:prstGeom>
          <a:noFill/>
        </p:spPr>
        <p:txBody>
          <a:bodyPr wrap="square" anchor="t" lIns="0" rIns="0" tIns="0" bIns="0">
            <a:spAutoFit/>
          </a:bodyPr>
          <a:lstStyle/>
          <a:p>
            <a:pPr algn="l">
              <a:spcBef>
                <a:spcPts val="0"/>
              </a:spcBef>
              <a:spcAft>
                <a:spcPts val="300"/>
              </a:spcAft>
            </a:pPr>
            <a:r>
              <a:rPr sz="1300" b="1" i="0">
                <a:solidFill>
                  <a:srgbClr val="0F2740"/>
                </a:solidFill>
                <a:latin typeface="Cambria"/>
              </a:rPr>
              <a:t>Lifecycle</a:t>
            </a:r>
          </a:p>
          <a:p>
            <a:pPr algn="l">
              <a:lnSpc>
                <a:spcPct val="116000"/>
              </a:lnSpc>
              <a:spcBef>
                <a:spcPts val="0"/>
              </a:spcBef>
              <a:spcAft>
                <a:spcPts val="0"/>
              </a:spcAft>
            </a:pPr>
            <a:r>
              <a:rPr sz="1050" b="0" i="0">
                <a:solidFill>
                  <a:srgbClr val="5A6472"/>
                </a:solidFill>
                <a:latin typeface="Calibri"/>
              </a:rPr>
              <a:t>validated · expired · superseded · revoked · active</a:t>
            </a:r>
          </a:p>
        </p:txBody>
      </p:sp>
      <p:sp>
        <p:nvSpPr>
          <p:cNvPr id="17" name="Rounded Rectangle 16"/>
          <p:cNvSpPr/>
          <p:nvPr/>
        </p:nvSpPr>
        <p:spPr>
          <a:xfrm>
            <a:off x="4319930" y="3152013"/>
            <a:ext cx="3551834" cy="1188720"/>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21098" y="3334893"/>
            <a:ext cx="347472" cy="34747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5</a:t>
            </a:r>
          </a:p>
        </p:txBody>
      </p:sp>
      <p:sp>
        <p:nvSpPr>
          <p:cNvPr id="19" name="TextBox 18"/>
          <p:cNvSpPr txBox="1"/>
          <p:nvPr/>
        </p:nvSpPr>
        <p:spPr>
          <a:xfrm>
            <a:off x="4521098" y="3792093"/>
            <a:ext cx="3149498" cy="457200"/>
          </a:xfrm>
          <a:prstGeom prst="rect">
            <a:avLst/>
          </a:prstGeom>
          <a:noFill/>
        </p:spPr>
        <p:txBody>
          <a:bodyPr wrap="square" anchor="t" lIns="0" rIns="0" tIns="0" bIns="0">
            <a:spAutoFit/>
          </a:bodyPr>
          <a:lstStyle/>
          <a:p>
            <a:pPr algn="l">
              <a:spcBef>
                <a:spcPts val="0"/>
              </a:spcBef>
              <a:spcAft>
                <a:spcPts val="300"/>
              </a:spcAft>
            </a:pPr>
            <a:r>
              <a:rPr sz="1300" b="1" i="0">
                <a:solidFill>
                  <a:srgbClr val="0F2740"/>
                </a:solidFill>
                <a:latin typeface="Cambria"/>
              </a:rPr>
              <a:t>Reuse signals</a:t>
            </a:r>
          </a:p>
          <a:p>
            <a:pPr algn="l">
              <a:lnSpc>
                <a:spcPct val="116000"/>
              </a:lnSpc>
              <a:spcBef>
                <a:spcPts val="0"/>
              </a:spcBef>
              <a:spcAft>
                <a:spcPts val="0"/>
              </a:spcAft>
            </a:pPr>
            <a:r>
              <a:rPr sz="1050" b="0" i="0">
                <a:solidFill>
                  <a:srgbClr val="5A6472"/>
                </a:solidFill>
                <a:latin typeface="Calibri"/>
              </a:rPr>
              <a:t>semantic signature · counterexamples · thresholds</a:t>
            </a:r>
          </a:p>
        </p:txBody>
      </p:sp>
      <p:sp>
        <p:nvSpPr>
          <p:cNvPr id="20" name="Rounded Rectangle 19"/>
          <p:cNvSpPr/>
          <p:nvPr/>
        </p:nvSpPr>
        <p:spPr>
          <a:xfrm>
            <a:off x="8072932" y="3152013"/>
            <a:ext cx="3551834" cy="1188720"/>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8274100" y="3334893"/>
            <a:ext cx="347472" cy="34747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6</a:t>
            </a:r>
          </a:p>
        </p:txBody>
      </p:sp>
      <p:sp>
        <p:nvSpPr>
          <p:cNvPr id="22" name="TextBox 21"/>
          <p:cNvSpPr txBox="1"/>
          <p:nvPr/>
        </p:nvSpPr>
        <p:spPr>
          <a:xfrm>
            <a:off x="8274100" y="3792093"/>
            <a:ext cx="3149498" cy="457200"/>
          </a:xfrm>
          <a:prstGeom prst="rect">
            <a:avLst/>
          </a:prstGeom>
          <a:noFill/>
        </p:spPr>
        <p:txBody>
          <a:bodyPr wrap="square" anchor="t" lIns="0" rIns="0" tIns="0" bIns="0">
            <a:spAutoFit/>
          </a:bodyPr>
          <a:lstStyle/>
          <a:p>
            <a:pPr algn="l">
              <a:spcBef>
                <a:spcPts val="0"/>
              </a:spcBef>
              <a:spcAft>
                <a:spcPts val="300"/>
              </a:spcAft>
            </a:pPr>
            <a:r>
              <a:rPr sz="1300" b="1" i="0">
                <a:solidFill>
                  <a:srgbClr val="0F2740"/>
                </a:solidFill>
                <a:latin typeface="Cambria"/>
              </a:rPr>
              <a:t>Outcome trace</a:t>
            </a:r>
          </a:p>
          <a:p>
            <a:pPr algn="l">
              <a:lnSpc>
                <a:spcPct val="116000"/>
              </a:lnSpc>
              <a:spcBef>
                <a:spcPts val="0"/>
              </a:spcBef>
              <a:spcAft>
                <a:spcPts val="0"/>
              </a:spcAft>
            </a:pPr>
            <a:r>
              <a:rPr sz="1050" b="0" i="0">
                <a:solidFill>
                  <a:srgbClr val="5A6472"/>
                </a:solidFill>
                <a:latin typeface="Calibri"/>
              </a:rPr>
              <a:t>retrieval · influence · override · downstream effect</a:t>
            </a:r>
          </a:p>
        </p:txBody>
      </p:sp>
      <p:sp>
        <p:nvSpPr>
          <p:cNvPr id="23" name="Rounded Rectangle 22"/>
          <p:cNvSpPr/>
          <p:nvPr/>
        </p:nvSpPr>
        <p:spPr>
          <a:xfrm>
            <a:off x="566928" y="4615053"/>
            <a:ext cx="11057839" cy="841248"/>
          </a:xfrm>
          <a:prstGeom prst="roundRect">
            <a:avLst>
              <a:gd name="adj" fmla="val 4000"/>
            </a:avLst>
          </a:prstGeom>
          <a:solidFill>
            <a:srgbClr val="0F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41248" y="4761357"/>
            <a:ext cx="10509199" cy="566928"/>
          </a:xfrm>
          <a:prstGeom prst="rect">
            <a:avLst/>
          </a:prstGeom>
          <a:noFill/>
        </p:spPr>
        <p:txBody>
          <a:bodyPr wrap="square" anchor="t" lIns="0" rIns="0" tIns="0" bIns="0">
            <a:spAutoFit/>
          </a:bodyPr>
          <a:lstStyle/>
          <a:p>
            <a:pPr algn="l">
              <a:spcBef>
                <a:spcPts val="0"/>
              </a:spcBef>
              <a:spcAft>
                <a:spcPts val="400"/>
              </a:spcAft>
            </a:pPr>
            <a:r>
              <a:rPr sz="1250" b="1" i="0">
                <a:solidFill>
                  <a:srgbClr val="CDE2FB"/>
                </a:solidFill>
                <a:latin typeface="Calibri"/>
              </a:rPr>
              <a:t>Reasoning-capture rule</a:t>
            </a:r>
          </a:p>
          <a:p>
            <a:pPr algn="l">
              <a:lnSpc>
                <a:spcPct val="120000"/>
              </a:lnSpc>
              <a:spcBef>
                <a:spcPts val="0"/>
              </a:spcBef>
              <a:spcAft>
                <a:spcPts val="0"/>
              </a:spcAft>
            </a:pPr>
            <a:r>
              <a:rPr sz="1200" b="0" i="0">
                <a:solidFill>
                  <a:srgbClr val="FFFFFF"/>
                </a:solidFill>
                <a:latin typeface="Calibri"/>
              </a:rPr>
              <a:t>Store the shortest sufficient decision trace — claim, evidence, rule, uncertainty and correction. Not hidden chain-of-thought, and not unnecessary personal data.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237744"/>
          </a:xfrm>
          <a:prstGeom prst="rect">
            <a:avLst/>
          </a:prstGeom>
          <a:noFill/>
        </p:spPr>
        <p:txBody>
          <a:bodyPr wrap="square" anchor="t" lIns="0" rIns="0" tIns="0" bIns="0">
            <a:spAutoFit/>
          </a:bodyPr>
          <a:lstStyle/>
          <a:p>
            <a:pPr algn="l">
              <a:spcBef>
                <a:spcPts val="0"/>
              </a:spcBef>
              <a:spcAft>
                <a:spcPts val="0"/>
              </a:spcAft>
            </a:pPr>
            <a:r>
              <a:rPr sz="1150" b="1" i="0">
                <a:solidFill>
                  <a:srgbClr val="2A78D6"/>
                </a:solidFill>
                <a:latin typeface="Calibri"/>
              </a:rPr>
              <a:t>BACKUP · TRANSFER LADDER AND LEAKAGE CONTROLS</a:t>
            </a:r>
          </a:p>
        </p:txBody>
      </p:sp>
      <p:sp>
        <p:nvSpPr>
          <p:cNvPr id="3" name="TextBox 2"/>
          <p:cNvSpPr txBox="1"/>
          <p:nvPr/>
        </p:nvSpPr>
        <p:spPr>
          <a:xfrm>
            <a:off x="566928" y="713232"/>
            <a:ext cx="11057839" cy="553466"/>
          </a:xfrm>
          <a:prstGeom prst="rect">
            <a:avLst/>
          </a:prstGeom>
          <a:noFill/>
        </p:spPr>
        <p:txBody>
          <a:bodyPr wrap="square" anchor="t" lIns="0" rIns="0" tIns="0" bIns="0">
            <a:spAutoFit/>
          </a:bodyPr>
          <a:lstStyle/>
          <a:p>
            <a:pPr algn="l">
              <a:lnSpc>
                <a:spcPct val="110000"/>
              </a:lnSpc>
              <a:spcBef>
                <a:spcPts val="0"/>
              </a:spcBef>
              <a:spcAft>
                <a:spcPts val="0"/>
              </a:spcAft>
            </a:pPr>
            <a:r>
              <a:rPr sz="3100" b="1" i="0">
                <a:solidFill>
                  <a:srgbClr val="0F2740"/>
                </a:solidFill>
                <a:latin typeface="Cambria"/>
              </a:rPr>
              <a:t>SQ3 — retrieval is not permission</a:t>
            </a:r>
          </a:p>
        </p:txBody>
      </p:sp>
      <p:sp>
        <p:nvSpPr>
          <p:cNvPr id="4" name="TextBox 3"/>
          <p:cNvSpPr txBox="1"/>
          <p:nvPr/>
        </p:nvSpPr>
        <p:spPr>
          <a:xfrm>
            <a:off x="566928" y="1339850"/>
            <a:ext cx="11057839" cy="294259"/>
          </a:xfrm>
          <a:prstGeom prst="rect">
            <a:avLst/>
          </a:prstGeom>
          <a:noFill/>
        </p:spPr>
        <p:txBody>
          <a:bodyPr wrap="square" anchor="t" lIns="0" rIns="0" tIns="0" bIns="0">
            <a:spAutoFit/>
          </a:bodyPr>
          <a:lstStyle/>
          <a:p>
            <a:pPr algn="l">
              <a:lnSpc>
                <a:spcPct val="118000"/>
              </a:lnSpc>
              <a:spcBef>
                <a:spcPts val="0"/>
              </a:spcBef>
              <a:spcAft>
                <a:spcPts val="0"/>
              </a:spcAft>
            </a:pPr>
            <a:r>
              <a:rPr sz="1450" b="0" i="0">
                <a:solidFill>
                  <a:srgbClr val="5A6472"/>
                </a:solidFill>
                <a:latin typeface="Calibri"/>
              </a:rPr>
              <a:t>Reuse is advisory and scope-filtered; evidence requirements rise with transfer distance.</a:t>
            </a:r>
          </a:p>
        </p:txBody>
      </p:sp>
      <p:sp>
        <p:nvSpPr>
          <p:cNvPr id="5" name="Rounded Rectangle 4"/>
          <p:cNvSpPr/>
          <p:nvPr/>
        </p:nvSpPr>
        <p:spPr>
          <a:xfrm>
            <a:off x="566928" y="1780413"/>
            <a:ext cx="7223760" cy="603504"/>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731520" y="1880997"/>
            <a:ext cx="402336" cy="402336"/>
          </a:xfrm>
          <a:prstGeom prst="ellipse">
            <a:avLst/>
          </a:prstGeom>
          <a:solidFill>
            <a:srgbClr val="0CA30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L0</a:t>
            </a:r>
          </a:p>
        </p:txBody>
      </p:sp>
      <p:sp>
        <p:nvSpPr>
          <p:cNvPr id="7" name="TextBox 6"/>
          <p:cNvSpPr txBox="1"/>
          <p:nvPr/>
        </p:nvSpPr>
        <p:spPr>
          <a:xfrm>
            <a:off x="1316736" y="1835277"/>
            <a:ext cx="2651760" cy="493776"/>
          </a:xfrm>
          <a:prstGeom prst="rect">
            <a:avLst/>
          </a:prstGeom>
          <a:noFill/>
        </p:spPr>
        <p:txBody>
          <a:bodyPr wrap="square" anchor="ctr" lIns="0" rIns="0" tIns="0" bIns="0">
            <a:spAutoFit/>
          </a:bodyPr>
          <a:lstStyle/>
          <a:p>
            <a:pPr algn="l">
              <a:spcBef>
                <a:spcPts val="0"/>
              </a:spcBef>
              <a:spcAft>
                <a:spcPts val="0"/>
              </a:spcAft>
            </a:pPr>
            <a:r>
              <a:rPr sz="1250" b="1" i="0">
                <a:solidFill>
                  <a:srgbClr val="0F2740"/>
                </a:solidFill>
                <a:latin typeface="Cambria"/>
              </a:rPr>
              <a:t>same-case retry</a:t>
            </a:r>
          </a:p>
        </p:txBody>
      </p:sp>
      <p:sp>
        <p:nvSpPr>
          <p:cNvPr id="8" name="TextBox 7"/>
          <p:cNvSpPr txBox="1"/>
          <p:nvPr/>
        </p:nvSpPr>
        <p:spPr>
          <a:xfrm>
            <a:off x="4087368" y="1835277"/>
            <a:ext cx="3566160" cy="493776"/>
          </a:xfrm>
          <a:prstGeom prst="rect">
            <a:avLst/>
          </a:prstGeom>
          <a:noFill/>
        </p:spPr>
        <p:txBody>
          <a:bodyPr wrap="square" anchor="ctr" lIns="0" rIns="0" tIns="0" bIns="0">
            <a:spAutoFit/>
          </a:bodyPr>
          <a:lstStyle/>
          <a:p>
            <a:pPr algn="l">
              <a:lnSpc>
                <a:spcPct val="114000"/>
              </a:lnSpc>
              <a:spcBef>
                <a:spcPts val="0"/>
              </a:spcBef>
              <a:spcAft>
                <a:spcPts val="0"/>
              </a:spcAft>
            </a:pPr>
            <a:r>
              <a:rPr sz="1150" b="0" i="0">
                <a:solidFill>
                  <a:srgbClr val="5A6472"/>
                </a:solidFill>
                <a:latin typeface="Calibri"/>
              </a:rPr>
              <a:t>default relevance high</a:t>
            </a:r>
          </a:p>
        </p:txBody>
      </p:sp>
      <p:sp>
        <p:nvSpPr>
          <p:cNvPr id="9" name="Rounded Rectangle 8"/>
          <p:cNvSpPr/>
          <p:nvPr/>
        </p:nvSpPr>
        <p:spPr>
          <a:xfrm>
            <a:off x="566928" y="2475357"/>
            <a:ext cx="7223760" cy="603504"/>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20" y="2575941"/>
            <a:ext cx="402336" cy="402336"/>
          </a:xfrm>
          <a:prstGeom prst="ellipse">
            <a:avLst/>
          </a:prstGeom>
          <a:solidFill>
            <a:srgbClr val="0CA30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L1</a:t>
            </a:r>
          </a:p>
        </p:txBody>
      </p:sp>
      <p:sp>
        <p:nvSpPr>
          <p:cNvPr id="11" name="TextBox 10"/>
          <p:cNvSpPr txBox="1"/>
          <p:nvPr/>
        </p:nvSpPr>
        <p:spPr>
          <a:xfrm>
            <a:off x="1316736" y="2530221"/>
            <a:ext cx="2651760" cy="493776"/>
          </a:xfrm>
          <a:prstGeom prst="rect">
            <a:avLst/>
          </a:prstGeom>
          <a:noFill/>
        </p:spPr>
        <p:txBody>
          <a:bodyPr wrap="square" anchor="ctr" lIns="0" rIns="0" tIns="0" bIns="0">
            <a:spAutoFit/>
          </a:bodyPr>
          <a:lstStyle/>
          <a:p>
            <a:pPr algn="l">
              <a:spcBef>
                <a:spcPts val="0"/>
              </a:spcBef>
              <a:spcAft>
                <a:spcPts val="0"/>
              </a:spcAft>
            </a:pPr>
            <a:r>
              <a:rPr sz="1250" b="1" i="0">
                <a:solidFill>
                  <a:srgbClr val="0F2740"/>
                </a:solidFill>
                <a:latin typeface="Cambria"/>
              </a:rPr>
              <a:t>same task and domain</a:t>
            </a:r>
          </a:p>
        </p:txBody>
      </p:sp>
      <p:sp>
        <p:nvSpPr>
          <p:cNvPr id="12" name="TextBox 11"/>
          <p:cNvSpPr txBox="1"/>
          <p:nvPr/>
        </p:nvSpPr>
        <p:spPr>
          <a:xfrm>
            <a:off x="4087368" y="2530221"/>
            <a:ext cx="3566160" cy="493776"/>
          </a:xfrm>
          <a:prstGeom prst="rect">
            <a:avLst/>
          </a:prstGeom>
          <a:noFill/>
        </p:spPr>
        <p:txBody>
          <a:bodyPr wrap="square" anchor="ctr" lIns="0" rIns="0" tIns="0" bIns="0">
            <a:spAutoFit/>
          </a:bodyPr>
          <a:lstStyle/>
          <a:p>
            <a:pPr algn="l">
              <a:lnSpc>
                <a:spcPct val="114000"/>
              </a:lnSpc>
              <a:spcBef>
                <a:spcPts val="0"/>
              </a:spcBef>
              <a:spcAft>
                <a:spcPts val="0"/>
              </a:spcAft>
            </a:pPr>
            <a:r>
              <a:rPr sz="1150" b="0" i="0">
                <a:solidFill>
                  <a:srgbClr val="5A6472"/>
                </a:solidFill>
                <a:latin typeface="Calibri"/>
              </a:rPr>
              <a:t>advisory after scope checks</a:t>
            </a:r>
          </a:p>
        </p:txBody>
      </p:sp>
      <p:sp>
        <p:nvSpPr>
          <p:cNvPr id="13" name="Rounded Rectangle 12"/>
          <p:cNvSpPr/>
          <p:nvPr/>
        </p:nvSpPr>
        <p:spPr>
          <a:xfrm>
            <a:off x="566928" y="3170301"/>
            <a:ext cx="7223760" cy="603504"/>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31520" y="3270885"/>
            <a:ext cx="402336" cy="402336"/>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L2</a:t>
            </a:r>
          </a:p>
        </p:txBody>
      </p:sp>
      <p:sp>
        <p:nvSpPr>
          <p:cNvPr id="15" name="TextBox 14"/>
          <p:cNvSpPr txBox="1"/>
          <p:nvPr/>
        </p:nvSpPr>
        <p:spPr>
          <a:xfrm>
            <a:off x="1316736" y="3225165"/>
            <a:ext cx="2651760" cy="493776"/>
          </a:xfrm>
          <a:prstGeom prst="rect">
            <a:avLst/>
          </a:prstGeom>
          <a:noFill/>
        </p:spPr>
        <p:txBody>
          <a:bodyPr wrap="square" anchor="ctr" lIns="0" rIns="0" tIns="0" bIns="0">
            <a:spAutoFit/>
          </a:bodyPr>
          <a:lstStyle/>
          <a:p>
            <a:pPr algn="l">
              <a:spcBef>
                <a:spcPts val="0"/>
              </a:spcBef>
              <a:spcAft>
                <a:spcPts val="0"/>
              </a:spcAft>
            </a:pPr>
            <a:r>
              <a:rPr sz="1250" b="1" i="0">
                <a:solidFill>
                  <a:srgbClr val="0F2740"/>
                </a:solidFill>
                <a:latin typeface="Cambria"/>
              </a:rPr>
              <a:t>new task, same domain</a:t>
            </a:r>
          </a:p>
        </p:txBody>
      </p:sp>
      <p:sp>
        <p:nvSpPr>
          <p:cNvPr id="16" name="TextBox 15"/>
          <p:cNvSpPr txBox="1"/>
          <p:nvPr/>
        </p:nvSpPr>
        <p:spPr>
          <a:xfrm>
            <a:off x="4087368" y="3225165"/>
            <a:ext cx="3566160" cy="493776"/>
          </a:xfrm>
          <a:prstGeom prst="rect">
            <a:avLst/>
          </a:prstGeom>
          <a:noFill/>
        </p:spPr>
        <p:txBody>
          <a:bodyPr wrap="square" anchor="ctr" lIns="0" rIns="0" tIns="0" bIns="0">
            <a:spAutoFit/>
          </a:bodyPr>
          <a:lstStyle/>
          <a:p>
            <a:pPr algn="l">
              <a:lnSpc>
                <a:spcPct val="114000"/>
              </a:lnSpc>
              <a:spcBef>
                <a:spcPts val="0"/>
              </a:spcBef>
              <a:spcAft>
                <a:spcPts val="0"/>
              </a:spcAft>
            </a:pPr>
            <a:r>
              <a:rPr sz="1150" b="0" i="0">
                <a:solidFill>
                  <a:srgbClr val="5A6472"/>
                </a:solidFill>
                <a:latin typeface="Calibri"/>
              </a:rPr>
              <a:t>independent labels + holdout</a:t>
            </a:r>
          </a:p>
        </p:txBody>
      </p:sp>
      <p:sp>
        <p:nvSpPr>
          <p:cNvPr id="17" name="Rounded Rectangle 16"/>
          <p:cNvSpPr/>
          <p:nvPr/>
        </p:nvSpPr>
        <p:spPr>
          <a:xfrm>
            <a:off x="566928" y="3865245"/>
            <a:ext cx="7223760" cy="603504"/>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31520" y="3965829"/>
            <a:ext cx="402336" cy="402336"/>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L3</a:t>
            </a:r>
          </a:p>
        </p:txBody>
      </p:sp>
      <p:sp>
        <p:nvSpPr>
          <p:cNvPr id="19" name="TextBox 18"/>
          <p:cNvSpPr txBox="1"/>
          <p:nvPr/>
        </p:nvSpPr>
        <p:spPr>
          <a:xfrm>
            <a:off x="1316736" y="3920109"/>
            <a:ext cx="2651760" cy="493776"/>
          </a:xfrm>
          <a:prstGeom prst="rect">
            <a:avLst/>
          </a:prstGeom>
          <a:noFill/>
        </p:spPr>
        <p:txBody>
          <a:bodyPr wrap="square" anchor="ctr" lIns="0" rIns="0" tIns="0" bIns="0">
            <a:spAutoFit/>
          </a:bodyPr>
          <a:lstStyle/>
          <a:p>
            <a:pPr algn="l">
              <a:spcBef>
                <a:spcPts val="0"/>
              </a:spcBef>
              <a:spcAft>
                <a:spcPts val="0"/>
              </a:spcAft>
            </a:pPr>
            <a:r>
              <a:rPr sz="1250" b="1" i="0">
                <a:solidFill>
                  <a:srgbClr val="0F2740"/>
                </a:solidFill>
                <a:latin typeface="Cambria"/>
              </a:rPr>
              <a:t>adjacent domain</a:t>
            </a:r>
          </a:p>
        </p:txBody>
      </p:sp>
      <p:sp>
        <p:nvSpPr>
          <p:cNvPr id="20" name="TextBox 19"/>
          <p:cNvSpPr txBox="1"/>
          <p:nvPr/>
        </p:nvSpPr>
        <p:spPr>
          <a:xfrm>
            <a:off x="4087368" y="3920109"/>
            <a:ext cx="3566160" cy="493776"/>
          </a:xfrm>
          <a:prstGeom prst="rect">
            <a:avLst/>
          </a:prstGeom>
          <a:noFill/>
        </p:spPr>
        <p:txBody>
          <a:bodyPr wrap="square" anchor="ctr" lIns="0" rIns="0" tIns="0" bIns="0">
            <a:spAutoFit/>
          </a:bodyPr>
          <a:lstStyle/>
          <a:p>
            <a:pPr algn="l">
              <a:lnSpc>
                <a:spcPct val="114000"/>
              </a:lnSpc>
              <a:spcBef>
                <a:spcPts val="0"/>
              </a:spcBef>
              <a:spcAft>
                <a:spcPts val="0"/>
              </a:spcAft>
            </a:pPr>
            <a:r>
              <a:rPr sz="1150" b="0" i="0">
                <a:solidFill>
                  <a:srgbClr val="5A6472"/>
                </a:solidFill>
                <a:latin typeface="Calibri"/>
              </a:rPr>
              <a:t>preregistered restricted experiment</a:t>
            </a:r>
          </a:p>
        </p:txBody>
      </p:sp>
      <p:sp>
        <p:nvSpPr>
          <p:cNvPr id="21" name="Rounded Rectangle 20"/>
          <p:cNvSpPr/>
          <p:nvPr/>
        </p:nvSpPr>
        <p:spPr>
          <a:xfrm>
            <a:off x="566928" y="4560189"/>
            <a:ext cx="7223760" cy="603504"/>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31520" y="4660773"/>
            <a:ext cx="402336" cy="402336"/>
          </a:xfrm>
          <a:prstGeom prst="ellipse">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Calibri"/>
              </a:rPr>
              <a:t>L4</a:t>
            </a:r>
          </a:p>
        </p:txBody>
      </p:sp>
      <p:sp>
        <p:nvSpPr>
          <p:cNvPr id="23" name="TextBox 22"/>
          <p:cNvSpPr txBox="1"/>
          <p:nvPr/>
        </p:nvSpPr>
        <p:spPr>
          <a:xfrm>
            <a:off x="1316736" y="4615053"/>
            <a:ext cx="2651760" cy="493776"/>
          </a:xfrm>
          <a:prstGeom prst="rect">
            <a:avLst/>
          </a:prstGeom>
          <a:noFill/>
        </p:spPr>
        <p:txBody>
          <a:bodyPr wrap="square" anchor="ctr" lIns="0" rIns="0" tIns="0" bIns="0">
            <a:spAutoFit/>
          </a:bodyPr>
          <a:lstStyle/>
          <a:p>
            <a:pPr algn="l">
              <a:spcBef>
                <a:spcPts val="0"/>
              </a:spcBef>
              <a:spcAft>
                <a:spcPts val="0"/>
              </a:spcAft>
            </a:pPr>
            <a:r>
              <a:rPr sz="1250" b="1" i="0">
                <a:solidFill>
                  <a:srgbClr val="0F2740"/>
                </a:solidFill>
                <a:latin typeface="Cambria"/>
              </a:rPr>
              <a:t>cross-domain / healthcare</a:t>
            </a:r>
          </a:p>
        </p:txBody>
      </p:sp>
      <p:sp>
        <p:nvSpPr>
          <p:cNvPr id="24" name="TextBox 23"/>
          <p:cNvSpPr txBox="1"/>
          <p:nvPr/>
        </p:nvSpPr>
        <p:spPr>
          <a:xfrm>
            <a:off x="4087368" y="4615053"/>
            <a:ext cx="3566160" cy="493776"/>
          </a:xfrm>
          <a:prstGeom prst="rect">
            <a:avLst/>
          </a:prstGeom>
          <a:noFill/>
        </p:spPr>
        <p:txBody>
          <a:bodyPr wrap="square" anchor="ctr" lIns="0" rIns="0" tIns="0" bIns="0">
            <a:spAutoFit/>
          </a:bodyPr>
          <a:lstStyle/>
          <a:p>
            <a:pPr algn="l">
              <a:lnSpc>
                <a:spcPct val="114000"/>
              </a:lnSpc>
              <a:spcBef>
                <a:spcPts val="0"/>
              </a:spcBef>
              <a:spcAft>
                <a:spcPts val="0"/>
              </a:spcAft>
            </a:pPr>
            <a:r>
              <a:rPr sz="1150" b="0" i="0">
                <a:solidFill>
                  <a:srgbClr val="5A6472"/>
                </a:solidFill>
                <a:latin typeface="Calibri"/>
              </a:rPr>
              <a:t>no default permission; ethics + authorization</a:t>
            </a:r>
          </a:p>
        </p:txBody>
      </p:sp>
      <p:sp>
        <p:nvSpPr>
          <p:cNvPr id="25" name="Rounded Rectangle 24"/>
          <p:cNvSpPr/>
          <p:nvPr/>
        </p:nvSpPr>
        <p:spPr>
          <a:xfrm>
            <a:off x="7991855" y="1780413"/>
            <a:ext cx="3632912" cy="3383280"/>
          </a:xfrm>
          <a:prstGeom prst="roundRect">
            <a:avLst>
              <a:gd name="adj" fmla="val 4000"/>
            </a:avLst>
          </a:prstGeom>
          <a:solidFill>
            <a:srgbClr val="FDF0F0"/>
          </a:solidFill>
          <a:ln w="12700">
            <a:solidFill>
              <a:srgbClr val="F0C8C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29599" y="1963293"/>
            <a:ext cx="3157424" cy="3017520"/>
          </a:xfrm>
          <a:prstGeom prst="rect">
            <a:avLst/>
          </a:prstGeom>
          <a:noFill/>
        </p:spPr>
        <p:txBody>
          <a:bodyPr wrap="square" anchor="t" lIns="0" rIns="0" tIns="0" bIns="0">
            <a:spAutoFit/>
          </a:bodyPr>
          <a:lstStyle/>
          <a:p>
            <a:pPr algn="l">
              <a:spcBef>
                <a:spcPts val="0"/>
              </a:spcBef>
              <a:spcAft>
                <a:spcPts val="900"/>
              </a:spcAft>
            </a:pPr>
            <a:r>
              <a:rPr sz="1400" b="1" i="0">
                <a:solidFill>
                  <a:srgbClr val="D03B3B"/>
                </a:solidFill>
                <a:latin typeface="Cambria"/>
              </a:rPr>
              <a:t>Leakage-safe evaluation</a:t>
            </a:r>
          </a:p>
          <a:p>
            <a:pPr algn="l">
              <a:lnSpc>
                <a:spcPct val="120000"/>
              </a:lnSpc>
              <a:spcBef>
                <a:spcPts val="0"/>
              </a:spcBef>
              <a:spcAft>
                <a:spcPts val="700"/>
              </a:spcAft>
            </a:pPr>
            <a:r>
              <a:rPr sz="1150" b="0" i="0">
                <a:solidFill>
                  <a:srgbClr val="5A6472"/>
                </a:solidFill>
                <a:latin typeface="Calibri"/>
              </a:rPr>
              <a:t>•  Frozen source store and retrieval policy</a:t>
            </a:r>
          </a:p>
          <a:p>
            <a:pPr algn="l">
              <a:lnSpc>
                <a:spcPct val="120000"/>
              </a:lnSpc>
              <a:spcBef>
                <a:spcPts val="0"/>
              </a:spcBef>
              <a:spcAft>
                <a:spcPts val="700"/>
              </a:spcAft>
            </a:pPr>
            <a:r>
              <a:rPr sz="1150" b="0" i="0">
                <a:solidFill>
                  <a:srgbClr val="5A6472"/>
                </a:solidFill>
                <a:latin typeface="Calibri"/>
              </a:rPr>
              <a:t>•  Matched no-reuse control</a:t>
            </a:r>
          </a:p>
          <a:p>
            <a:pPr algn="l">
              <a:lnSpc>
                <a:spcPct val="120000"/>
              </a:lnSpc>
              <a:spcBef>
                <a:spcPts val="0"/>
              </a:spcBef>
              <a:spcAft>
                <a:spcPts val="700"/>
              </a:spcAft>
            </a:pPr>
            <a:r>
              <a:rPr sz="1150" b="0" i="0">
                <a:solidFill>
                  <a:srgbClr val="5A6472"/>
                </a:solidFill>
                <a:latin typeface="Calibri"/>
              </a:rPr>
              <a:t>•  Independent blind target labels, set before source judgments</a:t>
            </a:r>
          </a:p>
          <a:p>
            <a:pPr algn="l">
              <a:lnSpc>
                <a:spcPct val="120000"/>
              </a:lnSpc>
              <a:spcBef>
                <a:spcPts val="0"/>
              </a:spcBef>
              <a:spcAft>
                <a:spcPts val="700"/>
              </a:spcAft>
            </a:pPr>
            <a:r>
              <a:rPr sz="1150" b="0" i="0">
                <a:solidFill>
                  <a:srgbClr val="5A6472"/>
                </a:solidFill>
                <a:latin typeface="Calibri"/>
              </a:rPr>
              <a:t>•  Store updated only after scoring</a:t>
            </a:r>
          </a:p>
          <a:p>
            <a:pPr algn="l">
              <a:lnSpc>
                <a:spcPct val="120000"/>
              </a:lnSpc>
              <a:spcBef>
                <a:spcPts val="0"/>
              </a:spcBef>
              <a:spcAft>
                <a:spcPts val="700"/>
              </a:spcAft>
            </a:pPr>
            <a:r>
              <a:rPr sz="1150" b="0" i="0">
                <a:solidFill>
                  <a:srgbClr val="5A6472"/>
                </a:solidFill>
                <a:latin typeface="Calibri"/>
              </a:rPr>
              <a:t>•  Predeclared thresholds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237744"/>
          </a:xfrm>
          <a:prstGeom prst="rect">
            <a:avLst/>
          </a:prstGeom>
          <a:noFill/>
        </p:spPr>
        <p:txBody>
          <a:bodyPr wrap="square" anchor="t" lIns="0" rIns="0" tIns="0" bIns="0">
            <a:spAutoFit/>
          </a:bodyPr>
          <a:lstStyle/>
          <a:p>
            <a:pPr algn="l">
              <a:spcBef>
                <a:spcPts val="0"/>
              </a:spcBef>
              <a:spcAft>
                <a:spcPts val="0"/>
              </a:spcAft>
            </a:pPr>
            <a:r>
              <a:rPr sz="1150" b="1" i="0">
                <a:solidFill>
                  <a:srgbClr val="2A78D6"/>
                </a:solidFill>
                <a:latin typeface="Calibri"/>
              </a:rPr>
              <a:t>BACKUP · RESEARCH CONTRACT</a:t>
            </a:r>
          </a:p>
        </p:txBody>
      </p:sp>
      <p:sp>
        <p:nvSpPr>
          <p:cNvPr id="3" name="TextBox 2"/>
          <p:cNvSpPr txBox="1"/>
          <p:nvPr/>
        </p:nvSpPr>
        <p:spPr>
          <a:xfrm>
            <a:off x="566928" y="713232"/>
            <a:ext cx="11057839" cy="553466"/>
          </a:xfrm>
          <a:prstGeom prst="rect">
            <a:avLst/>
          </a:prstGeom>
          <a:noFill/>
        </p:spPr>
        <p:txBody>
          <a:bodyPr wrap="square" anchor="t" lIns="0" rIns="0" tIns="0" bIns="0">
            <a:spAutoFit/>
          </a:bodyPr>
          <a:lstStyle/>
          <a:p>
            <a:pPr algn="l">
              <a:lnSpc>
                <a:spcPct val="110000"/>
              </a:lnSpc>
              <a:spcBef>
                <a:spcPts val="0"/>
              </a:spcBef>
              <a:spcAft>
                <a:spcPts val="0"/>
              </a:spcAft>
            </a:pPr>
            <a:r>
              <a:rPr sz="3100" b="1" i="0">
                <a:solidFill>
                  <a:srgbClr val="0F2740"/>
                </a:solidFill>
                <a:latin typeface="Cambria"/>
              </a:rPr>
              <a:t>Three studies, each independently falsifiable</a:t>
            </a:r>
          </a:p>
        </p:txBody>
      </p:sp>
      <p:sp>
        <p:nvSpPr>
          <p:cNvPr id="4" name="TextBox 3"/>
          <p:cNvSpPr txBox="1"/>
          <p:nvPr/>
        </p:nvSpPr>
        <p:spPr>
          <a:xfrm>
            <a:off x="566928" y="1339850"/>
            <a:ext cx="11057839" cy="294259"/>
          </a:xfrm>
          <a:prstGeom prst="rect">
            <a:avLst/>
          </a:prstGeom>
          <a:noFill/>
        </p:spPr>
        <p:txBody>
          <a:bodyPr wrap="square" anchor="t" lIns="0" rIns="0" tIns="0" bIns="0">
            <a:spAutoFit/>
          </a:bodyPr>
          <a:lstStyle/>
          <a:p>
            <a:pPr algn="l">
              <a:lnSpc>
                <a:spcPct val="118000"/>
              </a:lnSpc>
              <a:spcBef>
                <a:spcPts val="0"/>
              </a:spcBef>
              <a:spcAft>
                <a:spcPts val="0"/>
              </a:spcAft>
            </a:pPr>
            <a:r>
              <a:rPr sz="1450" b="0" i="0">
                <a:solidFill>
                  <a:srgbClr val="5A6472"/>
                </a:solidFill>
                <a:latin typeface="Calibri"/>
              </a:rPr>
              <a:t>Separate units of analysis prevent one small label set from carrying every claim.</a:t>
            </a:r>
          </a:p>
        </p:txBody>
      </p:sp>
      <p:sp>
        <p:nvSpPr>
          <p:cNvPr id="5" name="Rounded Rectangle 4"/>
          <p:cNvSpPr/>
          <p:nvPr/>
        </p:nvSpPr>
        <p:spPr>
          <a:xfrm>
            <a:off x="566928" y="1780413"/>
            <a:ext cx="11057839" cy="976788"/>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86384" y="1853565"/>
            <a:ext cx="1874519" cy="830484"/>
          </a:xfrm>
          <a:prstGeom prst="rect">
            <a:avLst/>
          </a:prstGeom>
          <a:noFill/>
        </p:spPr>
        <p:txBody>
          <a:bodyPr wrap="square" anchor="ctr" lIns="0" rIns="0" tIns="0" bIns="0">
            <a:spAutoFit/>
          </a:bodyPr>
          <a:lstStyle/>
          <a:p>
            <a:pPr algn="l">
              <a:lnSpc>
                <a:spcPct val="112000"/>
              </a:lnSpc>
              <a:spcBef>
                <a:spcPts val="0"/>
              </a:spcBef>
              <a:spcAft>
                <a:spcPts val="0"/>
              </a:spcAft>
            </a:pPr>
            <a:r>
              <a:rPr sz="1200" b="1" i="0">
                <a:solidFill>
                  <a:srgbClr val="2A78D6"/>
                </a:solidFill>
                <a:latin typeface="Cambria"/>
              </a:rPr>
              <a:t>Study 1 / SQ1</a:t>
            </a:r>
          </a:p>
        </p:txBody>
      </p:sp>
      <p:sp>
        <p:nvSpPr>
          <p:cNvPr id="7" name="TextBox 6"/>
          <p:cNvSpPr txBox="1"/>
          <p:nvPr/>
        </p:nvSpPr>
        <p:spPr>
          <a:xfrm>
            <a:off x="2779776" y="1853565"/>
            <a:ext cx="3200400" cy="830484"/>
          </a:xfrm>
          <a:prstGeom prst="rect">
            <a:avLst/>
          </a:prstGeom>
          <a:noFill/>
        </p:spPr>
        <p:txBody>
          <a:bodyPr wrap="square" anchor="ctr" lIns="0" rIns="0" tIns="0" bIns="0">
            <a:spAutoFit/>
          </a:bodyPr>
          <a:lstStyle/>
          <a:p>
            <a:pPr algn="l">
              <a:lnSpc>
                <a:spcPct val="114000"/>
              </a:lnSpc>
              <a:spcBef>
                <a:spcPts val="0"/>
              </a:spcBef>
              <a:spcAft>
                <a:spcPts val="0"/>
              </a:spcAft>
            </a:pPr>
            <a:r>
              <a:rPr sz="1100" b="1" i="0">
                <a:solidFill>
                  <a:srgbClr val="0F2740"/>
                </a:solidFill>
                <a:latin typeface="Calibri"/>
              </a:rPr>
              <a:t>Selective Human Review Orchestrator</a:t>
            </a:r>
          </a:p>
        </p:txBody>
      </p:sp>
      <p:sp>
        <p:nvSpPr>
          <p:cNvPr id="8" name="TextBox 7"/>
          <p:cNvSpPr txBox="1"/>
          <p:nvPr/>
        </p:nvSpPr>
        <p:spPr>
          <a:xfrm>
            <a:off x="6099048" y="1853565"/>
            <a:ext cx="2743200" cy="830484"/>
          </a:xfrm>
          <a:prstGeom prst="rect">
            <a:avLst/>
          </a:prstGeom>
          <a:noFill/>
        </p:spPr>
        <p:txBody>
          <a:bodyPr wrap="square" anchor="ctr" lIns="0" rIns="0" tIns="0" bIns="0">
            <a:spAutoFit/>
          </a:bodyPr>
          <a:lstStyle/>
          <a:p>
            <a:pPr algn="l">
              <a:lnSpc>
                <a:spcPct val="114000"/>
              </a:lnSpc>
              <a:spcBef>
                <a:spcPts val="0"/>
              </a:spcBef>
              <a:spcAft>
                <a:spcPts val="0"/>
              </a:spcAft>
            </a:pPr>
            <a:r>
              <a:rPr sz="1050" b="0" i="0">
                <a:solidFill>
                  <a:srgbClr val="5A6472"/>
                </a:solidFill>
                <a:latin typeface="Calibri"/>
              </a:rPr>
              <a:t>Held-out cases, policy baselines, burden logging</a:t>
            </a:r>
          </a:p>
        </p:txBody>
      </p:sp>
      <p:sp>
        <p:nvSpPr>
          <p:cNvPr id="9" name="TextBox 8"/>
          <p:cNvSpPr txBox="1"/>
          <p:nvPr/>
        </p:nvSpPr>
        <p:spPr>
          <a:xfrm>
            <a:off x="8979408" y="1853565"/>
            <a:ext cx="2606040" cy="830484"/>
          </a:xfrm>
          <a:prstGeom prst="rect">
            <a:avLst/>
          </a:prstGeom>
          <a:noFill/>
        </p:spPr>
        <p:txBody>
          <a:bodyPr wrap="square" anchor="ctr" lIns="0" rIns="0" tIns="0" bIns="0">
            <a:spAutoFit/>
          </a:bodyPr>
          <a:lstStyle/>
          <a:p>
            <a:pPr algn="l">
              <a:lnSpc>
                <a:spcPct val="114000"/>
              </a:lnSpc>
              <a:spcBef>
                <a:spcPts val="0"/>
              </a:spcBef>
              <a:spcAft>
                <a:spcPts val="0"/>
              </a:spcAft>
            </a:pPr>
            <a:r>
              <a:rPr sz="1000" b="0" i="0">
                <a:solidFill>
                  <a:srgbClr val="D03B3B"/>
                </a:solidFill>
                <a:latin typeface="Calibri"/>
              </a:rPr>
              <a:t>Falsified by: no gain over a simpler baseline, or unacceptable burden</a:t>
            </a:r>
          </a:p>
        </p:txBody>
      </p:sp>
      <p:sp>
        <p:nvSpPr>
          <p:cNvPr id="10" name="Rounded Rectangle 9"/>
          <p:cNvSpPr/>
          <p:nvPr/>
        </p:nvSpPr>
        <p:spPr>
          <a:xfrm>
            <a:off x="566928" y="2866929"/>
            <a:ext cx="11057839" cy="976788"/>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2940081"/>
            <a:ext cx="1874519" cy="830484"/>
          </a:xfrm>
          <a:prstGeom prst="rect">
            <a:avLst/>
          </a:prstGeom>
          <a:noFill/>
        </p:spPr>
        <p:txBody>
          <a:bodyPr wrap="square" anchor="ctr" lIns="0" rIns="0" tIns="0" bIns="0">
            <a:spAutoFit/>
          </a:bodyPr>
          <a:lstStyle/>
          <a:p>
            <a:pPr algn="l">
              <a:lnSpc>
                <a:spcPct val="112000"/>
              </a:lnSpc>
              <a:spcBef>
                <a:spcPts val="0"/>
              </a:spcBef>
              <a:spcAft>
                <a:spcPts val="0"/>
              </a:spcAft>
            </a:pPr>
            <a:r>
              <a:rPr sz="1200" b="1" i="0">
                <a:solidFill>
                  <a:srgbClr val="2A78D6"/>
                </a:solidFill>
                <a:latin typeface="Cambria"/>
              </a:rPr>
              <a:t>Study 2 / SQ2</a:t>
            </a:r>
          </a:p>
        </p:txBody>
      </p:sp>
      <p:sp>
        <p:nvSpPr>
          <p:cNvPr id="12" name="TextBox 11"/>
          <p:cNvSpPr txBox="1"/>
          <p:nvPr/>
        </p:nvSpPr>
        <p:spPr>
          <a:xfrm>
            <a:off x="2779776" y="2940081"/>
            <a:ext cx="3200400" cy="830484"/>
          </a:xfrm>
          <a:prstGeom prst="rect">
            <a:avLst/>
          </a:prstGeom>
          <a:noFill/>
        </p:spPr>
        <p:txBody>
          <a:bodyPr wrap="square" anchor="ctr" lIns="0" rIns="0" tIns="0" bIns="0">
            <a:spAutoFit/>
          </a:bodyPr>
          <a:lstStyle/>
          <a:p>
            <a:pPr algn="l">
              <a:lnSpc>
                <a:spcPct val="114000"/>
              </a:lnSpc>
              <a:spcBef>
                <a:spcPts val="0"/>
              </a:spcBef>
              <a:spcAft>
                <a:spcPts val="0"/>
              </a:spcAft>
            </a:pPr>
            <a:r>
              <a:rPr sz="1100" b="1" i="0">
                <a:solidFill>
                  <a:srgbClr val="0F2740"/>
                </a:solidFill>
                <a:latin typeface="Calibri"/>
              </a:rPr>
              <a:t>Governed Judgment Object + Contestable Store</a:t>
            </a:r>
          </a:p>
        </p:txBody>
      </p:sp>
      <p:sp>
        <p:nvSpPr>
          <p:cNvPr id="13" name="TextBox 12"/>
          <p:cNvSpPr txBox="1"/>
          <p:nvPr/>
        </p:nvSpPr>
        <p:spPr>
          <a:xfrm>
            <a:off x="6099048" y="2940081"/>
            <a:ext cx="2743200" cy="830484"/>
          </a:xfrm>
          <a:prstGeom prst="rect">
            <a:avLst/>
          </a:prstGeom>
          <a:noFill/>
        </p:spPr>
        <p:txBody>
          <a:bodyPr wrap="square" anchor="ctr" lIns="0" rIns="0" tIns="0" bIns="0">
            <a:spAutoFit/>
          </a:bodyPr>
          <a:lstStyle/>
          <a:p>
            <a:pPr algn="l">
              <a:lnSpc>
                <a:spcPct val="114000"/>
              </a:lnSpc>
              <a:spcBef>
                <a:spcPts val="0"/>
              </a:spcBef>
              <a:spcAft>
                <a:spcPts val="0"/>
              </a:spcAft>
            </a:pPr>
            <a:r>
              <a:rPr sz="1050" b="0" i="0">
                <a:solidFill>
                  <a:srgbClr val="5A6472"/>
                </a:solidFill>
                <a:latin typeface="Calibri"/>
              </a:rPr>
              <a:t>Label-only comparator, reconstruction and lifecycle tests</a:t>
            </a:r>
          </a:p>
        </p:txBody>
      </p:sp>
      <p:sp>
        <p:nvSpPr>
          <p:cNvPr id="14" name="TextBox 13"/>
          <p:cNvSpPr txBox="1"/>
          <p:nvPr/>
        </p:nvSpPr>
        <p:spPr>
          <a:xfrm>
            <a:off x="8979408" y="2940081"/>
            <a:ext cx="2606040" cy="830484"/>
          </a:xfrm>
          <a:prstGeom prst="rect">
            <a:avLst/>
          </a:prstGeom>
          <a:noFill/>
        </p:spPr>
        <p:txBody>
          <a:bodyPr wrap="square" anchor="ctr" lIns="0" rIns="0" tIns="0" bIns="0">
            <a:spAutoFit/>
          </a:bodyPr>
          <a:lstStyle/>
          <a:p>
            <a:pPr algn="l">
              <a:lnSpc>
                <a:spcPct val="114000"/>
              </a:lnSpc>
              <a:spcBef>
                <a:spcPts val="0"/>
              </a:spcBef>
              <a:spcAft>
                <a:spcPts val="0"/>
              </a:spcAft>
            </a:pPr>
            <a:r>
              <a:rPr sz="1000" b="0" i="0">
                <a:solidFill>
                  <a:srgbClr val="D03B3B"/>
                </a:solidFill>
                <a:latin typeface="Calibri"/>
              </a:rPr>
              <a:t>Falsified by: reviewers cannot use the object, or governance cost outweighs benefit</a:t>
            </a:r>
          </a:p>
        </p:txBody>
      </p:sp>
      <p:sp>
        <p:nvSpPr>
          <p:cNvPr id="15" name="Rounded Rectangle 14"/>
          <p:cNvSpPr/>
          <p:nvPr/>
        </p:nvSpPr>
        <p:spPr>
          <a:xfrm>
            <a:off x="566928" y="3953446"/>
            <a:ext cx="11057839" cy="976788"/>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86384" y="4026598"/>
            <a:ext cx="1874519" cy="830484"/>
          </a:xfrm>
          <a:prstGeom prst="rect">
            <a:avLst/>
          </a:prstGeom>
          <a:noFill/>
        </p:spPr>
        <p:txBody>
          <a:bodyPr wrap="square" anchor="ctr" lIns="0" rIns="0" tIns="0" bIns="0">
            <a:spAutoFit/>
          </a:bodyPr>
          <a:lstStyle/>
          <a:p>
            <a:pPr algn="l">
              <a:lnSpc>
                <a:spcPct val="112000"/>
              </a:lnSpc>
              <a:spcBef>
                <a:spcPts val="0"/>
              </a:spcBef>
              <a:spcAft>
                <a:spcPts val="0"/>
              </a:spcAft>
            </a:pPr>
            <a:r>
              <a:rPr sz="1200" b="1" i="0">
                <a:solidFill>
                  <a:srgbClr val="2A78D6"/>
                </a:solidFill>
                <a:latin typeface="Cambria"/>
              </a:rPr>
              <a:t>Study 3 / SQ3</a:t>
            </a:r>
          </a:p>
        </p:txBody>
      </p:sp>
      <p:sp>
        <p:nvSpPr>
          <p:cNvPr id="17" name="TextBox 16"/>
          <p:cNvSpPr txBox="1"/>
          <p:nvPr/>
        </p:nvSpPr>
        <p:spPr>
          <a:xfrm>
            <a:off x="2779776" y="4026598"/>
            <a:ext cx="3200400" cy="830484"/>
          </a:xfrm>
          <a:prstGeom prst="rect">
            <a:avLst/>
          </a:prstGeom>
          <a:noFill/>
        </p:spPr>
        <p:txBody>
          <a:bodyPr wrap="square" anchor="ctr" lIns="0" rIns="0" tIns="0" bIns="0">
            <a:spAutoFit/>
          </a:bodyPr>
          <a:lstStyle/>
          <a:p>
            <a:pPr algn="l">
              <a:lnSpc>
                <a:spcPct val="114000"/>
              </a:lnSpc>
              <a:spcBef>
                <a:spcPts val="0"/>
              </a:spcBef>
              <a:spcAft>
                <a:spcPts val="0"/>
              </a:spcAft>
            </a:pPr>
            <a:r>
              <a:rPr sz="1100" b="1" i="0">
                <a:solidFill>
                  <a:srgbClr val="0F2740"/>
                </a:solidFill>
                <a:latin typeface="Calibri"/>
              </a:rPr>
              <a:t>Scope-Aware Retrieval Advisor + transfer classifier</a:t>
            </a:r>
          </a:p>
        </p:txBody>
      </p:sp>
      <p:sp>
        <p:nvSpPr>
          <p:cNvPr id="18" name="TextBox 17"/>
          <p:cNvSpPr txBox="1"/>
          <p:nvPr/>
        </p:nvSpPr>
        <p:spPr>
          <a:xfrm>
            <a:off x="6099048" y="4026598"/>
            <a:ext cx="2743200" cy="830484"/>
          </a:xfrm>
          <a:prstGeom prst="rect">
            <a:avLst/>
          </a:prstGeom>
          <a:noFill/>
        </p:spPr>
        <p:txBody>
          <a:bodyPr wrap="square" anchor="ctr" lIns="0" rIns="0" tIns="0" bIns="0">
            <a:spAutoFit/>
          </a:bodyPr>
          <a:lstStyle/>
          <a:p>
            <a:pPr algn="l">
              <a:lnSpc>
                <a:spcPct val="114000"/>
              </a:lnSpc>
              <a:spcBef>
                <a:spcPts val="0"/>
              </a:spcBef>
              <a:spcAft>
                <a:spcPts val="0"/>
              </a:spcAft>
            </a:pPr>
            <a:r>
              <a:rPr sz="1050" b="0" i="0">
                <a:solidFill>
                  <a:srgbClr val="5A6472"/>
                </a:solidFill>
                <a:latin typeface="Calibri"/>
              </a:rPr>
              <a:t>Frozen store, blind labels, matched no-reuse control</a:t>
            </a:r>
          </a:p>
        </p:txBody>
      </p:sp>
      <p:sp>
        <p:nvSpPr>
          <p:cNvPr id="19" name="TextBox 18"/>
          <p:cNvSpPr txBox="1"/>
          <p:nvPr/>
        </p:nvSpPr>
        <p:spPr>
          <a:xfrm>
            <a:off x="8979408" y="4026598"/>
            <a:ext cx="2606040" cy="830484"/>
          </a:xfrm>
          <a:prstGeom prst="rect">
            <a:avLst/>
          </a:prstGeom>
          <a:noFill/>
        </p:spPr>
        <p:txBody>
          <a:bodyPr wrap="square" anchor="ctr" lIns="0" rIns="0" tIns="0" bIns="0">
            <a:spAutoFit/>
          </a:bodyPr>
          <a:lstStyle/>
          <a:p>
            <a:pPr algn="l">
              <a:lnSpc>
                <a:spcPct val="114000"/>
              </a:lnSpc>
              <a:spcBef>
                <a:spcPts val="0"/>
              </a:spcBef>
              <a:spcAft>
                <a:spcPts val="0"/>
              </a:spcAft>
            </a:pPr>
            <a:r>
              <a:rPr sz="1000" b="0" i="0">
                <a:solidFill>
                  <a:srgbClr val="D03B3B"/>
                </a:solidFill>
                <a:latin typeface="Calibri"/>
              </a:rPr>
              <a:t>Falsified by: no target benefit, or effect vanishes under blinding</a:t>
            </a:r>
          </a:p>
        </p:txBody>
      </p:sp>
      <p:sp>
        <p:nvSpPr>
          <p:cNvPr id="20" name="Rounded Rectangle 19"/>
          <p:cNvSpPr/>
          <p:nvPr/>
        </p:nvSpPr>
        <p:spPr>
          <a:xfrm>
            <a:off x="566928" y="5039963"/>
            <a:ext cx="11057839" cy="976788"/>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86384" y="5113115"/>
            <a:ext cx="1874519" cy="830484"/>
          </a:xfrm>
          <a:prstGeom prst="rect">
            <a:avLst/>
          </a:prstGeom>
          <a:noFill/>
        </p:spPr>
        <p:txBody>
          <a:bodyPr wrap="square" anchor="ctr" lIns="0" rIns="0" tIns="0" bIns="0">
            <a:spAutoFit/>
          </a:bodyPr>
          <a:lstStyle/>
          <a:p>
            <a:pPr algn="l">
              <a:lnSpc>
                <a:spcPct val="112000"/>
              </a:lnSpc>
              <a:spcBef>
                <a:spcPts val="0"/>
              </a:spcBef>
              <a:spcAft>
                <a:spcPts val="0"/>
              </a:spcAft>
            </a:pPr>
            <a:r>
              <a:rPr sz="1200" b="1" i="0">
                <a:solidFill>
                  <a:srgbClr val="2A78D6"/>
                </a:solidFill>
                <a:latin typeface="Cambria"/>
              </a:rPr>
              <a:t>Integrated / U-RQ</a:t>
            </a:r>
          </a:p>
        </p:txBody>
      </p:sp>
      <p:sp>
        <p:nvSpPr>
          <p:cNvPr id="22" name="TextBox 21"/>
          <p:cNvSpPr txBox="1"/>
          <p:nvPr/>
        </p:nvSpPr>
        <p:spPr>
          <a:xfrm>
            <a:off x="2779776" y="5113115"/>
            <a:ext cx="3200400" cy="830484"/>
          </a:xfrm>
          <a:prstGeom prst="rect">
            <a:avLst/>
          </a:prstGeom>
          <a:noFill/>
        </p:spPr>
        <p:txBody>
          <a:bodyPr wrap="square" anchor="ctr" lIns="0" rIns="0" tIns="0" bIns="0">
            <a:spAutoFit/>
          </a:bodyPr>
          <a:lstStyle/>
          <a:p>
            <a:pPr algn="l">
              <a:lnSpc>
                <a:spcPct val="114000"/>
              </a:lnSpc>
              <a:spcBef>
                <a:spcPts val="0"/>
              </a:spcBef>
              <a:spcAft>
                <a:spcPts val="0"/>
              </a:spcAft>
            </a:pPr>
            <a:r>
              <a:rPr sz="1100" b="1" i="0">
                <a:solidFill>
                  <a:srgbClr val="0F2740"/>
                </a:solidFill>
                <a:latin typeface="Calibri"/>
              </a:rPr>
              <a:t>End-to-end governed lifecycle</a:t>
            </a:r>
          </a:p>
        </p:txBody>
      </p:sp>
      <p:sp>
        <p:nvSpPr>
          <p:cNvPr id="23" name="TextBox 22"/>
          <p:cNvSpPr txBox="1"/>
          <p:nvPr/>
        </p:nvSpPr>
        <p:spPr>
          <a:xfrm>
            <a:off x="6099048" y="5113115"/>
            <a:ext cx="2743200" cy="830484"/>
          </a:xfrm>
          <a:prstGeom prst="rect">
            <a:avLst/>
          </a:prstGeom>
          <a:noFill/>
        </p:spPr>
        <p:txBody>
          <a:bodyPr wrap="square" anchor="ctr" lIns="0" rIns="0" tIns="0" bIns="0">
            <a:spAutoFit/>
          </a:bodyPr>
          <a:lstStyle/>
          <a:p>
            <a:pPr algn="l">
              <a:lnSpc>
                <a:spcPct val="114000"/>
              </a:lnSpc>
              <a:spcBef>
                <a:spcPts val="0"/>
              </a:spcBef>
              <a:spcAft>
                <a:spcPts val="0"/>
              </a:spcAft>
            </a:pPr>
            <a:r>
              <a:rPr sz="1050" b="0" i="0">
                <a:solidFill>
                  <a:srgbClr val="5A6472"/>
                </a:solidFill>
                <a:latin typeface="Calibri"/>
              </a:rPr>
              <a:t>Human-only, AI-only and non-governed baselines</a:t>
            </a:r>
          </a:p>
        </p:txBody>
      </p:sp>
      <p:sp>
        <p:nvSpPr>
          <p:cNvPr id="24" name="TextBox 23"/>
          <p:cNvSpPr txBox="1"/>
          <p:nvPr/>
        </p:nvSpPr>
        <p:spPr>
          <a:xfrm>
            <a:off x="8979408" y="5113115"/>
            <a:ext cx="2606040" cy="830484"/>
          </a:xfrm>
          <a:prstGeom prst="rect">
            <a:avLst/>
          </a:prstGeom>
          <a:noFill/>
        </p:spPr>
        <p:txBody>
          <a:bodyPr wrap="square" anchor="ctr" lIns="0" rIns="0" tIns="0" bIns="0">
            <a:spAutoFit/>
          </a:bodyPr>
          <a:lstStyle/>
          <a:p>
            <a:pPr algn="l">
              <a:lnSpc>
                <a:spcPct val="114000"/>
              </a:lnSpc>
              <a:spcBef>
                <a:spcPts val="0"/>
              </a:spcBef>
              <a:spcAft>
                <a:spcPts val="0"/>
              </a:spcAft>
            </a:pPr>
            <a:r>
              <a:rPr sz="1000" b="0" i="0">
                <a:solidFill>
                  <a:srgbClr val="D03B3B"/>
                </a:solidFill>
                <a:latin typeface="Calibri"/>
              </a:rPr>
              <a:t>Falsified by: any load-bearing study fails, or gain is only extra human effort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237744"/>
          </a:xfrm>
          <a:prstGeom prst="rect">
            <a:avLst/>
          </a:prstGeom>
          <a:noFill/>
        </p:spPr>
        <p:txBody>
          <a:bodyPr wrap="square" anchor="t" lIns="0" rIns="0" tIns="0" bIns="0">
            <a:spAutoFit/>
          </a:bodyPr>
          <a:lstStyle/>
          <a:p>
            <a:pPr algn="l">
              <a:spcBef>
                <a:spcPts val="0"/>
              </a:spcBef>
              <a:spcAft>
                <a:spcPts val="0"/>
              </a:spcAft>
            </a:pPr>
            <a:r>
              <a:rPr sz="1150" b="1" i="0">
                <a:solidFill>
                  <a:srgbClr val="2A78D6"/>
                </a:solidFill>
                <a:latin typeface="Calibri"/>
              </a:rPr>
              <a:t>BACKUP · METHOD AND HONESTY CONTROLS</a:t>
            </a:r>
          </a:p>
        </p:txBody>
      </p:sp>
      <p:sp>
        <p:nvSpPr>
          <p:cNvPr id="3" name="TextBox 2"/>
          <p:cNvSpPr txBox="1"/>
          <p:nvPr/>
        </p:nvSpPr>
        <p:spPr>
          <a:xfrm>
            <a:off x="566928" y="713232"/>
            <a:ext cx="11057839" cy="553466"/>
          </a:xfrm>
          <a:prstGeom prst="rect">
            <a:avLst/>
          </a:prstGeom>
          <a:noFill/>
        </p:spPr>
        <p:txBody>
          <a:bodyPr wrap="square" anchor="t" lIns="0" rIns="0" tIns="0" bIns="0">
            <a:spAutoFit/>
          </a:bodyPr>
          <a:lstStyle/>
          <a:p>
            <a:pPr algn="l">
              <a:lnSpc>
                <a:spcPct val="110000"/>
              </a:lnSpc>
              <a:spcBef>
                <a:spcPts val="0"/>
              </a:spcBef>
              <a:spcAft>
                <a:spcPts val="0"/>
              </a:spcAft>
            </a:pPr>
            <a:r>
              <a:rPr sz="3100" b="1" i="0">
                <a:solidFill>
                  <a:srgbClr val="0F2740"/>
                </a:solidFill>
                <a:latin typeface="Cambria"/>
              </a:rPr>
              <a:t>Design science, GenAI use, and the evidence boundary</a:t>
            </a:r>
          </a:p>
        </p:txBody>
      </p:sp>
      <p:sp>
        <p:nvSpPr>
          <p:cNvPr id="4" name="TextBox 3"/>
          <p:cNvSpPr txBox="1"/>
          <p:nvPr/>
        </p:nvSpPr>
        <p:spPr>
          <a:xfrm>
            <a:off x="566928" y="1339850"/>
            <a:ext cx="11057839" cy="294259"/>
          </a:xfrm>
          <a:prstGeom prst="rect">
            <a:avLst/>
          </a:prstGeom>
          <a:noFill/>
        </p:spPr>
        <p:txBody>
          <a:bodyPr wrap="square" anchor="t" lIns="0" rIns="0" tIns="0" bIns="0">
            <a:spAutoFit/>
          </a:bodyPr>
          <a:lstStyle/>
          <a:p>
            <a:pPr algn="l">
              <a:lnSpc>
                <a:spcPct val="118000"/>
              </a:lnSpc>
              <a:spcBef>
                <a:spcPts val="0"/>
              </a:spcBef>
              <a:spcAft>
                <a:spcPts val="0"/>
              </a:spcAft>
            </a:pPr>
            <a:r>
              <a:rPr sz="1450" b="0" i="0">
                <a:solidFill>
                  <a:srgbClr val="5A6472"/>
                </a:solidFill>
                <a:latin typeface="Calibri"/>
              </a:rPr>
              <a:t>How this sits in the course's design-science frame, and exactly what is not being claimed.</a:t>
            </a:r>
          </a:p>
        </p:txBody>
      </p:sp>
      <p:sp>
        <p:nvSpPr>
          <p:cNvPr id="5" name="Rounded Rectangle 4"/>
          <p:cNvSpPr/>
          <p:nvPr/>
        </p:nvSpPr>
        <p:spPr>
          <a:xfrm>
            <a:off x="566928" y="1780413"/>
            <a:ext cx="3551834" cy="3529584"/>
          </a:xfrm>
          <a:prstGeom prst="roundRect">
            <a:avLst>
              <a:gd name="adj" fmla="val 4000"/>
            </a:avLst>
          </a:prstGeom>
          <a:solidFill>
            <a:srgbClr val="F2F5F9"/>
          </a:solidFill>
          <a:ln w="12700">
            <a:solidFill>
              <a:srgbClr val="D5DD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86384" y="1963293"/>
            <a:ext cx="3112922" cy="3200400"/>
          </a:xfrm>
          <a:prstGeom prst="rect">
            <a:avLst/>
          </a:prstGeom>
          <a:noFill/>
        </p:spPr>
        <p:txBody>
          <a:bodyPr wrap="square" anchor="t" lIns="0" rIns="0" tIns="0" bIns="0">
            <a:spAutoFit/>
          </a:bodyPr>
          <a:lstStyle/>
          <a:p>
            <a:pPr algn="l">
              <a:spcBef>
                <a:spcPts val="0"/>
              </a:spcBef>
              <a:spcAft>
                <a:spcPts val="900"/>
              </a:spcAft>
            </a:pPr>
            <a:r>
              <a:rPr sz="1400" b="1" i="0">
                <a:solidFill>
                  <a:srgbClr val="2A78D6"/>
                </a:solidFill>
                <a:latin typeface="Cambria"/>
              </a:rPr>
              <a:t>Design science</a:t>
            </a:r>
          </a:p>
          <a:p>
            <a:pPr algn="l">
              <a:lnSpc>
                <a:spcPct val="118000"/>
              </a:lnSpc>
              <a:spcBef>
                <a:spcPts val="0"/>
              </a:spcBef>
              <a:spcAft>
                <a:spcPts val="800"/>
              </a:spcAft>
            </a:pPr>
            <a:r>
              <a:rPr sz="1150" b="1" i="0">
                <a:solidFill>
                  <a:srgbClr val="0B0B0B"/>
                </a:solidFill>
                <a:latin typeface="Calibri"/>
              </a:rPr>
              <a:t>Relevance  </a:t>
            </a:r>
            <a:r>
              <a:rPr sz="1100" b="0" i="0">
                <a:solidFill>
                  <a:srgbClr val="5A6472"/>
                </a:solidFill>
                <a:latin typeface="Calibri"/>
              </a:rPr>
              <a:t>expert review is scarce; deviation meaning is contextual; guidelines drift unseen</a:t>
            </a:r>
          </a:p>
          <a:p>
            <a:pPr algn="l">
              <a:lnSpc>
                <a:spcPct val="118000"/>
              </a:lnSpc>
              <a:spcBef>
                <a:spcPts val="0"/>
              </a:spcBef>
              <a:spcAft>
                <a:spcPts val="800"/>
              </a:spcAft>
            </a:pPr>
            <a:r>
              <a:rPr sz="1150" b="1" i="0">
                <a:solidFill>
                  <a:srgbClr val="0B0B0B"/>
                </a:solidFill>
                <a:latin typeface="Calibri"/>
              </a:rPr>
              <a:t>Design  </a:t>
            </a:r>
            <a:r>
              <a:rPr sz="1100" b="0" i="0">
                <a:solidFill>
                  <a:srgbClr val="5A6472"/>
                </a:solidFill>
                <a:latin typeface="Calibri"/>
              </a:rPr>
              <a:t>selective-intervention policy + governed judgment lifecycle, built and evaluated per sub-question</a:t>
            </a:r>
          </a:p>
          <a:p>
            <a:pPr algn="l">
              <a:lnSpc>
                <a:spcPct val="118000"/>
              </a:lnSpc>
              <a:spcBef>
                <a:spcPts val="0"/>
              </a:spcBef>
              <a:spcAft>
                <a:spcPts val="800"/>
              </a:spcAft>
            </a:pPr>
            <a:r>
              <a:rPr sz="1150" b="1" i="0">
                <a:solidFill>
                  <a:srgbClr val="0B0B0B"/>
                </a:solidFill>
                <a:latin typeface="Calibri"/>
              </a:rPr>
              <a:t>Rigor  </a:t>
            </a:r>
            <a:r>
              <a:rPr sz="1100" b="0" i="0">
                <a:solidFill>
                  <a:srgbClr val="5A6472"/>
                </a:solidFill>
                <a:latin typeface="Calibri"/>
              </a:rPr>
              <a:t>structured review with evidence levels; the lifecycle framework is itself a candidate contribution back</a:t>
            </a:r>
          </a:p>
        </p:txBody>
      </p:sp>
      <p:sp>
        <p:nvSpPr>
          <p:cNvPr id="7" name="Rounded Rectangle 6"/>
          <p:cNvSpPr/>
          <p:nvPr/>
        </p:nvSpPr>
        <p:spPr>
          <a:xfrm>
            <a:off x="4319930" y="1780413"/>
            <a:ext cx="3551834" cy="3529584"/>
          </a:xfrm>
          <a:prstGeom prst="roundRect">
            <a:avLst>
              <a:gd name="adj" fmla="val 4000"/>
            </a:avLst>
          </a:prstGeom>
          <a:solidFill>
            <a:srgbClr val="F3F8F3"/>
          </a:solidFill>
          <a:ln w="12700">
            <a:solidFill>
              <a:srgbClr val="CCE4C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539386" y="1963293"/>
            <a:ext cx="3112922" cy="3200400"/>
          </a:xfrm>
          <a:prstGeom prst="rect">
            <a:avLst/>
          </a:prstGeom>
          <a:noFill/>
        </p:spPr>
        <p:txBody>
          <a:bodyPr wrap="square" anchor="t" lIns="0" rIns="0" tIns="0" bIns="0">
            <a:spAutoFit/>
          </a:bodyPr>
          <a:lstStyle/>
          <a:p>
            <a:pPr algn="l">
              <a:spcBef>
                <a:spcPts val="0"/>
              </a:spcBef>
              <a:spcAft>
                <a:spcPts val="800"/>
              </a:spcAft>
            </a:pPr>
            <a:r>
              <a:rPr sz="1400" b="1" i="0">
                <a:solidFill>
                  <a:srgbClr val="0CA30C"/>
                </a:solidFill>
                <a:latin typeface="Cambria"/>
              </a:rPr>
              <a:t>GenAI — used for</a:t>
            </a:r>
          </a:p>
          <a:p>
            <a:pPr algn="l">
              <a:lnSpc>
                <a:spcPct val="118000"/>
              </a:lnSpc>
              <a:spcBef>
                <a:spcPts val="0"/>
              </a:spcBef>
              <a:spcAft>
                <a:spcPts val="500"/>
              </a:spcAft>
            </a:pPr>
            <a:r>
              <a:rPr sz="1150" b="0" i="0">
                <a:solidFill>
                  <a:srgbClr val="5A6472"/>
                </a:solidFill>
                <a:latin typeface="Calibri"/>
              </a:rPr>
              <a:t>•  Literature organisation</a:t>
            </a:r>
          </a:p>
          <a:p>
            <a:pPr algn="l">
              <a:lnSpc>
                <a:spcPct val="118000"/>
              </a:lnSpc>
              <a:spcBef>
                <a:spcPts val="0"/>
              </a:spcBef>
              <a:spcAft>
                <a:spcPts val="500"/>
              </a:spcAft>
            </a:pPr>
            <a:r>
              <a:rPr sz="1150" b="0" i="0">
                <a:solidFill>
                  <a:srgbClr val="5A6472"/>
                </a:solidFill>
                <a:latin typeface="Calibri"/>
              </a:rPr>
              <a:t>•  Synthesis drafting</a:t>
            </a:r>
          </a:p>
          <a:p>
            <a:pPr algn="l">
              <a:lnSpc>
                <a:spcPct val="118000"/>
              </a:lnSpc>
              <a:spcBef>
                <a:spcPts val="0"/>
              </a:spcBef>
              <a:spcAft>
                <a:spcPts val="500"/>
              </a:spcAft>
            </a:pPr>
            <a:r>
              <a:rPr sz="1150" b="0" i="0">
                <a:solidFill>
                  <a:srgbClr val="5A6472"/>
                </a:solidFill>
                <a:latin typeface="Calibri"/>
              </a:rPr>
              <a:t>•  Diagram production</a:t>
            </a:r>
          </a:p>
          <a:p>
            <a:pPr algn="l">
              <a:lnSpc>
                <a:spcPct val="118000"/>
              </a:lnSpc>
              <a:spcBef>
                <a:spcPts val="0"/>
              </a:spcBef>
              <a:spcAft>
                <a:spcPts val="500"/>
              </a:spcAft>
            </a:pPr>
            <a:r>
              <a:rPr sz="1150" b="0" i="0">
                <a:solidFill>
                  <a:srgbClr val="5A6472"/>
                </a:solidFill>
                <a:latin typeface="Calibri"/>
              </a:rPr>
              <a:t>•  Consistency checks</a:t>
            </a:r>
          </a:p>
          <a:p>
            <a:pPr algn="l">
              <a:lnSpc>
                <a:spcPct val="118000"/>
              </a:lnSpc>
              <a:spcBef>
                <a:spcPts val="0"/>
              </a:spcBef>
              <a:spcAft>
                <a:spcPts val="500"/>
              </a:spcAft>
            </a:pPr>
            <a:r>
              <a:rPr sz="1150" b="0" i="0">
                <a:solidFill>
                  <a:srgbClr val="5A6472"/>
                </a:solidFill>
                <a:latin typeface="Calibri"/>
              </a:rPr>
              <a:t>•  Document layout</a:t>
            </a:r>
          </a:p>
          <a:p>
            <a:pPr algn="l">
              <a:spcBef>
                <a:spcPts val="800"/>
              </a:spcBef>
              <a:spcAft>
                <a:spcPts val="600"/>
              </a:spcAft>
            </a:pPr>
            <a:r>
              <a:rPr sz="1300" b="1" i="0">
                <a:solidFill>
                  <a:srgbClr val="D03B3B"/>
                </a:solidFill>
                <a:latin typeface="Calibri"/>
              </a:rPr>
              <a:t>Not used for</a:t>
            </a:r>
          </a:p>
          <a:p>
            <a:pPr algn="l">
              <a:lnSpc>
                <a:spcPct val="118000"/>
              </a:lnSpc>
              <a:spcBef>
                <a:spcPts val="0"/>
              </a:spcBef>
              <a:spcAft>
                <a:spcPts val="500"/>
              </a:spcAft>
            </a:pPr>
            <a:r>
              <a:rPr sz="1150" b="0" i="0">
                <a:solidFill>
                  <a:srgbClr val="5A6472"/>
                </a:solidFill>
                <a:latin typeface="Calibri"/>
              </a:rPr>
              <a:t>•  Approving inclusion decisions</a:t>
            </a:r>
          </a:p>
          <a:p>
            <a:pPr algn="l">
              <a:lnSpc>
                <a:spcPct val="118000"/>
              </a:lnSpc>
              <a:spcBef>
                <a:spcPts val="0"/>
              </a:spcBef>
              <a:spcAft>
                <a:spcPts val="500"/>
              </a:spcAft>
            </a:pPr>
            <a:r>
              <a:rPr sz="1150" b="0" i="0">
                <a:solidFill>
                  <a:srgbClr val="5A6472"/>
                </a:solidFill>
                <a:latin typeface="Calibri"/>
              </a:rPr>
              <a:t>•  Inventing citations</a:t>
            </a:r>
          </a:p>
          <a:p>
            <a:pPr algn="l">
              <a:lnSpc>
                <a:spcPct val="118000"/>
              </a:lnSpc>
              <a:spcBef>
                <a:spcPts val="0"/>
              </a:spcBef>
              <a:spcAft>
                <a:spcPts val="500"/>
              </a:spcAft>
            </a:pPr>
            <a:r>
              <a:rPr sz="1150" b="0" i="0">
                <a:solidFill>
                  <a:srgbClr val="5A6472"/>
                </a:solidFill>
                <a:latin typeface="Calibri"/>
              </a:rPr>
              <a:t>•  Creating expert labels</a:t>
            </a:r>
          </a:p>
          <a:p>
            <a:pPr algn="l">
              <a:lnSpc>
                <a:spcPct val="118000"/>
              </a:lnSpc>
              <a:spcBef>
                <a:spcPts val="0"/>
              </a:spcBef>
              <a:spcAft>
                <a:spcPts val="500"/>
              </a:spcAft>
            </a:pPr>
            <a:r>
              <a:rPr sz="1150" b="0" i="0">
                <a:solidFill>
                  <a:srgbClr val="5A6472"/>
                </a:solidFill>
                <a:latin typeface="Calibri"/>
              </a:rPr>
              <a:t>•  Claiming supervisor approval</a:t>
            </a:r>
          </a:p>
        </p:txBody>
      </p:sp>
      <p:sp>
        <p:nvSpPr>
          <p:cNvPr id="9" name="Rounded Rectangle 8"/>
          <p:cNvSpPr/>
          <p:nvPr/>
        </p:nvSpPr>
        <p:spPr>
          <a:xfrm>
            <a:off x="8072932" y="1780413"/>
            <a:ext cx="3551834" cy="3529584"/>
          </a:xfrm>
          <a:prstGeom prst="roundRect">
            <a:avLst>
              <a:gd name="adj" fmla="val 4000"/>
            </a:avLst>
          </a:prstGeom>
          <a:solidFill>
            <a:srgbClr val="FDF0F0"/>
          </a:solidFill>
          <a:ln w="12700">
            <a:solidFill>
              <a:srgbClr val="F0C8C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92388" y="1963293"/>
            <a:ext cx="3112922" cy="3200400"/>
          </a:xfrm>
          <a:prstGeom prst="rect">
            <a:avLst/>
          </a:prstGeom>
          <a:noFill/>
        </p:spPr>
        <p:txBody>
          <a:bodyPr wrap="square" anchor="t" lIns="0" rIns="0" tIns="0" bIns="0">
            <a:spAutoFit/>
          </a:bodyPr>
          <a:lstStyle/>
          <a:p>
            <a:pPr algn="l">
              <a:spcBef>
                <a:spcPts val="0"/>
              </a:spcBef>
              <a:spcAft>
                <a:spcPts val="900"/>
              </a:spcAft>
            </a:pPr>
            <a:r>
              <a:rPr sz="1400" b="1" i="0">
                <a:solidFill>
                  <a:srgbClr val="D03B3B"/>
                </a:solidFill>
                <a:latin typeface="Cambria"/>
              </a:rPr>
              <a:t>Not claimed</a:t>
            </a:r>
          </a:p>
          <a:p>
            <a:pPr algn="l">
              <a:lnSpc>
                <a:spcPct val="118000"/>
              </a:lnSpc>
              <a:spcBef>
                <a:spcPts val="0"/>
              </a:spcBef>
              <a:spcAft>
                <a:spcPts val="700"/>
              </a:spcAft>
            </a:pPr>
            <a:r>
              <a:rPr sz="1100" b="0" i="0">
                <a:solidFill>
                  <a:srgbClr val="5A6472"/>
                </a:solidFill>
                <a:latin typeface="Calibri"/>
              </a:rPr>
              <a:t>•  No improvement in assessment accuracy — expert labels stand at 0 of 24.</a:t>
            </a:r>
          </a:p>
          <a:p>
            <a:pPr algn="l">
              <a:lnSpc>
                <a:spcPct val="118000"/>
              </a:lnSpc>
              <a:spcBef>
                <a:spcPts val="0"/>
              </a:spcBef>
              <a:spcAft>
                <a:spcPts val="700"/>
              </a:spcAft>
            </a:pPr>
            <a:r>
              <a:rPr sz="1100" b="0" i="0">
                <a:solidFill>
                  <a:srgbClr val="5A6472"/>
                </a:solidFill>
                <a:latin typeface="Calibri"/>
              </a:rPr>
              <a:t>•  No reduction in expert workload.</a:t>
            </a:r>
          </a:p>
          <a:p>
            <a:pPr algn="l">
              <a:lnSpc>
                <a:spcPct val="118000"/>
              </a:lnSpc>
              <a:spcBef>
                <a:spcPts val="0"/>
              </a:spcBef>
              <a:spcAft>
                <a:spcPts val="700"/>
              </a:spcAft>
            </a:pPr>
            <a:r>
              <a:rPr sz="1100" b="0" i="0">
                <a:solidFill>
                  <a:srgbClr val="5A6472"/>
                </a:solidFill>
                <a:latin typeface="Calibri"/>
              </a:rPr>
              <a:t>•  No safe generalization or transfer.</a:t>
            </a:r>
          </a:p>
          <a:p>
            <a:pPr algn="l">
              <a:lnSpc>
                <a:spcPct val="118000"/>
              </a:lnSpc>
              <a:spcBef>
                <a:spcPts val="0"/>
              </a:spcBef>
              <a:spcAft>
                <a:spcPts val="700"/>
              </a:spcAft>
            </a:pPr>
            <a:r>
              <a:rPr sz="1100" b="0" i="0">
                <a:solidFill>
                  <a:srgbClr val="5A6472"/>
                </a:solidFill>
                <a:latin typeface="Calibri"/>
              </a:rPr>
              <a:t>•  Nothing about clinical performance — medical readiness 0 of 6.</a:t>
            </a:r>
          </a:p>
          <a:p>
            <a:pPr algn="l">
              <a:lnSpc>
                <a:spcPct val="118000"/>
              </a:lnSpc>
              <a:spcBef>
                <a:spcPts val="0"/>
              </a:spcBef>
              <a:spcAft>
                <a:spcPts val="700"/>
              </a:spcAft>
            </a:pPr>
            <a:r>
              <a:rPr sz="1100" b="0" i="0">
                <a:solidFill>
                  <a:srgbClr val="5A6472"/>
                </a:solidFill>
                <a:latin typeface="Calibri"/>
              </a:rPr>
              <a:t>•  No claim that the literature holds no prior solution — the formal searches are not yet executed.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