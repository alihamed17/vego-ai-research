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tension, not the tooling. Iris's own MODELS'26 paper is called "Not All</a:t>
            </a:r>
          </a:p>
          <a:p>
            <a:r>
              <a:t>Differences Matter" - the class saw it in week 5. My question starts one step later:</a:t>
            </a:r>
          </a:p>
          <a:p>
            <a:r>
              <a:t>once an agent has found a difference, WHO decides whether it is a legitimate</a:t>
            </a:r>
          </a:p>
          <a:p>
            <a:r>
              <a:t>alternative or an error, and how does that decision stop being thrown away?</a:t>
            </a:r>
          </a:p>
          <a:p/>
          <a:p>
            <a:r>
              <a:t>Say plainly: this is a literature review guided by a question. The wording of the</a:t>
            </a:r>
          </a:p>
          <a:p>
            <a:r>
              <a:t>question is still provisional.  (~50 sec)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the problem before any technology. The same structural difference can be three</a:t>
            </a:r>
          </a:p>
          <a:p>
            <a:r>
              <a:t>completely different things, and only situated judgment separates them.</a:t>
            </a:r>
          </a:p>
          <a:p/>
          <a:p>
            <a:r>
              <a:t>Note the asymmetry: the AI is cheap and tireless; the expert who can resolve A/B/C is</a:t>
            </a:r>
          </a:p>
          <a:p>
            <a:r>
              <a:t>neither. That asymmetry is the whole thesis.  (~55 sec)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motivation slide because none of it is mine. The framework's own</a:t>
            </a:r>
          </a:p>
          <a:p>
            <a:r>
              <a:t>authors report that uncovered-fragment auditing sits at 0.55 in both use-case settings and</a:t>
            </a:r>
          </a:p>
          <a:p>
            <a:r>
              <a:t>say it "may require human involvement". Agreement with the human grader is rho = 0.22 -</a:t>
            </a:r>
          </a:p>
          <a:p>
            <a:r>
              <a:t>weak.</a:t>
            </a:r>
          </a:p>
          <a:p/>
          <a:p>
            <a:r>
              <a:t>And their future-work section names exactly the three pipeline stages where oversight is</a:t>
            </a:r>
          </a:p>
          <a:p>
            <a:r>
              <a:t>needed. That is my SQ1 in someone else's peer-reviewed paper.</a:t>
            </a:r>
          </a:p>
          <a:p/>
          <a:p>
            <a:r>
              <a:t>Be precise: these are THEIR numbers in THEIR setting. I am not claiming anything about my</a:t>
            </a:r>
          </a:p>
          <a:p>
            <a:r>
              <a:t>own performance.  (~65 sec)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published evaluation looks at outputs. I instrumented the process.</a:t>
            </a:r>
          </a:p>
          <a:p/>
          <a:p>
            <a:r>
              <a:t>Replaying four settings produced 481 lifecycle events; the review queue a human actually</a:t>
            </a:r>
          </a:p>
          <a:p>
            <a:r>
              <a:t>had could surface 11. Thirty-three reference guidelines per setting were revised without</a:t>
            </a:r>
          </a:p>
          <a:p>
            <a:r>
              <a:t>any human ever seeing them - the guidelines the whole assessment is measured against.</a:t>
            </a:r>
          </a:p>
          <a:p/>
          <a:p>
            <a:r>
              <a:t>Careful framing: this says the process was largely invisible. It does NOT say the</a:t>
            </a:r>
          </a:p>
          <a:p>
            <a:r>
              <a:t>assessments were wrong. I have no expert labels yet.  (~60 sec)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turns a design intuition into a research question.</a:t>
            </a:r>
          </a:p>
          <a:p/>
          <a:p>
            <a:r>
              <a:t>Five routing policies, replayed. To catch all high-severity events you must send 75-93%</a:t>
            </a:r>
          </a:p>
          <a:p>
            <a:r>
              <a:t>of them to a person - which defeats the automation. Hold burden under 50% and coverage</a:t>
            </a:r>
          </a:p>
          <a:p>
            <a:r>
              <a:t>falls to 0.54-0.73. The target region in the corner is empty.</a:t>
            </a:r>
          </a:p>
          <a:p/>
          <a:p>
            <a:r>
              <a:t>So "put a human in the loop" is not an answer; WHICH cases, WHEN, and at what dose is an</a:t>
            </a:r>
          </a:p>
          <a:p>
            <a:r>
              <a:t>open problem. Hence SQ1.  (~60 sec)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question once, slowly.</a:t>
            </a:r>
          </a:p>
          <a:p/>
          <a:p>
            <a:r>
              <a:t>Then the three design decisions behind its wording, because the course cares about how a</a:t>
            </a:r>
          </a:p>
          <a:p>
            <a:r>
              <a:t>question is built. It names the task not the solution; it keeps "reuse" out of the</a:t>
            </a:r>
          </a:p>
          <a:p>
            <a:r>
              <a:t>headline so that reuse stays something I test rather than assume; and it keeps "reliable"</a:t>
            </a:r>
          </a:p>
          <a:p>
            <a:r>
              <a:t>as the single quality target.</a:t>
            </a:r>
          </a:p>
          <a:p/>
          <a:p>
            <a:r>
              <a:t>Be honest that the wording is still provisional - two specific words are unresolved.</a:t>
            </a:r>
          </a:p>
          <a:p>
            <a:r>
              <a:t>(~65 sec)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sub-questions, and each one has to become a study with its own artifact and its own</a:t>
            </a:r>
          </a:p>
          <a:p>
            <a:r>
              <a:t>method - that is the structure my supervisors asked for, and it maps onto the design-science</a:t>
            </a:r>
          </a:p>
          <a:p>
            <a:r>
              <a:t>framing from this course.</a:t>
            </a:r>
          </a:p>
          <a:p/>
          <a:p>
            <a:r>
              <a:t>SQ1 when to ask. SQ2 what to keep and under what governance. SQ3 how to evaluate it and</a:t>
            </a:r>
          </a:p>
          <a:p>
            <a:r>
              <a:t>what transfers.</a:t>
            </a:r>
          </a:p>
          <a:p/>
          <a:p>
            <a:r>
              <a:t>Stress the last line: the questions are domain-neutral. Software engineering and medicine</a:t>
            </a:r>
          </a:p>
          <a:p>
            <a:r>
              <a:t>are where I will test them, not what they are about.  (~55 sec)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asks for the search process to be explicit, so this is the honest version.</a:t>
            </a:r>
          </a:p>
          <a:p/>
          <a:p>
            <a:r>
              <a:t>Four research areas. The first is the centre of gravity, and that was a deliberate</a:t>
            </a:r>
          </a:p>
          <a:p>
            <a:r>
              <a:t>supervisory decision: the review is organised around human involvement in agentic AI</a:t>
            </a:r>
          </a:p>
          <a:p>
            <a:r>
              <a:t>generally, NOT around our specific application. The literature has to justify the problem,</a:t>
            </a:r>
          </a:p>
          <a:p>
            <a:r>
              <a:t>not describe my solution.</a:t>
            </a:r>
          </a:p>
          <a:p/>
          <a:p>
            <a:r>
              <a:t>Note what I exclude: enabling technology. Interesting, but it belongs in the methodology</a:t>
            </a:r>
          </a:p>
          <a:p>
            <a:r>
              <a:t>chapter, not in the review that establishes the gap.  (~65 sec)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 sources, tagged to the question they serve.</a:t>
            </a:r>
          </a:p>
          <a:p/>
          <a:p>
            <a:r>
              <a:t>Two things I want to be explicit about. First, verification: this corpus was built with</a:t>
            </a:r>
          </a:p>
          <a:p>
            <a:r>
              <a:t>AI assistance, and the single biggest risk there is fabricated citations - so every entry</a:t>
            </a:r>
          </a:p>
          <a:p>
            <a:r>
              <a:t>was checked against an independent record, and the one that could not be confirmed sits in</a:t>
            </a:r>
          </a:p>
          <a:p>
            <a:r>
              <a:t>quarantine rather than in the review.</a:t>
            </a:r>
          </a:p>
          <a:p/>
          <a:p>
            <a:r>
              <a:t>Second, and more important scientifically: the frozen protocol searches have NOT been run</a:t>
            </a:r>
          </a:p>
          <a:p>
            <a:r>
              <a:t>yet. So I can say what I have read. I cannot yet say what does not exist. Every gap on the</a:t>
            </a:r>
          </a:p>
          <a:p>
            <a:r>
              <a:t>next slides is stated within that limit.  (~65 sec)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streams, organised thematically as the course suggests.</a:t>
            </a:r>
          </a:p>
          <a:p/>
          <a:p>
            <a:r>
              <a:t>Don't read them out. Make one point: each stream is strong at one checkpoint and silent at another. A and E know when to interrupt but throw the answer away. B and C know how to hold knowledge but have no trigger. D can retrieve but has no gate. F can evaluate transfer but has no judgment artefact to evaluate.</a:t>
            </a:r>
          </a:p>
          <a:p/>
          <a:p>
            <a:r>
              <a:t>That observation is what forced the framework on the next slide - I needed a way to see the handovers, not the topics. (~60 sec)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centre of the talk - the analysis framework the assignment asks for.</a:t>
            </a:r>
          </a:p>
          <a:p/>
          <a:p>
            <a:r>
              <a:t>The move that made it work: stop classifying papers by topic, and instead follow ONE expert ruling through five checkpoints. Trigger, ask, record, reuse, prove. Each column is a governance question.</a:t>
            </a:r>
          </a:p>
          <a:p/>
          <a:p>
            <a:r>
              <a:t>Now read down the columns - that is aggregation, and it is where gaps become visible. No stream in the corpus reaches L4. REUSE tops out at L2: nothing I have read checks whether a stored ruling is even allowed to apply to the new case.</a:t>
            </a:r>
          </a:p>
          <a:p/>
          <a:p>
            <a:r>
              <a:t>Say it out loud: these are positions within the corpus I have read. Running the protocol searches may raise a ceiling, and that would be a real result, not a failure. (~90 sec - the most important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gaps, and the framing matters enormously: each one is a thin or empty region of the grid you just saw. Gaps come from the findings, not from the conclusion - that is the course's rule and it is also just good science.</a:t>
            </a:r>
          </a:p>
          <a:p/>
          <a:p>
            <a:r>
              <a:t>G1 is the centre and it is a JOIN gap: both literatures exist, neither connects. G2 gives it an operating point. G3 names what is actually being ruled on, and it is the one that ties directly back to "not all differences matter".</a:t>
            </a:r>
          </a:p>
          <a:p/>
          <a:p>
            <a:r>
              <a:t>Say the limit clearly and do not skip it: these are boundaries of the corpus I have read, not proven absences. The searches come next. (~70 sec)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it together. The gap I take is the connected one - not "when to ask", not "what to</a:t>
            </a:r>
          </a:p>
          <a:p>
            <a:r>
              <a:t>store", but the fact that these are studied separately and the handover between them is</a:t>
            </a:r>
          </a:p>
          <a:p>
            <a:r>
              <a:t>where the open questions live.</a:t>
            </a:r>
          </a:p>
          <a:p/>
          <a:p>
            <a:r>
              <a:t>Then the design-science shape this course gave me: environment, artifact, evaluation.</a:t>
            </a:r>
          </a:p>
          <a:p/>
          <a:p>
            <a:r>
              <a:t>End on the boundary slide deliberately. Being explicit about what I cannot yet claim is</a:t>
            </a:r>
          </a:p>
          <a:p>
            <a:r>
              <a:t>what makes the rest of it credible - and it defines exactly what the evaluation has to</a:t>
            </a:r>
          </a:p>
          <a:p>
            <a:r>
              <a:t>deliver.  (~60 sec)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next steps, in order. Run the searches. Fill the matrix. Turn each question into a</a:t>
            </a:r>
          </a:p>
          <a:p>
            <a:r>
              <a:t>study with an artifact and a method.</a:t>
            </a:r>
          </a:p>
          <a:p/>
          <a:p>
            <a:r>
              <a:t>Close by naming the honest state: I have a verified corpus, a framework, and candidate</a:t>
            </a:r>
          </a:p>
          <a:p>
            <a:r>
              <a:t>gaps. What I do not yet have is the executed protocol - and that is the immediate next</a:t>
            </a:r>
          </a:p>
          <a:p>
            <a:r>
              <a:t>piece of work.  (~40 sec)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"how is this design science". Relevance cycle: the environment problem,</a:t>
            </a:r>
          </a:p>
          <a:p>
            <a:r>
              <a:t>evidenced by my own measured mechanism gaps, not just asserted. Design cycle: the artifact</a:t>
            </a:r>
          </a:p>
          <a:p>
            <a:r>
              <a:t>under construction, evaluated per the three-study contract. Rigor cycle: the verified</a:t>
            </a:r>
          </a:p>
          <a:p>
            <a:r>
              <a:t>144-source knowledge base, with the Judgment Lifecycle Grid itself as a candidate</a:t>
            </a:r>
          </a:p>
          <a:p>
            <a:r>
              <a:t>contribution back to that base - satisfying Guideline 4 (research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if asked to justify this as design science against the specific Hevner</a:t>
            </a:r>
          </a:p>
          <a:p>
            <a:r>
              <a:t>guidelines. Each row names the real artifact behind it - nothing here is generic.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but I am happy to show it. The course was explicit about both the disclosure</a:t>
            </a:r>
          </a:p>
          <a:p>
            <a:r>
              <a:t>requirement and the specific danger - that models invent citations and cannot tell you what</a:t>
            </a:r>
          </a:p>
          <a:p>
            <a:r>
              <a:t>is absent.</a:t>
            </a:r>
          </a:p>
          <a:p/>
          <a:p>
            <a:r>
              <a:t>So: assistance with discovery, screening, extraction and drafting. Not with deciding the</a:t>
            </a:r>
          </a:p>
          <a:p>
            <a:r>
              <a:t>message, designing the framework, or asserting gaps. And every citation independently</a:t>
            </a:r>
          </a:p>
          <a:p>
            <a:r>
              <a:t>verified.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 would use if someone asks "so does it work?".</a:t>
            </a:r>
          </a:p>
          <a:p/>
          <a:p>
            <a:r>
              <a:t>The honest answer: I can show the mechanism and the observability, and I can show the</a:t>
            </a:r>
          </a:p>
          <a:p>
            <a:r>
              <a:t>trade-off. I cannot show quality, effort or transfer, because that needs independent expert</a:t>
            </a:r>
          </a:p>
          <a:p>
            <a:r>
              <a:t>labels and I have none validated yet.</a:t>
            </a:r>
          </a:p>
          <a:p/>
          <a:p>
            <a:r>
              <a:t>Stating that boundary is not weakness - it is what makes the eventual evaluation meaningful.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740"/>
        </a:solidFill>
        <a:effectLst/>
      </p:bgPr>
    </p:bg>
    <p:spTree>
      <p:nvGrpSpPr>
        <p:cNvPr id="1" name=""/>
        <p:cNvGrpSpPr/>
        <p:nvPr/>
      </p:nvGrpSpPr>
      <p:grpSpPr/>
      <p:sp>
        <p:nvSpPr>
          <p:cNvPr id="2" name="Rounded Rectangle 1"/>
          <p:cNvSpPr/>
          <p:nvPr/>
        </p:nvSpPr>
        <p:spPr>
          <a:xfrm>
            <a:off x="0" y="0"/>
            <a:ext cx="12191695" cy="54864"/>
          </a:xfrm>
          <a:prstGeom prst="roundRect">
            <a:avLst>
              <a:gd name="adj" fmla="val 4000"/>
            </a:avLst>
          </a:prstGeom>
          <a:solidFill>
            <a:srgbClr val="0F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932688"/>
            <a:ext cx="11057839" cy="274320"/>
          </a:xfrm>
          <a:prstGeom prst="rect">
            <a:avLst/>
          </a:prstGeom>
          <a:noFill/>
        </p:spPr>
        <p:txBody>
          <a:bodyPr wrap="square" anchor="t" lIns="0" rIns="0" tIns="0" bIns="0">
            <a:spAutoFit/>
          </a:bodyPr>
          <a:lstStyle/>
          <a:p>
            <a:pPr algn="l">
              <a:spcBef>
                <a:spcPts val="0"/>
              </a:spcBef>
              <a:spcAft>
                <a:spcPts val="0"/>
              </a:spcAft>
            </a:pPr>
            <a:r>
              <a:rPr sz="1200" b="1" i="0">
                <a:solidFill>
                  <a:srgbClr val="CDE2FB"/>
                </a:solidFill>
                <a:latin typeface="Calibri"/>
              </a:rPr>
              <a:t>IS RESEARCH SEMINAR  ·  214.4001  ·  FINAL PRESENTATION</a:t>
            </a:r>
          </a:p>
        </p:txBody>
      </p:sp>
      <p:sp>
        <p:nvSpPr>
          <p:cNvPr id="4" name="TextBox 3"/>
          <p:cNvSpPr txBox="1"/>
          <p:nvPr/>
        </p:nvSpPr>
        <p:spPr>
          <a:xfrm>
            <a:off x="566928" y="1389888"/>
            <a:ext cx="10424160" cy="1371600"/>
          </a:xfrm>
          <a:prstGeom prst="rect">
            <a:avLst/>
          </a:prstGeom>
          <a:noFill/>
        </p:spPr>
        <p:txBody>
          <a:bodyPr wrap="square" anchor="t" lIns="0" rIns="0" tIns="0" bIns="0">
            <a:spAutoFit/>
          </a:bodyPr>
          <a:lstStyle/>
          <a:p>
            <a:pPr algn="l">
              <a:lnSpc>
                <a:spcPct val="106000"/>
              </a:lnSpc>
              <a:spcBef>
                <a:spcPts val="0"/>
              </a:spcBef>
              <a:spcAft>
                <a:spcPts val="0"/>
              </a:spcAft>
            </a:pPr>
            <a:r>
              <a:rPr sz="4200" b="1" i="0">
                <a:solidFill>
                  <a:srgbClr val="FFFFFF"/>
                </a:solidFill>
                <a:latin typeface="Cambria"/>
              </a:rPr>
              <a:t>Not all differences matter.</a:t>
            </a:r>
          </a:p>
          <a:p>
            <a:pPr algn="l">
              <a:lnSpc>
                <a:spcPct val="106000"/>
              </a:lnSpc>
              <a:spcBef>
                <a:spcPts val="0"/>
              </a:spcBef>
              <a:spcAft>
                <a:spcPts val="0"/>
              </a:spcAft>
            </a:pPr>
            <a:r>
              <a:rPr sz="4200" b="1" i="0">
                <a:solidFill>
                  <a:srgbClr val="CDE2FB"/>
                </a:solidFill>
                <a:latin typeface="Cambria"/>
              </a:rPr>
              <a:t>So who decides which ones do?</a:t>
            </a:r>
          </a:p>
        </p:txBody>
      </p:sp>
      <p:sp>
        <p:nvSpPr>
          <p:cNvPr id="5" name="TextBox 4"/>
          <p:cNvSpPr txBox="1"/>
          <p:nvPr/>
        </p:nvSpPr>
        <p:spPr>
          <a:xfrm>
            <a:off x="566928" y="2889504"/>
            <a:ext cx="9966960" cy="457200"/>
          </a:xfrm>
          <a:prstGeom prst="rect">
            <a:avLst/>
          </a:prstGeom>
          <a:noFill/>
        </p:spPr>
        <p:txBody>
          <a:bodyPr wrap="square" anchor="t" lIns="0" rIns="0" tIns="0" bIns="0">
            <a:spAutoFit/>
          </a:bodyPr>
          <a:lstStyle/>
          <a:p>
            <a:pPr algn="l">
              <a:lnSpc>
                <a:spcPct val="120000"/>
              </a:lnSpc>
              <a:spcBef>
                <a:spcPts val="0"/>
              </a:spcBef>
              <a:spcAft>
                <a:spcPts val="0"/>
              </a:spcAft>
            </a:pPr>
            <a:r>
              <a:rPr sz="1650" b="0" i="0">
                <a:solidFill>
                  <a:srgbClr val="C8D6E6"/>
                </a:solidFill>
                <a:latin typeface="Calibri"/>
              </a:rPr>
              <a:t>Human judgment in agentic-AI assessment of domain models — a literature review guided by a question</a:t>
            </a:r>
          </a:p>
        </p:txBody>
      </p:sp>
      <p:sp>
        <p:nvSpPr>
          <p:cNvPr id="6" name="Rounded Rectangle 5"/>
          <p:cNvSpPr/>
          <p:nvPr/>
        </p:nvSpPr>
        <p:spPr>
          <a:xfrm>
            <a:off x="566928" y="3611880"/>
            <a:ext cx="10424160" cy="1298448"/>
          </a:xfrm>
          <a:prstGeom prst="roundRect">
            <a:avLst>
              <a:gd name="adj" fmla="val 4000"/>
            </a:avLst>
          </a:prstGeom>
          <a:solidFill>
            <a:srgbClr val="1B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77824" y="3785615"/>
            <a:ext cx="9829800" cy="960120"/>
          </a:xfrm>
          <a:prstGeom prst="rect">
            <a:avLst/>
          </a:prstGeom>
          <a:noFill/>
        </p:spPr>
        <p:txBody>
          <a:bodyPr wrap="square" anchor="t" lIns="0" rIns="0" tIns="0" bIns="0">
            <a:spAutoFit/>
          </a:bodyPr>
          <a:lstStyle/>
          <a:p>
            <a:pPr algn="l">
              <a:spcBef>
                <a:spcPts val="0"/>
              </a:spcBef>
              <a:spcAft>
                <a:spcPts val="500"/>
              </a:spcAft>
            </a:pPr>
            <a:r>
              <a:rPr sz="1050" b="1" i="0">
                <a:solidFill>
                  <a:srgbClr val="CDE2FB"/>
                </a:solidFill>
                <a:latin typeface="Calibri"/>
              </a:rPr>
              <a:t>RESEARCH QUESTION</a:t>
            </a:r>
          </a:p>
          <a:p>
            <a:pPr algn="l">
              <a:lnSpc>
                <a:spcPct val="122000"/>
              </a:lnSpc>
              <a:spcBef>
                <a:spcPts val="0"/>
              </a:spcBef>
              <a:spcAft>
                <a:spcPts val="0"/>
              </a:spcAft>
            </a:pPr>
            <a:r>
              <a:rPr sz="1450" b="0" i="1">
                <a:solidFill>
                  <a:srgbClr val="FFFFFF"/>
                </a:solidFill>
                <a:latin typeface="Calibri"/>
              </a:rPr>
              <a:t>How can human judgment be captured, governed, and used to support agentic-AI-driven variability exploration in guideline operationalization scenarios, enabling reliable human–AI co-reasoning?</a:t>
            </a:r>
          </a:p>
        </p:txBody>
      </p:sp>
      <p:sp>
        <p:nvSpPr>
          <p:cNvPr id="8" name="TextBox 7"/>
          <p:cNvSpPr txBox="1"/>
          <p:nvPr/>
        </p:nvSpPr>
        <p:spPr>
          <a:xfrm>
            <a:off x="566928" y="5230368"/>
            <a:ext cx="10424160" cy="1005840"/>
          </a:xfrm>
          <a:prstGeom prst="rect">
            <a:avLst/>
          </a:prstGeom>
          <a:noFill/>
        </p:spPr>
        <p:txBody>
          <a:bodyPr wrap="square" anchor="t" lIns="0" rIns="0" tIns="0" bIns="0">
            <a:spAutoFit/>
          </a:bodyPr>
          <a:lstStyle/>
          <a:p>
            <a:pPr algn="l">
              <a:spcBef>
                <a:spcPts val="0"/>
              </a:spcBef>
              <a:spcAft>
                <a:spcPts val="400"/>
              </a:spcAft>
            </a:pPr>
            <a:r>
              <a:rPr sz="1500" b="1" i="0">
                <a:solidFill>
                  <a:srgbClr val="FFFFFF"/>
                </a:solidFill>
                <a:latin typeface="Calibri"/>
              </a:rPr>
              <a:t>Ali Hamed</a:t>
            </a:r>
          </a:p>
          <a:p>
            <a:pPr algn="l">
              <a:spcBef>
                <a:spcPts val="0"/>
              </a:spcBef>
              <a:spcAft>
                <a:spcPts val="0"/>
              </a:spcAft>
            </a:pPr>
            <a:r>
              <a:rPr sz="1250" b="0" i="0">
                <a:solidFill>
                  <a:srgbClr val="A9BCD0"/>
                </a:solidFill>
                <a:latin typeface="Calibri"/>
              </a:rPr>
              <a:t>Supervisors: Prof. Iris Reinhartz-Berger (University of Haifa)  ·  Prof. Arnon Sturm (Ben-Gurion University)</a:t>
            </a:r>
          </a:p>
          <a:p>
            <a:pPr algn="l">
              <a:spcBef>
                <a:spcPts val="500"/>
              </a:spcBef>
              <a:spcAft>
                <a:spcPts val="0"/>
              </a:spcAft>
            </a:pPr>
            <a:r>
              <a:rPr sz="1100" b="0" i="1">
                <a:solidFill>
                  <a:srgbClr val="7E94AC"/>
                </a:solidFill>
                <a:latin typeface="Calibri"/>
              </a:rPr>
              <a:t>Research-question wording is provisional, pending supervisor sign-off.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MOTIVATION · THE PROBLEM</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An AI can find every difference — not which ones matter</a:t>
            </a:r>
          </a:p>
        </p:txBody>
      </p:sp>
      <p:sp>
        <p:nvSpPr>
          <p:cNvPr id="4" name="TextBox 3"/>
          <p:cNvSpPr txBox="1"/>
          <p:nvPr/>
        </p:nvSpPr>
        <p:spPr>
          <a:xfrm>
            <a:off x="566928" y="1339850"/>
            <a:ext cx="11057839" cy="294259"/>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A deviation from a reference guideline is ambiguous by nature, and the ambiguity is where expertise is expensive.</a:t>
            </a:r>
          </a:p>
        </p:txBody>
      </p:sp>
      <p:sp>
        <p:nvSpPr>
          <p:cNvPr id="5" name="Rounded Rectangle 4"/>
          <p:cNvSpPr/>
          <p:nvPr/>
        </p:nvSpPr>
        <p:spPr>
          <a:xfrm>
            <a:off x="566928" y="1780413"/>
            <a:ext cx="3401568" cy="2487168"/>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841248" y="2073021"/>
            <a:ext cx="457200" cy="457200"/>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A</a:t>
            </a:r>
          </a:p>
        </p:txBody>
      </p:sp>
      <p:sp>
        <p:nvSpPr>
          <p:cNvPr id="7" name="TextBox 6"/>
          <p:cNvSpPr txBox="1"/>
          <p:nvPr/>
        </p:nvSpPr>
        <p:spPr>
          <a:xfrm>
            <a:off x="841248" y="2713101"/>
            <a:ext cx="2852928" cy="1371600"/>
          </a:xfrm>
          <a:prstGeom prst="rect">
            <a:avLst/>
          </a:prstGeom>
          <a:noFill/>
        </p:spPr>
        <p:txBody>
          <a:bodyPr wrap="square" anchor="t" lIns="0" rIns="0" tIns="0" bIns="0">
            <a:spAutoFit/>
          </a:bodyPr>
          <a:lstStyle/>
          <a:p>
            <a:pPr algn="l">
              <a:spcBef>
                <a:spcPts val="0"/>
              </a:spcBef>
              <a:spcAft>
                <a:spcPts val="800"/>
              </a:spcAft>
            </a:pPr>
            <a:r>
              <a:rPr sz="1700" b="1" i="0">
                <a:solidFill>
                  <a:srgbClr val="0F2740"/>
                </a:solidFill>
                <a:latin typeface="Cambria"/>
              </a:rPr>
              <a:t>A legitimate alternative</a:t>
            </a:r>
          </a:p>
          <a:p>
            <a:pPr algn="l">
              <a:lnSpc>
                <a:spcPct val="126000"/>
              </a:lnSpc>
              <a:spcBef>
                <a:spcPts val="0"/>
              </a:spcBef>
              <a:spcAft>
                <a:spcPts val="0"/>
              </a:spcAft>
            </a:pPr>
            <a:r>
              <a:rPr sz="1350" b="0" i="0">
                <a:solidFill>
                  <a:srgbClr val="5A6472"/>
                </a:solidFill>
                <a:latin typeface="Calibri"/>
              </a:rPr>
              <a:t>A different model can express the same domain meaning. Penalising it teaches the wrong lesson.</a:t>
            </a:r>
          </a:p>
        </p:txBody>
      </p:sp>
      <p:sp>
        <p:nvSpPr>
          <p:cNvPr id="8" name="Rounded Rectangle 7"/>
          <p:cNvSpPr/>
          <p:nvPr/>
        </p:nvSpPr>
        <p:spPr>
          <a:xfrm>
            <a:off x="4224528" y="1780413"/>
            <a:ext cx="3401568" cy="2487168"/>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4498848" y="2073021"/>
            <a:ext cx="457200" cy="4572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B</a:t>
            </a:r>
          </a:p>
        </p:txBody>
      </p:sp>
      <p:sp>
        <p:nvSpPr>
          <p:cNvPr id="10" name="TextBox 9"/>
          <p:cNvSpPr txBox="1"/>
          <p:nvPr/>
        </p:nvSpPr>
        <p:spPr>
          <a:xfrm>
            <a:off x="4498848" y="2713101"/>
            <a:ext cx="2852928" cy="1371600"/>
          </a:xfrm>
          <a:prstGeom prst="rect">
            <a:avLst/>
          </a:prstGeom>
          <a:noFill/>
        </p:spPr>
        <p:txBody>
          <a:bodyPr wrap="square" anchor="t" lIns="0" rIns="0" tIns="0" bIns="0">
            <a:spAutoFit/>
          </a:bodyPr>
          <a:lstStyle/>
          <a:p>
            <a:pPr algn="l">
              <a:spcBef>
                <a:spcPts val="0"/>
              </a:spcBef>
              <a:spcAft>
                <a:spcPts val="800"/>
              </a:spcAft>
            </a:pPr>
            <a:r>
              <a:rPr sz="1700" b="1" i="0">
                <a:solidFill>
                  <a:srgbClr val="0F2740"/>
                </a:solidFill>
                <a:latin typeface="Cambria"/>
              </a:rPr>
              <a:t>A genuine error</a:t>
            </a:r>
          </a:p>
          <a:p>
            <a:pPr algn="l">
              <a:lnSpc>
                <a:spcPct val="126000"/>
              </a:lnSpc>
              <a:spcBef>
                <a:spcPts val="0"/>
              </a:spcBef>
              <a:spcAft>
                <a:spcPts val="0"/>
              </a:spcAft>
            </a:pPr>
            <a:r>
              <a:rPr sz="1350" b="0" i="0">
                <a:solidFill>
                  <a:srgbClr val="5A6472"/>
                </a:solidFill>
                <a:latin typeface="Calibri"/>
              </a:rPr>
              <a:t>The model violates the domain, or encodes a misconception that should be corrected.</a:t>
            </a:r>
          </a:p>
        </p:txBody>
      </p:sp>
      <p:sp>
        <p:nvSpPr>
          <p:cNvPr id="11" name="Rounded Rectangle 10"/>
          <p:cNvSpPr/>
          <p:nvPr/>
        </p:nvSpPr>
        <p:spPr>
          <a:xfrm>
            <a:off x="7882128" y="1780413"/>
            <a:ext cx="3401568" cy="2487168"/>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56448" y="2073021"/>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C</a:t>
            </a:r>
          </a:p>
        </p:txBody>
      </p:sp>
      <p:sp>
        <p:nvSpPr>
          <p:cNvPr id="13" name="TextBox 12"/>
          <p:cNvSpPr txBox="1"/>
          <p:nvPr/>
        </p:nvSpPr>
        <p:spPr>
          <a:xfrm>
            <a:off x="8156448" y="2713101"/>
            <a:ext cx="2852928" cy="1371600"/>
          </a:xfrm>
          <a:prstGeom prst="rect">
            <a:avLst/>
          </a:prstGeom>
          <a:noFill/>
        </p:spPr>
        <p:txBody>
          <a:bodyPr wrap="square" anchor="t" lIns="0" rIns="0" tIns="0" bIns="0">
            <a:spAutoFit/>
          </a:bodyPr>
          <a:lstStyle/>
          <a:p>
            <a:pPr algn="l">
              <a:spcBef>
                <a:spcPts val="0"/>
              </a:spcBef>
              <a:spcAft>
                <a:spcPts val="800"/>
              </a:spcAft>
            </a:pPr>
            <a:r>
              <a:rPr sz="1700" b="1" i="0">
                <a:solidFill>
                  <a:srgbClr val="0F2740"/>
                </a:solidFill>
                <a:latin typeface="Cambria"/>
              </a:rPr>
              <a:t>A defect in the guideline</a:t>
            </a:r>
          </a:p>
          <a:p>
            <a:pPr algn="l">
              <a:lnSpc>
                <a:spcPct val="126000"/>
              </a:lnSpc>
              <a:spcBef>
                <a:spcPts val="0"/>
              </a:spcBef>
              <a:spcAft>
                <a:spcPts val="0"/>
              </a:spcAft>
            </a:pPr>
            <a:r>
              <a:rPr sz="1350" b="0" i="0">
                <a:solidFill>
                  <a:srgbClr val="5A6472"/>
                </a:solidFill>
                <a:latin typeface="Calibri"/>
              </a:rPr>
              <a:t>The reference itself is wrong or incomplete — the deviation is evidence against the norm.</a:t>
            </a:r>
          </a:p>
        </p:txBody>
      </p:sp>
      <p:sp>
        <p:nvSpPr>
          <p:cNvPr id="14" name="Rounded Rectangle 13"/>
          <p:cNvSpPr/>
          <p:nvPr/>
        </p:nvSpPr>
        <p:spPr>
          <a:xfrm>
            <a:off x="566928" y="4578477"/>
            <a:ext cx="11057839" cy="969264"/>
          </a:xfrm>
          <a:prstGeom prst="roundRect">
            <a:avLst>
              <a:gd name="adj" fmla="val 4000"/>
            </a:avLst>
          </a:prstGeom>
          <a:solidFill>
            <a:srgbClr val="0F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761357"/>
            <a:ext cx="10436047" cy="658368"/>
          </a:xfrm>
          <a:prstGeom prst="rect">
            <a:avLst/>
          </a:prstGeom>
          <a:noFill/>
        </p:spPr>
        <p:txBody>
          <a:bodyPr wrap="square" anchor="t" lIns="0" rIns="0" tIns="0" bIns="0">
            <a:spAutoFit/>
          </a:bodyPr>
          <a:lstStyle/>
          <a:p>
            <a:pPr algn="l">
              <a:spcBef>
                <a:spcPts val="0"/>
              </a:spcBef>
              <a:spcAft>
                <a:spcPts val="500"/>
              </a:spcAft>
            </a:pPr>
            <a:r>
              <a:rPr sz="1700" b="1" i="0">
                <a:solidFill>
                  <a:srgbClr val="FFFFFF"/>
                </a:solidFill>
                <a:latin typeface="Cambria"/>
              </a:rPr>
              <a:t>Telling A, B and C apart is an interpretive act, not a classification.</a:t>
            </a:r>
          </a:p>
          <a:p>
            <a:pPr algn="l">
              <a:spcBef>
                <a:spcPts val="0"/>
              </a:spcBef>
              <a:spcAft>
                <a:spcPts val="0"/>
              </a:spcAft>
            </a:pPr>
            <a:r>
              <a:rPr sz="1350" b="0" i="0">
                <a:solidFill>
                  <a:srgbClr val="CDE2FB"/>
                </a:solidFill>
                <a:latin typeface="Calibri"/>
              </a:rPr>
              <a:t>It is exactly where automated assessment is least reliable — and where expert attention is scarcest.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MOTIVATION · EVIDENCE FROM THE PROBLEM WORLD</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The published framework names its own need for a human</a:t>
            </a:r>
          </a:p>
        </p:txBody>
      </p:sp>
      <p:sp>
        <p:nvSpPr>
          <p:cNvPr id="4" name="TextBox 3"/>
          <p:cNvSpPr txBox="1"/>
          <p:nvPr/>
        </p:nvSpPr>
        <p:spPr>
          <a:xfrm>
            <a:off x="566928" y="1339850"/>
            <a:ext cx="11057839" cy="533654"/>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VEGO-AI (Reinhartz-Berger, Bragilovski &amp; Sturm, MODELS ’26) assesses domain models with four coordinated LLM agents. It works — unevenly.</a:t>
            </a:r>
          </a:p>
        </p:txBody>
      </p:sp>
      <p:pic>
        <p:nvPicPr>
          <p:cNvPr id="5" name="Picture 4" descr="04-published-profile-bare.png"/>
          <p:cNvPicPr>
            <a:picLocks noChangeAspect="1"/>
          </p:cNvPicPr>
          <p:nvPr/>
        </p:nvPicPr>
        <p:blipFill>
          <a:blip r:embed="rId2"/>
          <a:stretch>
            <a:fillRect/>
          </a:stretch>
        </p:blipFill>
        <p:spPr>
          <a:xfrm>
            <a:off x="566928" y="2099795"/>
            <a:ext cx="7589520" cy="3735369"/>
          </a:xfrm>
          <a:prstGeom prst="rect">
            <a:avLst/>
          </a:prstGeom>
        </p:spPr>
      </p:pic>
      <p:sp>
        <p:nvSpPr>
          <p:cNvPr id="6" name="Rounded Rectangle 5"/>
          <p:cNvSpPr/>
          <p:nvPr/>
        </p:nvSpPr>
        <p:spPr>
          <a:xfrm>
            <a:off x="8357616" y="1983232"/>
            <a:ext cx="3267151" cy="3968496"/>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595360" y="2202688"/>
            <a:ext cx="2791663" cy="3566160"/>
          </a:xfrm>
          <a:prstGeom prst="rect">
            <a:avLst/>
          </a:prstGeom>
          <a:noFill/>
        </p:spPr>
        <p:txBody>
          <a:bodyPr wrap="square" anchor="t" lIns="0" rIns="0" tIns="0" bIns="0">
            <a:spAutoFit/>
          </a:bodyPr>
          <a:lstStyle/>
          <a:p>
            <a:pPr algn="l">
              <a:spcBef>
                <a:spcPts val="0"/>
              </a:spcBef>
              <a:spcAft>
                <a:spcPts val="0"/>
              </a:spcAft>
            </a:pPr>
            <a:r>
              <a:rPr sz="3400" b="1" i="0">
                <a:solidFill>
                  <a:srgbClr val="D03B3B"/>
                </a:solidFill>
                <a:latin typeface="Cambria"/>
              </a:rPr>
              <a:t>ρ = 0.22</a:t>
            </a:r>
          </a:p>
          <a:p>
            <a:pPr algn="l">
              <a:lnSpc>
                <a:spcPct val="122000"/>
              </a:lnSpc>
              <a:spcBef>
                <a:spcPts val="300"/>
              </a:spcBef>
              <a:spcAft>
                <a:spcPts val="1300"/>
              </a:spcAft>
            </a:pPr>
            <a:r>
              <a:rPr sz="1250" b="0" i="0">
                <a:solidFill>
                  <a:srgbClr val="5A6472"/>
                </a:solidFill>
                <a:latin typeface="Calibri"/>
              </a:rPr>
              <a:t>Spearman correlation between the Model Inspector's compliance scores and the human grader (p = 0.007).</a:t>
            </a:r>
          </a:p>
          <a:p>
            <a:pPr algn="l">
              <a:spcBef>
                <a:spcPts val="0"/>
              </a:spcBef>
              <a:spcAft>
                <a:spcPts val="500"/>
              </a:spcAft>
            </a:pPr>
            <a:r>
              <a:rPr sz="1200" b="1" i="0">
                <a:solidFill>
                  <a:srgbClr val="0F2740"/>
                </a:solidFill>
                <a:latin typeface="Calibri"/>
              </a:rPr>
              <a:t>The paper's own future work:</a:t>
            </a:r>
          </a:p>
          <a:p>
            <a:pPr algn="l">
              <a:lnSpc>
                <a:spcPct val="124000"/>
              </a:lnSpc>
              <a:spcBef>
                <a:spcPts val="0"/>
              </a:spcBef>
              <a:spcAft>
                <a:spcPts val="1200"/>
              </a:spcAft>
            </a:pPr>
            <a:r>
              <a:rPr sz="1250" b="0" i="1">
                <a:solidFill>
                  <a:srgbClr val="0F2740"/>
                </a:solidFill>
                <a:latin typeface="Calibri"/>
              </a:rPr>
              <a:t>“incorporate human-in-the-loop oversight at key pipeline stages — guideline validation, compliance review, and variability classification”</a:t>
            </a:r>
          </a:p>
          <a:p>
            <a:pPr algn="l">
              <a:lnSpc>
                <a:spcPct val="124000"/>
              </a:lnSpc>
              <a:spcBef>
                <a:spcPts val="0"/>
              </a:spcBef>
              <a:spcAft>
                <a:spcPts val="0"/>
              </a:spcAft>
            </a:pPr>
            <a:r>
              <a:rPr sz="1250" b="1" i="0">
                <a:solidFill>
                  <a:srgbClr val="0B0B0B"/>
                </a:solidFill>
                <a:latin typeface="Calibri"/>
              </a:rPr>
              <a:t>The need for human judgment is not my assumption. It is a published, peer-reviewed finding — and it names the three stages.</a:t>
            </a:r>
          </a:p>
        </p:txBody>
      </p:sp>
      <p:sp>
        <p:nvSpPr>
          <p:cNvPr id="8" name="TextBox 7"/>
          <p:cNvSpPr txBox="1"/>
          <p:nvPr/>
        </p:nvSpPr>
        <p:spPr>
          <a:xfrm>
            <a:off x="566928" y="6291072"/>
            <a:ext cx="11057839" cy="384048"/>
          </a:xfrm>
          <a:prstGeom prst="rect">
            <a:avLst/>
          </a:prstGeom>
          <a:noFill/>
        </p:spPr>
        <p:txBody>
          <a:bodyPr wrap="square" anchor="t" lIns="0" rIns="0" tIns="0" bIns="0">
            <a:spAutoFit/>
          </a:bodyPr>
          <a:lstStyle/>
          <a:p>
            <a:pPr algn="l">
              <a:lnSpc>
                <a:spcPct val="115000"/>
              </a:lnSpc>
              <a:spcBef>
                <a:spcPts val="0"/>
              </a:spcBef>
              <a:spcAft>
                <a:spcPts val="0"/>
              </a:spcAft>
            </a:pPr>
            <a:r>
              <a:rPr sz="1050" b="0" i="0">
                <a:solidFill>
                  <a:srgbClr val="5A6472"/>
                </a:solidFill>
                <a:latin typeface="Calibri"/>
              </a:rPr>
              <a:t>Reference values reported by the paper for its own education-domain evaluation — engineering context, not a performance claim for this research.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MOTIVATION · EVIDENCE FROM MY OWN EXPERIMENTS</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I measured the same gap inside the system</a:t>
            </a:r>
          </a:p>
        </p:txBody>
      </p:sp>
      <p:sp>
        <p:nvSpPr>
          <p:cNvPr id="4" name="TextBox 3"/>
          <p:cNvSpPr txBox="1"/>
          <p:nvPr/>
        </p:nvSpPr>
        <p:spPr>
          <a:xfrm>
            <a:off x="566928" y="1339850"/>
            <a:ext cx="11057839" cy="294259"/>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Replaying the assessment pipeline as an event stream shows how little of its reasoning was ever reviewable.</a:t>
            </a:r>
          </a:p>
        </p:txBody>
      </p:sp>
      <p:pic>
        <p:nvPicPr>
          <p:cNvPr id="5" name="Picture 4" descr="02-observability-gap-bare.png"/>
          <p:cNvPicPr>
            <a:picLocks noChangeAspect="1"/>
          </p:cNvPicPr>
          <p:nvPr/>
        </p:nvPicPr>
        <p:blipFill>
          <a:blip r:embed="rId2"/>
          <a:stretch>
            <a:fillRect/>
          </a:stretch>
        </p:blipFill>
        <p:spPr>
          <a:xfrm>
            <a:off x="679819" y="1780413"/>
            <a:ext cx="6952258" cy="3611880"/>
          </a:xfrm>
          <a:prstGeom prst="rect">
            <a:avLst/>
          </a:prstGeom>
        </p:spPr>
      </p:pic>
      <p:sp>
        <p:nvSpPr>
          <p:cNvPr id="6" name="Rounded Rectangle 5"/>
          <p:cNvSpPr/>
          <p:nvPr/>
        </p:nvSpPr>
        <p:spPr>
          <a:xfrm>
            <a:off x="7973568" y="1780413"/>
            <a:ext cx="3651199" cy="1097280"/>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193024" y="1926717"/>
            <a:ext cx="3212287" cy="841248"/>
          </a:xfrm>
          <a:prstGeom prst="rect">
            <a:avLst/>
          </a:prstGeom>
          <a:noFill/>
        </p:spPr>
        <p:txBody>
          <a:bodyPr wrap="square" anchor="t" lIns="0" rIns="0" tIns="0" bIns="0">
            <a:spAutoFit/>
          </a:bodyPr>
          <a:lstStyle/>
          <a:p>
            <a:pPr algn="l">
              <a:spcBef>
                <a:spcPts val="0"/>
              </a:spcBef>
              <a:spcAft>
                <a:spcPts val="200"/>
              </a:spcAft>
            </a:pPr>
            <a:r>
              <a:rPr sz="2700" b="1" i="0">
                <a:solidFill>
                  <a:srgbClr val="2A78D6"/>
                </a:solidFill>
                <a:latin typeface="Cambria"/>
              </a:rPr>
              <a:t>44×</a:t>
            </a:r>
          </a:p>
          <a:p>
            <a:pPr algn="l">
              <a:lnSpc>
                <a:spcPct val="118000"/>
              </a:lnSpc>
              <a:spcBef>
                <a:spcPts val="0"/>
              </a:spcBef>
              <a:spcAft>
                <a:spcPts val="0"/>
              </a:spcAft>
            </a:pPr>
            <a:r>
              <a:rPr sz="1150" b="0" i="0">
                <a:solidFill>
                  <a:srgbClr val="5A6472"/>
                </a:solidFill>
                <a:latin typeface="Calibri"/>
              </a:rPr>
              <a:t>more lifecycle events occurred than the legacy queue could ever show</a:t>
            </a:r>
          </a:p>
        </p:txBody>
      </p:sp>
      <p:sp>
        <p:nvSpPr>
          <p:cNvPr id="8" name="Rounded Rectangle 7"/>
          <p:cNvSpPr/>
          <p:nvPr/>
        </p:nvSpPr>
        <p:spPr>
          <a:xfrm>
            <a:off x="7973568" y="3023997"/>
            <a:ext cx="3651199" cy="1097280"/>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193024" y="3170301"/>
            <a:ext cx="3212287" cy="841248"/>
          </a:xfrm>
          <a:prstGeom prst="rect">
            <a:avLst/>
          </a:prstGeom>
          <a:noFill/>
        </p:spPr>
        <p:txBody>
          <a:bodyPr wrap="square" anchor="t" lIns="0" rIns="0" tIns="0" bIns="0">
            <a:spAutoFit/>
          </a:bodyPr>
          <a:lstStyle/>
          <a:p>
            <a:pPr algn="l">
              <a:spcBef>
                <a:spcPts val="0"/>
              </a:spcBef>
              <a:spcAft>
                <a:spcPts val="200"/>
              </a:spcAft>
            </a:pPr>
            <a:r>
              <a:rPr sz="2700" b="1" i="0">
                <a:solidFill>
                  <a:srgbClr val="EB6834"/>
                </a:solidFill>
                <a:latin typeface="Cambria"/>
              </a:rPr>
              <a:t>1.35</a:t>
            </a:r>
          </a:p>
          <a:p>
            <a:pPr algn="l">
              <a:lnSpc>
                <a:spcPct val="118000"/>
              </a:lnSpc>
              <a:spcBef>
                <a:spcPts val="0"/>
              </a:spcBef>
              <a:spcAft>
                <a:spcPts val="0"/>
              </a:spcAft>
            </a:pPr>
            <a:r>
              <a:rPr sz="1150" b="0" i="0">
                <a:solidFill>
                  <a:srgbClr val="5A6472"/>
                </a:solidFill>
                <a:latin typeface="Calibri"/>
              </a:rPr>
              <a:t>guideline instability rate — references were repeatedly rewritten</a:t>
            </a:r>
          </a:p>
        </p:txBody>
      </p:sp>
      <p:sp>
        <p:nvSpPr>
          <p:cNvPr id="10" name="Rounded Rectangle 9"/>
          <p:cNvSpPr/>
          <p:nvPr/>
        </p:nvSpPr>
        <p:spPr>
          <a:xfrm>
            <a:off x="7973568" y="4267581"/>
            <a:ext cx="3651199" cy="1097280"/>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193024" y="4413885"/>
            <a:ext cx="3212287" cy="841248"/>
          </a:xfrm>
          <a:prstGeom prst="rect">
            <a:avLst/>
          </a:prstGeom>
          <a:noFill/>
        </p:spPr>
        <p:txBody>
          <a:bodyPr wrap="square" anchor="t" lIns="0" rIns="0" tIns="0" bIns="0">
            <a:spAutoFit/>
          </a:bodyPr>
          <a:lstStyle/>
          <a:p>
            <a:pPr algn="l">
              <a:spcBef>
                <a:spcPts val="0"/>
              </a:spcBef>
              <a:spcAft>
                <a:spcPts val="200"/>
              </a:spcAft>
            </a:pPr>
            <a:r>
              <a:rPr sz="2700" b="1" i="0">
                <a:solidFill>
                  <a:srgbClr val="D03B3B"/>
                </a:solidFill>
                <a:latin typeface="Cambria"/>
              </a:rPr>
              <a:t>33</a:t>
            </a:r>
          </a:p>
          <a:p>
            <a:pPr algn="l">
              <a:lnSpc>
                <a:spcPct val="118000"/>
              </a:lnSpc>
              <a:spcBef>
                <a:spcPts val="0"/>
              </a:spcBef>
              <a:spcAft>
                <a:spcPts val="0"/>
              </a:spcAft>
            </a:pPr>
            <a:r>
              <a:rPr sz="1150" b="0" i="0">
                <a:solidFill>
                  <a:srgbClr val="5A6472"/>
                </a:solidFill>
                <a:latin typeface="Calibri"/>
              </a:rPr>
              <a:t>reference guidelines per setting revised with no human ever seeing them</a:t>
            </a:r>
          </a:p>
        </p:txBody>
      </p:sp>
      <p:sp>
        <p:nvSpPr>
          <p:cNvPr id="12" name="TextBox 11"/>
          <p:cNvSpPr txBox="1"/>
          <p:nvPr/>
        </p:nvSpPr>
        <p:spPr>
          <a:xfrm>
            <a:off x="566928" y="6291072"/>
            <a:ext cx="11057839" cy="384048"/>
          </a:xfrm>
          <a:prstGeom prst="rect">
            <a:avLst/>
          </a:prstGeom>
          <a:noFill/>
        </p:spPr>
        <p:txBody>
          <a:bodyPr wrap="square" anchor="t" lIns="0" rIns="0" tIns="0" bIns="0">
            <a:spAutoFit/>
          </a:bodyPr>
          <a:lstStyle/>
          <a:p>
            <a:pPr algn="l">
              <a:lnSpc>
                <a:spcPct val="115000"/>
              </a:lnSpc>
              <a:spcBef>
                <a:spcPts val="0"/>
              </a:spcBef>
              <a:spcAft>
                <a:spcPts val="0"/>
              </a:spcAft>
            </a:pPr>
            <a:r>
              <a:rPr sz="1050" b="0" i="0">
                <a:solidFill>
                  <a:srgbClr val="5A6472"/>
                </a:solidFill>
                <a:latin typeface="Calibri"/>
              </a:rPr>
              <a:t>EXP-006 and EXP-008 · observability evidence only. These are heterogeneous lifecycle observations, not quality outcomes, and they support no claim about assessment accuracy.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MOTIVATION · WHY THIS NEEDS RESEARCH, NOT ENGINEERING</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 and simply asking the human more often does not solve it</a:t>
            </a:r>
          </a:p>
        </p:txBody>
      </p:sp>
      <p:sp>
        <p:nvSpPr>
          <p:cNvPr id="4" name="TextBox 3"/>
          <p:cNvSpPr txBox="1"/>
          <p:nvPr/>
        </p:nvSpPr>
        <p:spPr>
          <a:xfrm>
            <a:off x="566928" y="1339850"/>
            <a:ext cx="11057839" cy="294259"/>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Replaying five routing policies over those events maps the trade-off between expert burden and how much of the risk gets seen.</a:t>
            </a:r>
          </a:p>
        </p:txBody>
      </p:sp>
      <p:pic>
        <p:nvPicPr>
          <p:cNvPr id="5" name="Picture 4" descr="01-dosage-tradeoff-bare.png"/>
          <p:cNvPicPr>
            <a:picLocks noChangeAspect="1"/>
          </p:cNvPicPr>
          <p:nvPr/>
        </p:nvPicPr>
        <p:blipFill>
          <a:blip r:embed="rId2"/>
          <a:stretch>
            <a:fillRect/>
          </a:stretch>
        </p:blipFill>
        <p:spPr>
          <a:xfrm>
            <a:off x="1079658" y="1725549"/>
            <a:ext cx="6518340" cy="3803904"/>
          </a:xfrm>
          <a:prstGeom prst="rect">
            <a:avLst/>
          </a:prstGeom>
        </p:spPr>
      </p:pic>
      <p:sp>
        <p:nvSpPr>
          <p:cNvPr id="6" name="Rounded Rectangle 5"/>
          <p:cNvSpPr/>
          <p:nvPr/>
        </p:nvSpPr>
        <p:spPr>
          <a:xfrm>
            <a:off x="8321040" y="1725549"/>
            <a:ext cx="3303727" cy="3803904"/>
          </a:xfrm>
          <a:prstGeom prst="roundRect">
            <a:avLst>
              <a:gd name="adj" fmla="val 4000"/>
            </a:avLst>
          </a:prstGeom>
          <a:solidFill>
            <a:srgbClr val="0F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558784" y="1945005"/>
            <a:ext cx="2828239" cy="3383280"/>
          </a:xfrm>
          <a:prstGeom prst="rect">
            <a:avLst/>
          </a:prstGeom>
          <a:noFill/>
        </p:spPr>
        <p:txBody>
          <a:bodyPr wrap="square" anchor="t" lIns="0" rIns="0" tIns="0" bIns="0">
            <a:spAutoFit/>
          </a:bodyPr>
          <a:lstStyle/>
          <a:p>
            <a:pPr algn="l">
              <a:spcBef>
                <a:spcPts val="0"/>
              </a:spcBef>
              <a:spcAft>
                <a:spcPts val="1000"/>
              </a:spcAft>
            </a:pPr>
            <a:r>
              <a:rPr sz="1800" b="1" i="0">
                <a:solidFill>
                  <a:srgbClr val="FFFFFF"/>
                </a:solidFill>
                <a:latin typeface="Cambria"/>
              </a:rPr>
              <a:t>The dosage question</a:t>
            </a:r>
          </a:p>
          <a:p>
            <a:pPr algn="l">
              <a:lnSpc>
                <a:spcPct val="126000"/>
              </a:lnSpc>
              <a:spcBef>
                <a:spcPts val="0"/>
              </a:spcBef>
              <a:spcAft>
                <a:spcPts val="1200"/>
              </a:spcAft>
            </a:pPr>
            <a:r>
              <a:rPr sz="1300" b="0" i="0">
                <a:solidFill>
                  <a:srgbClr val="CDE2FB"/>
                </a:solidFill>
                <a:latin typeface="Calibri"/>
              </a:rPr>
              <a:t>Review everything and automation is pointless. Review by a confidence threshold and you inherit the model's own miscalibration.</a:t>
            </a:r>
          </a:p>
          <a:p>
            <a:pPr algn="l">
              <a:lnSpc>
                <a:spcPct val="126000"/>
              </a:lnSpc>
              <a:spcBef>
                <a:spcPts val="0"/>
              </a:spcBef>
              <a:spcAft>
                <a:spcPts val="1200"/>
              </a:spcAft>
            </a:pPr>
            <a:r>
              <a:rPr sz="1350" b="1" i="0">
                <a:solidFill>
                  <a:srgbClr val="FFFFFF"/>
                </a:solidFill>
                <a:latin typeface="Calibri"/>
              </a:rPr>
              <a:t>No policy reached 80% coverage of high-severity events while keeping expert burden under half.</a:t>
            </a:r>
          </a:p>
          <a:p>
            <a:pPr algn="l">
              <a:lnSpc>
                <a:spcPct val="126000"/>
              </a:lnSpc>
              <a:spcBef>
                <a:spcPts val="0"/>
              </a:spcBef>
              <a:spcAft>
                <a:spcPts val="0"/>
              </a:spcAft>
            </a:pPr>
            <a:r>
              <a:rPr sz="1300" b="0" i="0">
                <a:solidFill>
                  <a:srgbClr val="CDE2FB"/>
                </a:solidFill>
                <a:latin typeface="Calibri"/>
              </a:rPr>
              <a:t>That is SQ1, stated as a measurement rather than an opinion — and it is why “add a human in the loop” is not yet an answer.</a:t>
            </a:r>
          </a:p>
        </p:txBody>
      </p:sp>
      <p:sp>
        <p:nvSpPr>
          <p:cNvPr id="8" name="TextBox 7"/>
          <p:cNvSpPr txBox="1"/>
          <p:nvPr/>
        </p:nvSpPr>
        <p:spPr>
          <a:xfrm>
            <a:off x="566928" y="6291072"/>
            <a:ext cx="11057839" cy="384048"/>
          </a:xfrm>
          <a:prstGeom prst="rect">
            <a:avLst/>
          </a:prstGeom>
          <a:noFill/>
        </p:spPr>
        <p:txBody>
          <a:bodyPr wrap="square" anchor="t" lIns="0" rIns="0" tIns="0" bIns="0">
            <a:spAutoFit/>
          </a:bodyPr>
          <a:lstStyle/>
          <a:p>
            <a:pPr algn="l">
              <a:lnSpc>
                <a:spcPct val="115000"/>
              </a:lnSpc>
              <a:spcBef>
                <a:spcPts val="0"/>
              </a:spcBef>
              <a:spcAft>
                <a:spcPts val="0"/>
              </a:spcAft>
            </a:pPr>
            <a:r>
              <a:rPr sz="1050" b="0" i="0">
                <a:solidFill>
                  <a:srgbClr val="5A6472"/>
                </a:solidFill>
                <a:latin typeface="Calibri"/>
              </a:rPr>
              <a:t>EXP-007 · design/mechanism evidence for coverage-versus-burden trade-offs only. No effort-reduction or accuracy claim is made or implied.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740"/>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CDE2FB"/>
                </a:solidFill>
                <a:latin typeface="Calibri"/>
              </a:rPr>
              <a:t>WHAT I AM ASKING</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FFFFFF"/>
                </a:solidFill>
                <a:latin typeface="Cambria"/>
              </a:rPr>
              <a:t>The research question</a:t>
            </a:r>
          </a:p>
        </p:txBody>
      </p:sp>
      <p:sp>
        <p:nvSpPr>
          <p:cNvPr id="4" name="Rounded Rectangle 3"/>
          <p:cNvSpPr/>
          <p:nvPr/>
        </p:nvSpPr>
        <p:spPr>
          <a:xfrm>
            <a:off x="566928" y="1394714"/>
            <a:ext cx="11057839" cy="1389888"/>
          </a:xfrm>
          <a:prstGeom prst="roundRect">
            <a:avLst>
              <a:gd name="adj" fmla="val 4000"/>
            </a:avLst>
          </a:prstGeom>
          <a:solidFill>
            <a:srgbClr val="1B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932688" y="1614170"/>
            <a:ext cx="10326319" cy="1005840"/>
          </a:xfrm>
          <a:prstGeom prst="rect">
            <a:avLst/>
          </a:prstGeom>
          <a:noFill/>
        </p:spPr>
        <p:txBody>
          <a:bodyPr wrap="square" anchor="t" lIns="0" rIns="0" tIns="0" bIns="0">
            <a:spAutoFit/>
          </a:bodyPr>
          <a:lstStyle/>
          <a:p>
            <a:pPr algn="l">
              <a:lnSpc>
                <a:spcPct val="124000"/>
              </a:lnSpc>
              <a:spcBef>
                <a:spcPts val="0"/>
              </a:spcBef>
              <a:spcAft>
                <a:spcPts val="0"/>
              </a:spcAft>
            </a:pPr>
            <a:r>
              <a:rPr sz="2000" b="0" i="1">
                <a:solidFill>
                  <a:srgbClr val="FFFFFF"/>
                </a:solidFill>
                <a:latin typeface="Cambria"/>
              </a:rPr>
              <a:t>How can human judgment be captured, governed, and used to support agentic-AI-driven variability exploration in guideline operationalization scenarios, enabling reliable human–AI co-reasoning?</a:t>
            </a:r>
          </a:p>
        </p:txBody>
      </p:sp>
      <p:sp>
        <p:nvSpPr>
          <p:cNvPr id="6" name="Rounded Rectangle 5"/>
          <p:cNvSpPr/>
          <p:nvPr/>
        </p:nvSpPr>
        <p:spPr>
          <a:xfrm>
            <a:off x="566928" y="3040634"/>
            <a:ext cx="3529584" cy="1755648"/>
          </a:xfrm>
          <a:prstGeom prst="roundRect">
            <a:avLst>
              <a:gd name="adj" fmla="val 4000"/>
            </a:avLst>
          </a:prstGeom>
          <a:solidFill>
            <a:srgbClr val="1B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04672" y="3260090"/>
            <a:ext cx="3054096" cy="1371600"/>
          </a:xfrm>
          <a:prstGeom prst="rect">
            <a:avLst/>
          </a:prstGeom>
          <a:noFill/>
        </p:spPr>
        <p:txBody>
          <a:bodyPr wrap="square" anchor="t" lIns="0" rIns="0" tIns="0" bIns="0">
            <a:spAutoFit/>
          </a:bodyPr>
          <a:lstStyle/>
          <a:p>
            <a:pPr algn="l">
              <a:lnSpc>
                <a:spcPct val="114000"/>
              </a:lnSpc>
              <a:spcBef>
                <a:spcPts val="0"/>
              </a:spcBef>
              <a:spcAft>
                <a:spcPts val="700"/>
              </a:spcAft>
            </a:pPr>
            <a:r>
              <a:rPr sz="1450" b="1" i="0">
                <a:solidFill>
                  <a:srgbClr val="CDE2FB"/>
                </a:solidFill>
                <a:latin typeface="Cambria"/>
              </a:rPr>
              <a:t>It names the task, not the solution</a:t>
            </a:r>
          </a:p>
          <a:p>
            <a:pPr algn="l">
              <a:lnSpc>
                <a:spcPct val="124000"/>
              </a:lnSpc>
              <a:spcBef>
                <a:spcPts val="0"/>
              </a:spcBef>
              <a:spcAft>
                <a:spcPts val="0"/>
              </a:spcAft>
            </a:pPr>
            <a:r>
              <a:rPr sz="1250" b="0" i="0">
                <a:solidFill>
                  <a:srgbClr val="BFCEDE"/>
                </a:solidFill>
                <a:latin typeface="Calibri"/>
              </a:rPr>
              <a:t>The object of study is variability exploration in guideline operationalization — not a particular agent architecture.</a:t>
            </a:r>
          </a:p>
        </p:txBody>
      </p:sp>
      <p:sp>
        <p:nvSpPr>
          <p:cNvPr id="8" name="Rounded Rectangle 7"/>
          <p:cNvSpPr/>
          <p:nvPr/>
        </p:nvSpPr>
        <p:spPr>
          <a:xfrm>
            <a:off x="4315968" y="3040634"/>
            <a:ext cx="3529584" cy="1755648"/>
          </a:xfrm>
          <a:prstGeom prst="roundRect">
            <a:avLst>
              <a:gd name="adj" fmla="val 4000"/>
            </a:avLst>
          </a:prstGeom>
          <a:solidFill>
            <a:srgbClr val="1B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553712" y="3260090"/>
            <a:ext cx="3054096" cy="1371600"/>
          </a:xfrm>
          <a:prstGeom prst="rect">
            <a:avLst/>
          </a:prstGeom>
          <a:noFill/>
        </p:spPr>
        <p:txBody>
          <a:bodyPr wrap="square" anchor="t" lIns="0" rIns="0" tIns="0" bIns="0">
            <a:spAutoFit/>
          </a:bodyPr>
          <a:lstStyle/>
          <a:p>
            <a:pPr algn="l">
              <a:lnSpc>
                <a:spcPct val="114000"/>
              </a:lnSpc>
              <a:spcBef>
                <a:spcPts val="0"/>
              </a:spcBef>
              <a:spcAft>
                <a:spcPts val="700"/>
              </a:spcAft>
            </a:pPr>
            <a:r>
              <a:rPr sz="1450" b="1" i="0">
                <a:solidFill>
                  <a:srgbClr val="CDE2FB"/>
                </a:solidFill>
                <a:latin typeface="Cambria"/>
              </a:rPr>
              <a:t>Reuse is deliberately not in the headline</a:t>
            </a:r>
          </a:p>
          <a:p>
            <a:pPr algn="l">
              <a:lnSpc>
                <a:spcPct val="124000"/>
              </a:lnSpc>
              <a:spcBef>
                <a:spcPts val="0"/>
              </a:spcBef>
              <a:spcAft>
                <a:spcPts val="0"/>
              </a:spcAft>
            </a:pPr>
            <a:r>
              <a:rPr sz="1250" b="0" i="0">
                <a:solidFill>
                  <a:srgbClr val="BFCEDE"/>
                </a:solidFill>
                <a:latin typeface="Calibri"/>
              </a:rPr>
              <a:t>Whether captured judgment may be reused is a governed, testable concern for the sub-questions — not an assumption.</a:t>
            </a:r>
          </a:p>
        </p:txBody>
      </p:sp>
      <p:sp>
        <p:nvSpPr>
          <p:cNvPr id="10" name="Rounded Rectangle 9"/>
          <p:cNvSpPr/>
          <p:nvPr/>
        </p:nvSpPr>
        <p:spPr>
          <a:xfrm>
            <a:off x="8065008" y="3040634"/>
            <a:ext cx="3529584" cy="1755648"/>
          </a:xfrm>
          <a:prstGeom prst="roundRect">
            <a:avLst>
              <a:gd name="adj" fmla="val 4000"/>
            </a:avLst>
          </a:prstGeom>
          <a:solidFill>
            <a:srgbClr val="1B3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302752" y="3260090"/>
            <a:ext cx="3054096" cy="1371600"/>
          </a:xfrm>
          <a:prstGeom prst="rect">
            <a:avLst/>
          </a:prstGeom>
          <a:noFill/>
        </p:spPr>
        <p:txBody>
          <a:bodyPr wrap="square" anchor="t" lIns="0" rIns="0" tIns="0" bIns="0">
            <a:spAutoFit/>
          </a:bodyPr>
          <a:lstStyle/>
          <a:p>
            <a:pPr algn="l">
              <a:lnSpc>
                <a:spcPct val="114000"/>
              </a:lnSpc>
              <a:spcBef>
                <a:spcPts val="0"/>
              </a:spcBef>
              <a:spcAft>
                <a:spcPts val="700"/>
              </a:spcAft>
            </a:pPr>
            <a:r>
              <a:rPr sz="1450" b="1" i="0">
                <a:solidFill>
                  <a:srgbClr val="CDE2FB"/>
                </a:solidFill>
                <a:latin typeface="Cambria"/>
              </a:rPr>
              <a:t>“Reliable” is the retained quality target</a:t>
            </a:r>
          </a:p>
          <a:p>
            <a:pPr algn="l">
              <a:lnSpc>
                <a:spcPct val="124000"/>
              </a:lnSpc>
              <a:spcBef>
                <a:spcPts val="0"/>
              </a:spcBef>
              <a:spcAft>
                <a:spcPts val="0"/>
              </a:spcAft>
            </a:pPr>
            <a:r>
              <a:rPr sz="1250" b="0" i="0">
                <a:solidFill>
                  <a:srgbClr val="BFCEDE"/>
                </a:solidFill>
                <a:latin typeface="Calibri"/>
              </a:rPr>
              <a:t>Earlier drafts also carried auditable, transferable and end-to-end; those are sub-question or artifact properties.</a:t>
            </a:r>
          </a:p>
        </p:txBody>
      </p:sp>
      <p:sp>
        <p:nvSpPr>
          <p:cNvPr id="12" name="TextBox 11"/>
          <p:cNvSpPr txBox="1"/>
          <p:nvPr/>
        </p:nvSpPr>
        <p:spPr>
          <a:xfrm>
            <a:off x="566928" y="6291072"/>
            <a:ext cx="11057839" cy="384048"/>
          </a:xfrm>
          <a:prstGeom prst="rect">
            <a:avLst/>
          </a:prstGeom>
          <a:noFill/>
        </p:spPr>
        <p:txBody>
          <a:bodyPr wrap="square" anchor="t" lIns="0" rIns="0" tIns="0" bIns="0">
            <a:spAutoFit/>
          </a:bodyPr>
          <a:lstStyle/>
          <a:p>
            <a:pPr algn="l">
              <a:lnSpc>
                <a:spcPct val="115000"/>
              </a:lnSpc>
              <a:spcBef>
                <a:spcPts val="0"/>
              </a:spcBef>
              <a:spcAft>
                <a:spcPts val="0"/>
              </a:spcAft>
            </a:pPr>
            <a:r>
              <a:rPr sz="1050" b="0" i="0">
                <a:solidFill>
                  <a:srgbClr val="8F9BA8"/>
                </a:solidFill>
                <a:latin typeface="Calibri"/>
              </a:rPr>
              <a:t>Wording refined with both supervisors and still provisional — two points remain open: “exploration” versus “identification and classification”, and “human” versus “expert” judgment.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DERIVED SET OF QUESTIONS</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Three derived questions — which become three studies</a:t>
            </a:r>
          </a:p>
        </p:txBody>
      </p:sp>
      <p:sp>
        <p:nvSpPr>
          <p:cNvPr id="4" name="TextBox 3"/>
          <p:cNvSpPr txBox="1"/>
          <p:nvPr/>
        </p:nvSpPr>
        <p:spPr>
          <a:xfrm>
            <a:off x="566928" y="1339850"/>
            <a:ext cx="11057839" cy="294259"/>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Each sub-question owns one stage of the lifecycle: when to ask, what to keep, and where it may travel.</a:t>
            </a:r>
          </a:p>
        </p:txBody>
      </p:sp>
      <p:sp>
        <p:nvSpPr>
          <p:cNvPr id="5" name="Rounded Rectangle 4"/>
          <p:cNvSpPr/>
          <p:nvPr/>
        </p:nvSpPr>
        <p:spPr>
          <a:xfrm>
            <a:off x="566928" y="1780413"/>
            <a:ext cx="11057839" cy="1225296"/>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841248" y="2054733"/>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SQ1</a:t>
            </a:r>
          </a:p>
        </p:txBody>
      </p:sp>
      <p:sp>
        <p:nvSpPr>
          <p:cNvPr id="7" name="TextBox 6"/>
          <p:cNvSpPr txBox="1"/>
          <p:nvPr/>
        </p:nvSpPr>
        <p:spPr>
          <a:xfrm>
            <a:off x="1609343" y="1963293"/>
            <a:ext cx="6903720" cy="914400"/>
          </a:xfrm>
          <a:prstGeom prst="rect">
            <a:avLst/>
          </a:prstGeom>
          <a:noFill/>
        </p:spPr>
        <p:txBody>
          <a:bodyPr wrap="square" anchor="t" lIns="0" rIns="0" tIns="0" bIns="0">
            <a:spAutoFit/>
          </a:bodyPr>
          <a:lstStyle/>
          <a:p>
            <a:pPr algn="l">
              <a:spcBef>
                <a:spcPts val="0"/>
              </a:spcBef>
              <a:spcAft>
                <a:spcPts val="500"/>
              </a:spcAft>
            </a:pPr>
            <a:r>
              <a:rPr sz="1700" b="1" i="0">
                <a:solidFill>
                  <a:srgbClr val="0F2740"/>
                </a:solidFill>
                <a:latin typeface="Cambria"/>
              </a:rPr>
              <a:t>Selective intervention</a:t>
            </a:r>
          </a:p>
          <a:p>
            <a:pPr algn="l">
              <a:lnSpc>
                <a:spcPct val="122000"/>
              </a:lnSpc>
              <a:spcBef>
                <a:spcPts val="0"/>
              </a:spcBef>
              <a:spcAft>
                <a:spcPts val="0"/>
              </a:spcAft>
            </a:pPr>
            <a:r>
              <a:rPr sz="1250" b="0" i="0">
                <a:solidFill>
                  <a:srgbClr val="5A6472"/>
                </a:solidFill>
                <a:latin typeface="Calibri"/>
              </a:rPr>
              <a:t>When and how should an agentic assessment system request human judgment, so that important uncertainties are addressed without unnecessary expert burden?</a:t>
            </a:r>
          </a:p>
        </p:txBody>
      </p:sp>
      <p:sp>
        <p:nvSpPr>
          <p:cNvPr id="8" name="Rounded Rectangle 7"/>
          <p:cNvSpPr/>
          <p:nvPr/>
        </p:nvSpPr>
        <p:spPr>
          <a:xfrm>
            <a:off x="8723376" y="2018157"/>
            <a:ext cx="2761488" cy="749808"/>
          </a:xfrm>
          <a:prstGeom prst="roundRect">
            <a:avLst>
              <a:gd name="adj" fmla="val 4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851392" y="2146173"/>
            <a:ext cx="2523744" cy="548640"/>
          </a:xfrm>
          <a:prstGeom prst="rect">
            <a:avLst/>
          </a:prstGeom>
          <a:noFill/>
        </p:spPr>
        <p:txBody>
          <a:bodyPr wrap="square" anchor="ctr" lIns="0" rIns="0" tIns="0" bIns="0">
            <a:spAutoFit/>
          </a:bodyPr>
          <a:lstStyle/>
          <a:p>
            <a:pPr algn="l">
              <a:lnSpc>
                <a:spcPct val="116000"/>
              </a:lnSpc>
              <a:spcBef>
                <a:spcPts val="0"/>
              </a:spcBef>
              <a:spcAft>
                <a:spcPts val="0"/>
              </a:spcAft>
            </a:pPr>
            <a:r>
              <a:rPr sz="1250" b="1" i="0">
                <a:solidFill>
                  <a:srgbClr val="0F2740"/>
                </a:solidFill>
                <a:latin typeface="Calibri"/>
              </a:rPr>
              <a:t>Study 1 · intervention architecture</a:t>
            </a:r>
          </a:p>
        </p:txBody>
      </p:sp>
      <p:sp>
        <p:nvSpPr>
          <p:cNvPr id="10" name="Rounded Rectangle 9"/>
          <p:cNvSpPr/>
          <p:nvPr/>
        </p:nvSpPr>
        <p:spPr>
          <a:xfrm>
            <a:off x="566928" y="3188589"/>
            <a:ext cx="11057839" cy="1225296"/>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41248" y="3462909"/>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SQ2</a:t>
            </a:r>
          </a:p>
        </p:txBody>
      </p:sp>
      <p:sp>
        <p:nvSpPr>
          <p:cNvPr id="12" name="TextBox 11"/>
          <p:cNvSpPr txBox="1"/>
          <p:nvPr/>
        </p:nvSpPr>
        <p:spPr>
          <a:xfrm>
            <a:off x="1609343" y="3371469"/>
            <a:ext cx="6903720" cy="914400"/>
          </a:xfrm>
          <a:prstGeom prst="rect">
            <a:avLst/>
          </a:prstGeom>
          <a:noFill/>
        </p:spPr>
        <p:txBody>
          <a:bodyPr wrap="square" anchor="t" lIns="0" rIns="0" tIns="0" bIns="0">
            <a:spAutoFit/>
          </a:bodyPr>
          <a:lstStyle/>
          <a:p>
            <a:pPr algn="l">
              <a:spcBef>
                <a:spcPts val="0"/>
              </a:spcBef>
              <a:spcAft>
                <a:spcPts val="500"/>
              </a:spcAft>
            </a:pPr>
            <a:r>
              <a:rPr sz="1700" b="1" i="0">
                <a:solidFill>
                  <a:srgbClr val="0F2740"/>
                </a:solidFill>
                <a:latin typeface="Cambria"/>
              </a:rPr>
              <a:t>Governed knowledge reuse</a:t>
            </a:r>
          </a:p>
          <a:p>
            <a:pPr algn="l">
              <a:lnSpc>
                <a:spcPct val="122000"/>
              </a:lnSpc>
              <a:spcBef>
                <a:spcPts val="0"/>
              </a:spcBef>
              <a:spcAft>
                <a:spcPts val="0"/>
              </a:spcAft>
            </a:pPr>
            <a:r>
              <a:rPr sz="1250" b="0" i="0">
                <a:solidFill>
                  <a:srgbClr val="5A6472"/>
                </a:solidFill>
                <a:latin typeface="Calibri"/>
              </a:rPr>
              <a:t>How should expert judgment be represented, validated, reconciled and stored so it can be reused transparently, without unsafe generalization or loss of human authority?</a:t>
            </a:r>
          </a:p>
        </p:txBody>
      </p:sp>
      <p:sp>
        <p:nvSpPr>
          <p:cNvPr id="13" name="Rounded Rectangle 12"/>
          <p:cNvSpPr/>
          <p:nvPr/>
        </p:nvSpPr>
        <p:spPr>
          <a:xfrm>
            <a:off x="8723376" y="3426333"/>
            <a:ext cx="2761488" cy="749808"/>
          </a:xfrm>
          <a:prstGeom prst="roundRect">
            <a:avLst>
              <a:gd name="adj" fmla="val 4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851392" y="3554349"/>
            <a:ext cx="2523744" cy="548640"/>
          </a:xfrm>
          <a:prstGeom prst="rect">
            <a:avLst/>
          </a:prstGeom>
          <a:noFill/>
        </p:spPr>
        <p:txBody>
          <a:bodyPr wrap="square" anchor="ctr" lIns="0" rIns="0" tIns="0" bIns="0">
            <a:spAutoFit/>
          </a:bodyPr>
          <a:lstStyle/>
          <a:p>
            <a:pPr algn="l">
              <a:lnSpc>
                <a:spcPct val="116000"/>
              </a:lnSpc>
              <a:spcBef>
                <a:spcPts val="0"/>
              </a:spcBef>
              <a:spcAft>
                <a:spcPts val="0"/>
              </a:spcAft>
            </a:pPr>
            <a:r>
              <a:rPr sz="1250" b="1" i="0">
                <a:solidFill>
                  <a:srgbClr val="0F2740"/>
                </a:solidFill>
                <a:latin typeface="Calibri"/>
              </a:rPr>
              <a:t>Study 2 · judgment lifecycle</a:t>
            </a:r>
          </a:p>
        </p:txBody>
      </p:sp>
      <p:sp>
        <p:nvSpPr>
          <p:cNvPr id="15" name="Rounded Rectangle 14"/>
          <p:cNvSpPr/>
          <p:nvPr/>
        </p:nvSpPr>
        <p:spPr>
          <a:xfrm>
            <a:off x="566928" y="4596765"/>
            <a:ext cx="11057839" cy="1225296"/>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841248" y="4871085"/>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libri"/>
              </a:rPr>
              <a:t>SQ3</a:t>
            </a:r>
          </a:p>
        </p:txBody>
      </p:sp>
      <p:sp>
        <p:nvSpPr>
          <p:cNvPr id="17" name="TextBox 16"/>
          <p:cNvSpPr txBox="1"/>
          <p:nvPr/>
        </p:nvSpPr>
        <p:spPr>
          <a:xfrm>
            <a:off x="1609343" y="4779645"/>
            <a:ext cx="6903720" cy="914400"/>
          </a:xfrm>
          <a:prstGeom prst="rect">
            <a:avLst/>
          </a:prstGeom>
          <a:noFill/>
        </p:spPr>
        <p:txBody>
          <a:bodyPr wrap="square" anchor="t" lIns="0" rIns="0" tIns="0" bIns="0">
            <a:spAutoFit/>
          </a:bodyPr>
          <a:lstStyle/>
          <a:p>
            <a:pPr algn="l">
              <a:spcBef>
                <a:spcPts val="0"/>
              </a:spcBef>
              <a:spcAft>
                <a:spcPts val="500"/>
              </a:spcAft>
            </a:pPr>
            <a:r>
              <a:rPr sz="1700" b="1" i="0">
                <a:solidFill>
                  <a:srgbClr val="0F2740"/>
                </a:solidFill>
                <a:latin typeface="Cambria"/>
              </a:rPr>
              <a:t>Evaluation and transfer</a:t>
            </a:r>
          </a:p>
          <a:p>
            <a:pPr algn="l">
              <a:lnSpc>
                <a:spcPct val="122000"/>
              </a:lnSpc>
              <a:spcBef>
                <a:spcPts val="0"/>
              </a:spcBef>
              <a:spcAft>
                <a:spcPts val="0"/>
              </a:spcAft>
            </a:pPr>
            <a:r>
              <a:rPr sz="1250" b="0" i="0">
                <a:solidFill>
                  <a:srgbClr val="5A6472"/>
                </a:solidFill>
                <a:latin typeface="Calibri"/>
              </a:rPr>
              <a:t>How can reused judgment be evaluated and transferred across guideline-operationalization contexts — what generalizes, and what must adapt?</a:t>
            </a:r>
          </a:p>
        </p:txBody>
      </p:sp>
      <p:sp>
        <p:nvSpPr>
          <p:cNvPr id="18" name="Rounded Rectangle 17"/>
          <p:cNvSpPr/>
          <p:nvPr/>
        </p:nvSpPr>
        <p:spPr>
          <a:xfrm>
            <a:off x="8723376" y="4834509"/>
            <a:ext cx="2761488" cy="749808"/>
          </a:xfrm>
          <a:prstGeom prst="roundRect">
            <a:avLst>
              <a:gd name="adj" fmla="val 4000"/>
            </a:avLst>
          </a:prstGeom>
          <a:solidFill>
            <a:srgbClr val="CDE2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851392" y="4962525"/>
            <a:ext cx="2523744" cy="548640"/>
          </a:xfrm>
          <a:prstGeom prst="rect">
            <a:avLst/>
          </a:prstGeom>
          <a:noFill/>
        </p:spPr>
        <p:txBody>
          <a:bodyPr wrap="square" anchor="ctr" lIns="0" rIns="0" tIns="0" bIns="0">
            <a:spAutoFit/>
          </a:bodyPr>
          <a:lstStyle/>
          <a:p>
            <a:pPr algn="l">
              <a:lnSpc>
                <a:spcPct val="116000"/>
              </a:lnSpc>
              <a:spcBef>
                <a:spcPts val="0"/>
              </a:spcBef>
              <a:spcAft>
                <a:spcPts val="0"/>
              </a:spcAft>
            </a:pPr>
            <a:r>
              <a:rPr sz="1250" b="1" i="0">
                <a:solidFill>
                  <a:srgbClr val="0F2740"/>
                </a:solidFill>
                <a:latin typeface="Calibri"/>
              </a:rPr>
              <a:t>Study 3 · evaluation &amp; transfer</a:t>
            </a:r>
          </a:p>
        </p:txBody>
      </p:sp>
      <p:sp>
        <p:nvSpPr>
          <p:cNvPr id="20" name="TextBox 19"/>
          <p:cNvSpPr txBox="1"/>
          <p:nvPr/>
        </p:nvSpPr>
        <p:spPr>
          <a:xfrm>
            <a:off x="566928" y="6291072"/>
            <a:ext cx="11057839" cy="384048"/>
          </a:xfrm>
          <a:prstGeom prst="rect">
            <a:avLst/>
          </a:prstGeom>
          <a:noFill/>
        </p:spPr>
        <p:txBody>
          <a:bodyPr wrap="square" anchor="t" lIns="0" rIns="0" tIns="0" bIns="0">
            <a:spAutoFit/>
          </a:bodyPr>
          <a:lstStyle/>
          <a:p>
            <a:pPr algn="l">
              <a:lnSpc>
                <a:spcPct val="115000"/>
              </a:lnSpc>
              <a:spcBef>
                <a:spcPts val="0"/>
              </a:spcBef>
              <a:spcAft>
                <a:spcPts val="0"/>
              </a:spcAft>
            </a:pPr>
            <a:r>
              <a:rPr sz="1050" b="0" i="0">
                <a:solidFill>
                  <a:srgbClr val="5A6472"/>
                </a:solidFill>
                <a:latin typeface="Calibri"/>
              </a:rPr>
              <a:t>The questions are deliberately domain-neutral. Software/modelling and healthcare are instantiation contexts for evaluation — they are not part of the questions themselves.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METHOD</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How the review is being done</a:t>
            </a:r>
          </a:p>
        </p:txBody>
      </p:sp>
      <p:sp>
        <p:nvSpPr>
          <p:cNvPr id="4" name="TextBox 3"/>
          <p:cNvSpPr txBox="1"/>
          <p:nvPr/>
        </p:nvSpPr>
        <p:spPr>
          <a:xfrm>
            <a:off x="566928" y="1339850"/>
            <a:ext cx="11057839" cy="533654"/>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A structured, exploratory review: protocol first, then searching, screening, extraction and synthesis — recorded so it can be repeated.</a:t>
            </a:r>
          </a:p>
        </p:txBody>
      </p:sp>
      <p:sp>
        <p:nvSpPr>
          <p:cNvPr id="5" name="Rounded Rectangle 4"/>
          <p:cNvSpPr/>
          <p:nvPr/>
        </p:nvSpPr>
        <p:spPr>
          <a:xfrm>
            <a:off x="566928" y="2019808"/>
            <a:ext cx="6537960" cy="4198112"/>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41248" y="2239264"/>
            <a:ext cx="5989320" cy="3200400"/>
          </a:xfrm>
          <a:prstGeom prst="rect">
            <a:avLst/>
          </a:prstGeom>
          <a:noFill/>
        </p:spPr>
        <p:txBody>
          <a:bodyPr wrap="square" anchor="t" lIns="0" rIns="0" tIns="0" bIns="0">
            <a:spAutoFit/>
          </a:bodyPr>
          <a:lstStyle/>
          <a:p>
            <a:pPr algn="l">
              <a:spcBef>
                <a:spcPts val="0"/>
              </a:spcBef>
              <a:spcAft>
                <a:spcPts val="800"/>
              </a:spcAft>
            </a:pPr>
            <a:r>
              <a:rPr sz="1500" b="1" i="0">
                <a:solidFill>
                  <a:srgbClr val="0F2740"/>
                </a:solidFill>
                <a:latin typeface="Cambria"/>
              </a:rPr>
              <a:t>Relevant research areas</a:t>
            </a:r>
          </a:p>
          <a:p>
            <a:pPr algn="l">
              <a:lnSpc>
                <a:spcPct val="120000"/>
              </a:lnSpc>
              <a:spcBef>
                <a:spcPts val="0"/>
              </a:spcBef>
              <a:spcAft>
                <a:spcPts val="700"/>
              </a:spcAft>
            </a:pPr>
            <a:r>
              <a:rPr sz="1250" b="1" i="0">
                <a:solidFill>
                  <a:srgbClr val="0B0B0B"/>
                </a:solidFill>
                <a:latin typeface="Calibri"/>
              </a:rPr>
              <a:t>Human involvement in agentic AI — the core  </a:t>
            </a:r>
            <a:r>
              <a:rPr sz="1250" b="0" i="0">
                <a:solidFill>
                  <a:srgbClr val="5A6472"/>
                </a:solidFill>
                <a:latin typeface="Calibri"/>
              </a:rPr>
              <a:t>any work placing human judgment inside a multi-step, tool-using AI process, whatever the domain</a:t>
            </a:r>
          </a:p>
          <a:p>
            <a:pPr algn="l">
              <a:lnSpc>
                <a:spcPct val="120000"/>
              </a:lnSpc>
              <a:spcBef>
                <a:spcPts val="0"/>
              </a:spcBef>
              <a:spcAft>
                <a:spcPts val="700"/>
              </a:spcAft>
            </a:pPr>
            <a:r>
              <a:rPr sz="1250" b="1" i="0">
                <a:solidFill>
                  <a:srgbClr val="0B0B0B"/>
                </a:solidFill>
                <a:latin typeface="Calibri"/>
              </a:rPr>
              <a:t>Guideline-operationalization scenarios  </a:t>
            </a:r>
            <a:r>
              <a:rPr sz="1250" b="0" i="0">
                <a:solidFill>
                  <a:srgbClr val="5A6472"/>
                </a:solidFill>
                <a:latin typeface="Calibri"/>
              </a:rPr>
              <a:t>assessment against an evolving reference: modelling guidelines, clinical guidelines</a:t>
            </a:r>
          </a:p>
          <a:p>
            <a:pPr algn="l">
              <a:lnSpc>
                <a:spcPct val="120000"/>
              </a:lnSpc>
              <a:spcBef>
                <a:spcPts val="0"/>
              </a:spcBef>
              <a:spcAft>
                <a:spcPts val="700"/>
              </a:spcAft>
            </a:pPr>
            <a:r>
              <a:rPr sz="1250" b="1" i="0">
                <a:solidFill>
                  <a:srgbClr val="0B0B0B"/>
                </a:solidFill>
                <a:latin typeface="Calibri"/>
              </a:rPr>
              <a:t>Knowledge capture, memory and reuse  </a:t>
            </a:r>
            <a:r>
              <a:rPr sz="1250" b="0" i="0">
                <a:solidFill>
                  <a:srgbClr val="5A6472"/>
                </a:solidFill>
                <a:latin typeface="Calibri"/>
              </a:rPr>
              <a:t>how a human decision is represented, stored, retrieved and governed</a:t>
            </a:r>
          </a:p>
          <a:p>
            <a:pPr algn="l">
              <a:lnSpc>
                <a:spcPct val="120000"/>
              </a:lnSpc>
              <a:spcBef>
                <a:spcPts val="0"/>
              </a:spcBef>
              <a:spcAft>
                <a:spcPts val="700"/>
              </a:spcAft>
            </a:pPr>
            <a:r>
              <a:rPr sz="1250" b="1" i="0">
                <a:solidFill>
                  <a:srgbClr val="0B0B0B"/>
                </a:solidFill>
                <a:latin typeface="Calibri"/>
              </a:rPr>
              <a:t>Evaluation and validity  </a:t>
            </a:r>
            <a:r>
              <a:rPr sz="1250" b="0" i="0">
                <a:solidFill>
                  <a:srgbClr val="5A6472"/>
                </a:solidFill>
                <a:latin typeface="Calibri"/>
              </a:rPr>
              <a:t>how human–AI assessment pipelines are evaluated, and what threatens the result</a:t>
            </a:r>
          </a:p>
          <a:p>
            <a:pPr algn="l">
              <a:lnSpc>
                <a:spcPct val="120000"/>
              </a:lnSpc>
              <a:spcBef>
                <a:spcPts val="600"/>
              </a:spcBef>
              <a:spcAft>
                <a:spcPts val="0"/>
              </a:spcAft>
            </a:pPr>
            <a:r>
              <a:rPr sz="1150" b="0" i="1">
                <a:solidFill>
                  <a:srgbClr val="5A6472"/>
                </a:solidFill>
                <a:latin typeface="Calibri"/>
              </a:rPr>
              <a:t>Deliberately excluded from the review body: enabling technologies (model architectures, local-inference tooling). They are engineering means, not the problem this review must justify.</a:t>
            </a:r>
          </a:p>
        </p:txBody>
      </p:sp>
      <p:sp>
        <p:nvSpPr>
          <p:cNvPr id="7" name="Rounded Rectangle 6"/>
          <p:cNvSpPr/>
          <p:nvPr/>
        </p:nvSpPr>
        <p:spPr>
          <a:xfrm>
            <a:off x="7342632" y="2019808"/>
            <a:ext cx="4282135" cy="2007616"/>
          </a:xfrm>
          <a:prstGeom prst="roundRect">
            <a:avLst>
              <a:gd name="adj" fmla="val 4000"/>
            </a:avLst>
          </a:prstGeom>
          <a:solidFill>
            <a:srgbClr val="FFFFFF"/>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580376" y="2202688"/>
            <a:ext cx="3806647" cy="1678432"/>
          </a:xfrm>
          <a:prstGeom prst="rect">
            <a:avLst/>
          </a:prstGeom>
          <a:noFill/>
        </p:spPr>
        <p:txBody>
          <a:bodyPr wrap="square" anchor="t" lIns="0" rIns="0" tIns="0" bIns="0">
            <a:spAutoFit/>
          </a:bodyPr>
          <a:lstStyle/>
          <a:p>
            <a:pPr algn="l">
              <a:spcBef>
                <a:spcPts val="0"/>
              </a:spcBef>
              <a:spcAft>
                <a:spcPts val="700"/>
              </a:spcAft>
            </a:pPr>
            <a:r>
              <a:rPr sz="1500" b="1" i="0">
                <a:solidFill>
                  <a:srgbClr val="0F2740"/>
                </a:solidFill>
                <a:latin typeface="Cambria"/>
              </a:rPr>
              <a:t>Sources</a:t>
            </a:r>
          </a:p>
          <a:p>
            <a:pPr algn="l">
              <a:lnSpc>
                <a:spcPct val="120000"/>
              </a:lnSpc>
              <a:spcBef>
                <a:spcPts val="0"/>
              </a:spcBef>
              <a:spcAft>
                <a:spcPts val="400"/>
              </a:spcAft>
            </a:pPr>
            <a:r>
              <a:rPr sz="1250" b="0" i="0">
                <a:solidFill>
                  <a:srgbClr val="0B0B0B"/>
                </a:solidFill>
                <a:latin typeface="Calibri"/>
              </a:rPr>
              <a:t>Scopus · ACM Digital Library · IEEE Xplore · SpringerLink</a:t>
            </a:r>
          </a:p>
          <a:p>
            <a:pPr algn="l">
              <a:lnSpc>
                <a:spcPct val="120000"/>
              </a:lnSpc>
              <a:spcBef>
                <a:spcPts val="0"/>
              </a:spcBef>
              <a:spcAft>
                <a:spcPts val="0"/>
              </a:spcAft>
            </a:pPr>
            <a:r>
              <a:rPr sz="1200" b="0" i="0">
                <a:solidFill>
                  <a:srgbClr val="5A6472"/>
                </a:solidFill>
                <a:latin typeface="Calibri"/>
              </a:rPr>
              <a:t>Google Scholar and dblp for discovery, snowballing and verification.</a:t>
            </a:r>
          </a:p>
        </p:txBody>
      </p:sp>
      <p:sp>
        <p:nvSpPr>
          <p:cNvPr id="9" name="Rounded Rectangle 8"/>
          <p:cNvSpPr/>
          <p:nvPr/>
        </p:nvSpPr>
        <p:spPr>
          <a:xfrm>
            <a:off x="7342632" y="4210304"/>
            <a:ext cx="4282135" cy="2007616"/>
          </a:xfrm>
          <a:prstGeom prst="roundRect">
            <a:avLst>
              <a:gd name="adj" fmla="val 4000"/>
            </a:avLst>
          </a:prstGeom>
          <a:solidFill>
            <a:srgbClr val="FFFFFF"/>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580376" y="4393184"/>
            <a:ext cx="3806647" cy="1678432"/>
          </a:xfrm>
          <a:prstGeom prst="rect">
            <a:avLst/>
          </a:prstGeom>
          <a:noFill/>
        </p:spPr>
        <p:txBody>
          <a:bodyPr wrap="square" anchor="t" lIns="0" rIns="0" tIns="0" bIns="0">
            <a:spAutoFit/>
          </a:bodyPr>
          <a:lstStyle/>
          <a:p>
            <a:pPr algn="l">
              <a:spcBef>
                <a:spcPts val="0"/>
              </a:spcBef>
              <a:spcAft>
                <a:spcPts val="700"/>
              </a:spcAft>
            </a:pPr>
            <a:r>
              <a:rPr sz="1500" b="1" i="0">
                <a:solidFill>
                  <a:srgbClr val="0F2740"/>
                </a:solidFill>
                <a:latin typeface="Cambria"/>
              </a:rPr>
              <a:t>Screening</a:t>
            </a:r>
          </a:p>
          <a:p>
            <a:pPr algn="l">
              <a:lnSpc>
                <a:spcPct val="120000"/>
              </a:lnSpc>
              <a:spcBef>
                <a:spcPts val="0"/>
              </a:spcBef>
              <a:spcAft>
                <a:spcPts val="500"/>
              </a:spcAft>
            </a:pPr>
            <a:r>
              <a:rPr sz="1200" b="1" i="0">
                <a:solidFill>
                  <a:srgbClr val="0CA30C"/>
                </a:solidFill>
                <a:latin typeface="Calibri"/>
              </a:rPr>
              <a:t>Include  </a:t>
            </a:r>
            <a:r>
              <a:rPr sz="1200" b="0" i="0">
                <a:solidFill>
                  <a:srgbClr val="5A6472"/>
                </a:solidFill>
                <a:latin typeface="Calibri"/>
              </a:rPr>
              <a:t>an explicit method, framework, artifact, empirical study or model.</a:t>
            </a:r>
          </a:p>
          <a:p>
            <a:pPr algn="l">
              <a:lnSpc>
                <a:spcPct val="120000"/>
              </a:lnSpc>
              <a:spcBef>
                <a:spcPts val="0"/>
              </a:spcBef>
              <a:spcAft>
                <a:spcPts val="500"/>
              </a:spcAft>
            </a:pPr>
            <a:r>
              <a:rPr sz="1200" b="1" i="0">
                <a:solidFill>
                  <a:srgbClr val="D03B3B"/>
                </a:solidFill>
                <a:latin typeface="Calibri"/>
              </a:rPr>
              <a:t>Exclude  </a:t>
            </a:r>
            <a:r>
              <a:rPr sz="1200" b="0" i="0">
                <a:solidFill>
                  <a:srgbClr val="5A6472"/>
                </a:solidFill>
                <a:latin typeface="Calibri"/>
              </a:rPr>
              <a:t>passing mentions of “human in the loop”, product pieces, duplicates.</a:t>
            </a:r>
          </a:p>
          <a:p>
            <a:pPr algn="l">
              <a:lnSpc>
                <a:spcPct val="120000"/>
              </a:lnSpc>
              <a:spcBef>
                <a:spcPts val="0"/>
              </a:spcBef>
              <a:spcAft>
                <a:spcPts val="0"/>
              </a:spcAft>
            </a:pPr>
            <a:r>
              <a:rPr sz="1150" b="0" i="1">
                <a:solidFill>
                  <a:srgbClr val="5A6472"/>
                </a:solidFill>
                <a:latin typeface="Calibri"/>
              </a:rPr>
              <a:t>Every query, decision and exclusion reason is recorded.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METHOD · CURRENT STATE</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What the search has produced so far</a:t>
            </a:r>
          </a:p>
        </p:txBody>
      </p:sp>
      <p:sp>
        <p:nvSpPr>
          <p:cNvPr id="4" name="TextBox 3"/>
          <p:cNvSpPr txBox="1"/>
          <p:nvPr/>
        </p:nvSpPr>
        <p:spPr>
          <a:xfrm>
            <a:off x="566928" y="1339850"/>
            <a:ext cx="11057839" cy="294259"/>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Each source was checked against an independent record before use — 132 of 144 confirmed, 11 partial, 1 quarantined.</a:t>
            </a:r>
          </a:p>
        </p:txBody>
      </p:sp>
      <p:pic>
        <p:nvPicPr>
          <p:cNvPr id="5" name="Picture 4" descr="03-corpus-composition-bare.png"/>
          <p:cNvPicPr>
            <a:picLocks noChangeAspect="1"/>
          </p:cNvPicPr>
          <p:nvPr/>
        </p:nvPicPr>
        <p:blipFill>
          <a:blip r:embed="rId2"/>
          <a:stretch>
            <a:fillRect/>
          </a:stretch>
        </p:blipFill>
        <p:spPr>
          <a:xfrm>
            <a:off x="783465" y="1780413"/>
            <a:ext cx="7019285" cy="3749039"/>
          </a:xfrm>
          <a:prstGeom prst="rect">
            <a:avLst/>
          </a:prstGeom>
        </p:spPr>
      </p:pic>
      <p:sp>
        <p:nvSpPr>
          <p:cNvPr id="6" name="Rounded Rectangle 5"/>
          <p:cNvSpPr/>
          <p:nvPr/>
        </p:nvSpPr>
        <p:spPr>
          <a:xfrm>
            <a:off x="8247888" y="1780413"/>
            <a:ext cx="3376879" cy="1792224"/>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467344" y="1963293"/>
            <a:ext cx="2937967" cy="1463040"/>
          </a:xfrm>
          <a:prstGeom prst="rect">
            <a:avLst/>
          </a:prstGeom>
          <a:noFill/>
        </p:spPr>
        <p:txBody>
          <a:bodyPr wrap="square" anchor="t" lIns="0" rIns="0" tIns="0" bIns="0">
            <a:spAutoFit/>
          </a:bodyPr>
          <a:lstStyle/>
          <a:p>
            <a:pPr algn="l">
              <a:spcBef>
                <a:spcPts val="0"/>
              </a:spcBef>
              <a:spcAft>
                <a:spcPts val="700"/>
              </a:spcAft>
            </a:pPr>
            <a:r>
              <a:rPr sz="1400" b="1" i="0">
                <a:solidFill>
                  <a:srgbClr val="0F2740"/>
                </a:solidFill>
                <a:latin typeface="Cambria"/>
              </a:rPr>
              <a:t>Why verification came first</a:t>
            </a:r>
          </a:p>
          <a:p>
            <a:pPr algn="l">
              <a:lnSpc>
                <a:spcPct val="122000"/>
              </a:lnSpc>
              <a:spcBef>
                <a:spcPts val="0"/>
              </a:spcBef>
              <a:spcAft>
                <a:spcPts val="0"/>
              </a:spcAft>
            </a:pPr>
            <a:r>
              <a:rPr sz="1200" b="0" i="0">
                <a:solidFill>
                  <a:srgbClr val="5A6472"/>
                </a:solidFill>
                <a:latin typeface="Calibri"/>
              </a:rPr>
              <a:t>Generative tools invent plausible references. Every entry was checked against a publisher page, DOI, dblp or arXiv record; 1 that could not be confirmed is quarantined, not cited.</a:t>
            </a:r>
          </a:p>
        </p:txBody>
      </p:sp>
      <p:sp>
        <p:nvSpPr>
          <p:cNvPr id="8" name="Rounded Rectangle 7"/>
          <p:cNvSpPr/>
          <p:nvPr/>
        </p:nvSpPr>
        <p:spPr>
          <a:xfrm>
            <a:off x="8247888" y="3755517"/>
            <a:ext cx="3376879" cy="1773936"/>
          </a:xfrm>
          <a:prstGeom prst="roundRect">
            <a:avLst>
              <a:gd name="adj" fmla="val 4000"/>
            </a:avLst>
          </a:prstGeom>
          <a:solidFill>
            <a:srgbClr val="FDF0F0"/>
          </a:solidFill>
          <a:ln w="12700">
            <a:solidFill>
              <a:srgbClr val="F0C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67344" y="3938397"/>
            <a:ext cx="2937967" cy="1444752"/>
          </a:xfrm>
          <a:prstGeom prst="rect">
            <a:avLst/>
          </a:prstGeom>
          <a:noFill/>
        </p:spPr>
        <p:txBody>
          <a:bodyPr wrap="square" anchor="t" lIns="0" rIns="0" tIns="0" bIns="0">
            <a:spAutoFit/>
          </a:bodyPr>
          <a:lstStyle/>
          <a:p>
            <a:pPr algn="l">
              <a:spcBef>
                <a:spcPts val="0"/>
              </a:spcBef>
              <a:spcAft>
                <a:spcPts val="700"/>
              </a:spcAft>
            </a:pPr>
            <a:r>
              <a:rPr sz="1400" b="1" i="0">
                <a:solidFill>
                  <a:srgbClr val="D03B3B"/>
                </a:solidFill>
                <a:latin typeface="Cambria"/>
              </a:rPr>
              <a:t>What this is not</a:t>
            </a:r>
          </a:p>
          <a:p>
            <a:pPr algn="l">
              <a:lnSpc>
                <a:spcPct val="122000"/>
              </a:lnSpc>
              <a:spcBef>
                <a:spcPts val="0"/>
              </a:spcBef>
              <a:spcAft>
                <a:spcPts val="0"/>
              </a:spcAft>
            </a:pPr>
            <a:r>
              <a:rPr sz="1200" b="0" i="0">
                <a:solidFill>
                  <a:srgbClr val="5A6472"/>
                </a:solidFill>
                <a:latin typeface="Calibri"/>
              </a:rPr>
              <a:t>The five frozen protocol queries have not yet been executed. This is what has been found and read — it is not evidence that nothing else exists.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INITIAL FINDINGS · RESEARCH STREAMS</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Six streams — each answers a part, none the whole</a:t>
            </a:r>
          </a:p>
        </p:txBody>
      </p:sp>
      <p:sp>
        <p:nvSpPr>
          <p:cNvPr id="4" name="TextBox 3"/>
          <p:cNvSpPr txBox="1"/>
          <p:nvPr/>
        </p:nvSpPr>
        <p:spPr>
          <a:xfrm>
            <a:off x="566928" y="1339850"/>
            <a:ext cx="11057839" cy="533654"/>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Organised thematically, the reviewed corpus separates into six bodies of work, each stopping at a different point in the lifecycle.</a:t>
            </a:r>
          </a:p>
        </p:txBody>
      </p:sp>
      <p:sp>
        <p:nvSpPr>
          <p:cNvPr id="5" name="Rounded Rectangle 4"/>
          <p:cNvSpPr/>
          <p:nvPr/>
        </p:nvSpPr>
        <p:spPr>
          <a:xfrm>
            <a:off x="566928" y="2019808"/>
            <a:ext cx="3551834" cy="1980184"/>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768096" y="2184400"/>
            <a:ext cx="347472" cy="3474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A</a:t>
            </a:r>
          </a:p>
        </p:txBody>
      </p:sp>
      <p:sp>
        <p:nvSpPr>
          <p:cNvPr id="7" name="TextBox 6"/>
          <p:cNvSpPr txBox="1"/>
          <p:nvPr/>
        </p:nvSpPr>
        <p:spPr>
          <a:xfrm>
            <a:off x="1188720" y="2184400"/>
            <a:ext cx="2710586" cy="365760"/>
          </a:xfrm>
          <a:prstGeom prst="rect">
            <a:avLst/>
          </a:prstGeom>
          <a:noFill/>
        </p:spPr>
        <p:txBody>
          <a:bodyPr wrap="square" anchor="ctr" lIns="0" rIns="0" tIns="0" bIns="0">
            <a:spAutoFit/>
          </a:bodyPr>
          <a:lstStyle/>
          <a:p>
            <a:pPr algn="l">
              <a:lnSpc>
                <a:spcPct val="106000"/>
              </a:lnSpc>
              <a:spcBef>
                <a:spcPts val="0"/>
              </a:spcBef>
              <a:spcAft>
                <a:spcPts val="0"/>
              </a:spcAft>
            </a:pPr>
            <a:r>
              <a:rPr sz="1250" b="1" i="0">
                <a:solidFill>
                  <a:srgbClr val="0F2740"/>
                </a:solidFill>
                <a:latin typeface="Cambria"/>
              </a:rPr>
              <a:t>Escalation triggering &amp; burden</a:t>
            </a:r>
            <a:r>
              <a:rPr sz="1150" b="1" i="0">
                <a:solidFill>
                  <a:srgbClr val="2A78D6"/>
                </a:solidFill>
                <a:latin typeface="Calibri"/>
              </a:rPr>
              <a:t>   ~34</a:t>
            </a:r>
          </a:p>
        </p:txBody>
      </p:sp>
      <p:sp>
        <p:nvSpPr>
          <p:cNvPr id="8" name="TextBox 7"/>
          <p:cNvSpPr txBox="1"/>
          <p:nvPr/>
        </p:nvSpPr>
        <p:spPr>
          <a:xfrm>
            <a:off x="768096" y="2623312"/>
            <a:ext cx="3149498" cy="1371600"/>
          </a:xfrm>
          <a:prstGeom prst="rect">
            <a:avLst/>
          </a:prstGeom>
          <a:noFill/>
        </p:spPr>
        <p:txBody>
          <a:bodyPr wrap="square" anchor="t" lIns="0" rIns="0" tIns="0" bIns="0">
            <a:spAutoFit/>
          </a:bodyPr>
          <a:lstStyle/>
          <a:p>
            <a:pPr algn="l">
              <a:lnSpc>
                <a:spcPct val="116000"/>
              </a:lnSpc>
              <a:spcBef>
                <a:spcPts val="0"/>
              </a:spcBef>
              <a:spcAft>
                <a:spcPts val="500"/>
              </a:spcAft>
            </a:pPr>
            <a:r>
              <a:rPr sz="1000" b="0" i="0">
                <a:solidFill>
                  <a:srgbClr val="5A6472"/>
                </a:solidFill>
                <a:latin typeface="Calibri"/>
              </a:rPr>
              <a:t>When to hand off: reject and defer rules, risk–coverage curves, uncertainty signals — plus evidence that human review is not free.</a:t>
            </a:r>
          </a:p>
          <a:p>
            <a:pPr algn="l">
              <a:lnSpc>
                <a:spcPct val="116000"/>
              </a:lnSpc>
              <a:spcBef>
                <a:spcPts val="0"/>
              </a:spcBef>
              <a:spcAft>
                <a:spcPts val="0"/>
              </a:spcAft>
            </a:pPr>
            <a:r>
              <a:rPr sz="1000" b="1" i="0">
                <a:solidFill>
                  <a:srgbClr val="D03B3B"/>
                </a:solidFill>
                <a:latin typeface="Calibri"/>
              </a:rPr>
              <a:t>Leaves open  </a:t>
            </a:r>
            <a:r>
              <a:rPr sz="1000" b="0" i="0">
                <a:solidFill>
                  <a:srgbClr val="5A6472"/>
                </a:solidFill>
                <a:latin typeface="Calibri"/>
              </a:rPr>
              <a:t>in this work the expert's answer is consumed as a training label, decided per instance, and not carried forward.</a:t>
            </a:r>
          </a:p>
        </p:txBody>
      </p:sp>
      <p:sp>
        <p:nvSpPr>
          <p:cNvPr id="9" name="Rounded Rectangle 8"/>
          <p:cNvSpPr/>
          <p:nvPr/>
        </p:nvSpPr>
        <p:spPr>
          <a:xfrm>
            <a:off x="4319930" y="2019808"/>
            <a:ext cx="3551834" cy="1980184"/>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4521098" y="2184400"/>
            <a:ext cx="347472" cy="3474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B</a:t>
            </a:r>
          </a:p>
        </p:txBody>
      </p:sp>
      <p:sp>
        <p:nvSpPr>
          <p:cNvPr id="11" name="TextBox 10"/>
          <p:cNvSpPr txBox="1"/>
          <p:nvPr/>
        </p:nvSpPr>
        <p:spPr>
          <a:xfrm>
            <a:off x="4941722" y="2184400"/>
            <a:ext cx="2710586" cy="365760"/>
          </a:xfrm>
          <a:prstGeom prst="rect">
            <a:avLst/>
          </a:prstGeom>
          <a:noFill/>
        </p:spPr>
        <p:txBody>
          <a:bodyPr wrap="square" anchor="ctr" lIns="0" rIns="0" tIns="0" bIns="0">
            <a:spAutoFit/>
          </a:bodyPr>
          <a:lstStyle/>
          <a:p>
            <a:pPr algn="l">
              <a:lnSpc>
                <a:spcPct val="106000"/>
              </a:lnSpc>
              <a:spcBef>
                <a:spcPts val="0"/>
              </a:spcBef>
              <a:spcAft>
                <a:spcPts val="0"/>
              </a:spcAft>
            </a:pPr>
            <a:r>
              <a:rPr sz="1250" b="1" i="0">
                <a:solidFill>
                  <a:srgbClr val="0F2740"/>
                </a:solidFill>
                <a:latin typeface="Cambria"/>
              </a:rPr>
              <a:t>Judgment internalised in parameters</a:t>
            </a:r>
            <a:r>
              <a:rPr sz="1150" b="1" i="0">
                <a:solidFill>
                  <a:srgbClr val="2A78D6"/>
                </a:solidFill>
                <a:latin typeface="Calibri"/>
              </a:rPr>
              <a:t>   7</a:t>
            </a:r>
          </a:p>
        </p:txBody>
      </p:sp>
      <p:sp>
        <p:nvSpPr>
          <p:cNvPr id="12" name="TextBox 11"/>
          <p:cNvSpPr txBox="1"/>
          <p:nvPr/>
        </p:nvSpPr>
        <p:spPr>
          <a:xfrm>
            <a:off x="4521098" y="2623312"/>
            <a:ext cx="3149498" cy="1371600"/>
          </a:xfrm>
          <a:prstGeom prst="rect">
            <a:avLst/>
          </a:prstGeom>
          <a:noFill/>
        </p:spPr>
        <p:txBody>
          <a:bodyPr wrap="square" anchor="t" lIns="0" rIns="0" tIns="0" bIns="0">
            <a:spAutoFit/>
          </a:bodyPr>
          <a:lstStyle/>
          <a:p>
            <a:pPr algn="l">
              <a:lnSpc>
                <a:spcPct val="116000"/>
              </a:lnSpc>
              <a:spcBef>
                <a:spcPts val="0"/>
              </a:spcBef>
              <a:spcAft>
                <a:spcPts val="500"/>
              </a:spcAft>
            </a:pPr>
            <a:r>
              <a:rPr sz="1000" b="0" i="0">
                <a:solidFill>
                  <a:srgbClr val="5A6472"/>
                </a:solidFill>
                <a:latin typeface="Calibri"/>
              </a:rPr>
              <a:t>The paradigm this question is positioned against — learning from human preferences, model editing, unlearning — with its own critique.</a:t>
            </a:r>
          </a:p>
          <a:p>
            <a:pPr algn="l">
              <a:lnSpc>
                <a:spcPct val="116000"/>
              </a:lnSpc>
              <a:spcBef>
                <a:spcPts val="0"/>
              </a:spcBef>
              <a:spcAft>
                <a:spcPts val="0"/>
              </a:spcAft>
            </a:pPr>
            <a:r>
              <a:rPr sz="1000" b="1" i="0">
                <a:solidFill>
                  <a:srgbClr val="D03B3B"/>
                </a:solidFill>
                <a:latin typeface="Calibri"/>
              </a:rPr>
              <a:t>Leaves open  </a:t>
            </a:r>
            <a:r>
              <a:rPr sz="1000" b="0" i="0">
                <a:solidFill>
                  <a:srgbClr val="5A6472"/>
                </a:solidFill>
                <a:latin typeface="Calibri"/>
              </a:rPr>
              <a:t>once absorbed into weights, a judgment has no record-level identity to inspect, attribute, scope or revoke.</a:t>
            </a:r>
          </a:p>
        </p:txBody>
      </p:sp>
      <p:sp>
        <p:nvSpPr>
          <p:cNvPr id="13" name="Rounded Rectangle 12"/>
          <p:cNvSpPr/>
          <p:nvPr/>
        </p:nvSpPr>
        <p:spPr>
          <a:xfrm>
            <a:off x="8072932" y="2019808"/>
            <a:ext cx="3551834" cy="1980184"/>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8274100" y="2184400"/>
            <a:ext cx="347472" cy="3474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C</a:t>
            </a:r>
          </a:p>
        </p:txBody>
      </p:sp>
      <p:sp>
        <p:nvSpPr>
          <p:cNvPr id="15" name="TextBox 14"/>
          <p:cNvSpPr txBox="1"/>
          <p:nvPr/>
        </p:nvSpPr>
        <p:spPr>
          <a:xfrm>
            <a:off x="8694724" y="2184400"/>
            <a:ext cx="2710586" cy="365760"/>
          </a:xfrm>
          <a:prstGeom prst="rect">
            <a:avLst/>
          </a:prstGeom>
          <a:noFill/>
        </p:spPr>
        <p:txBody>
          <a:bodyPr wrap="square" anchor="ctr" lIns="0" rIns="0" tIns="0" bIns="0">
            <a:spAutoFit/>
          </a:bodyPr>
          <a:lstStyle/>
          <a:p>
            <a:pPr algn="l">
              <a:lnSpc>
                <a:spcPct val="106000"/>
              </a:lnSpc>
              <a:spcBef>
                <a:spcPts val="0"/>
              </a:spcBef>
              <a:spcAft>
                <a:spcPts val="0"/>
              </a:spcAft>
            </a:pPr>
            <a:r>
              <a:rPr sz="1250" b="1" i="0">
                <a:solidFill>
                  <a:srgbClr val="0F2740"/>
                </a:solidFill>
                <a:latin typeface="Cambria"/>
              </a:rPr>
              <a:t>Externalised records &amp; provenance</a:t>
            </a:r>
            <a:r>
              <a:rPr sz="1150" b="1" i="0">
                <a:solidFill>
                  <a:srgbClr val="2A78D6"/>
                </a:solidFill>
                <a:latin typeface="Calibri"/>
              </a:rPr>
              <a:t>   ~17</a:t>
            </a:r>
          </a:p>
        </p:txBody>
      </p:sp>
      <p:sp>
        <p:nvSpPr>
          <p:cNvPr id="16" name="TextBox 15"/>
          <p:cNvSpPr txBox="1"/>
          <p:nvPr/>
        </p:nvSpPr>
        <p:spPr>
          <a:xfrm>
            <a:off x="8274100" y="2623312"/>
            <a:ext cx="3149498" cy="1371600"/>
          </a:xfrm>
          <a:prstGeom prst="rect">
            <a:avLst/>
          </a:prstGeom>
          <a:noFill/>
        </p:spPr>
        <p:txBody>
          <a:bodyPr wrap="square" anchor="t" lIns="0" rIns="0" tIns="0" bIns="0">
            <a:spAutoFit/>
          </a:bodyPr>
          <a:lstStyle/>
          <a:p>
            <a:pPr algn="l">
              <a:lnSpc>
                <a:spcPct val="116000"/>
              </a:lnSpc>
              <a:spcBef>
                <a:spcPts val="0"/>
              </a:spcBef>
              <a:spcAft>
                <a:spcPts val="500"/>
              </a:spcAft>
            </a:pPr>
            <a:r>
              <a:rPr sz="1000" b="0" i="0">
                <a:solidFill>
                  <a:srgbClr val="5A6472"/>
                </a:solidFill>
                <a:latin typeface="Calibri"/>
              </a:rPr>
              <a:t>Building blocks for holding judgment outside the weights: provenance standards, scope declarations, rationale schemas, disagreement as signal.</a:t>
            </a:r>
          </a:p>
          <a:p>
            <a:pPr algn="l">
              <a:lnSpc>
                <a:spcPct val="116000"/>
              </a:lnSpc>
              <a:spcBef>
                <a:spcPts val="0"/>
              </a:spcBef>
              <a:spcAft>
                <a:spcPts val="0"/>
              </a:spcAft>
            </a:pPr>
            <a:r>
              <a:rPr sz="1000" b="1" i="0">
                <a:solidFill>
                  <a:srgbClr val="D03B3B"/>
                </a:solidFill>
                <a:latin typeface="Calibri"/>
              </a:rPr>
              <a:t>Leaves open  </a:t>
            </a:r>
            <a:r>
              <a:rPr sz="1000" b="0" i="0">
                <a:solidFill>
                  <a:srgbClr val="5A6472"/>
                </a:solidFill>
                <a:latin typeface="Calibri"/>
              </a:rPr>
              <a:t>in the reviewed work these sit at differing granularity and do not compose; provenance carries no validity or authority semantics.</a:t>
            </a:r>
          </a:p>
        </p:txBody>
      </p:sp>
      <p:sp>
        <p:nvSpPr>
          <p:cNvPr id="17" name="Rounded Rectangle 16"/>
          <p:cNvSpPr/>
          <p:nvPr/>
        </p:nvSpPr>
        <p:spPr>
          <a:xfrm>
            <a:off x="566928" y="4164584"/>
            <a:ext cx="3551834" cy="1980184"/>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68096" y="4329176"/>
            <a:ext cx="347472" cy="3474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D</a:t>
            </a:r>
          </a:p>
        </p:txBody>
      </p:sp>
      <p:sp>
        <p:nvSpPr>
          <p:cNvPr id="19" name="TextBox 18"/>
          <p:cNvSpPr txBox="1"/>
          <p:nvPr/>
        </p:nvSpPr>
        <p:spPr>
          <a:xfrm>
            <a:off x="1188720" y="4329176"/>
            <a:ext cx="2710586" cy="365760"/>
          </a:xfrm>
          <a:prstGeom prst="rect">
            <a:avLst/>
          </a:prstGeom>
          <a:noFill/>
        </p:spPr>
        <p:txBody>
          <a:bodyPr wrap="square" anchor="ctr" lIns="0" rIns="0" tIns="0" bIns="0">
            <a:spAutoFit/>
          </a:bodyPr>
          <a:lstStyle/>
          <a:p>
            <a:pPr algn="l">
              <a:lnSpc>
                <a:spcPct val="106000"/>
              </a:lnSpc>
              <a:spcBef>
                <a:spcPts val="0"/>
              </a:spcBef>
              <a:spcAft>
                <a:spcPts val="0"/>
              </a:spcAft>
            </a:pPr>
            <a:r>
              <a:rPr sz="1250" b="1" i="0">
                <a:solidFill>
                  <a:srgbClr val="0F2740"/>
                </a:solidFill>
                <a:latin typeface="Cambria"/>
              </a:rPr>
              <a:t>Runtime agent memory &amp; reuse</a:t>
            </a:r>
            <a:r>
              <a:rPr sz="1150" b="1" i="0">
                <a:solidFill>
                  <a:srgbClr val="2A78D6"/>
                </a:solidFill>
                <a:latin typeface="Calibri"/>
              </a:rPr>
              <a:t>   ~8</a:t>
            </a:r>
          </a:p>
        </p:txBody>
      </p:sp>
      <p:sp>
        <p:nvSpPr>
          <p:cNvPr id="20" name="TextBox 19"/>
          <p:cNvSpPr txBox="1"/>
          <p:nvPr/>
        </p:nvSpPr>
        <p:spPr>
          <a:xfrm>
            <a:off x="768096" y="4768088"/>
            <a:ext cx="3149498" cy="1371600"/>
          </a:xfrm>
          <a:prstGeom prst="rect">
            <a:avLst/>
          </a:prstGeom>
          <a:noFill/>
        </p:spPr>
        <p:txBody>
          <a:bodyPr wrap="square" anchor="t" lIns="0" rIns="0" tIns="0" bIns="0">
            <a:spAutoFit/>
          </a:bodyPr>
          <a:lstStyle/>
          <a:p>
            <a:pPr algn="l">
              <a:lnSpc>
                <a:spcPct val="116000"/>
              </a:lnSpc>
              <a:spcBef>
                <a:spcPts val="0"/>
              </a:spcBef>
              <a:spcAft>
                <a:spcPts val="500"/>
              </a:spcAft>
            </a:pPr>
            <a:r>
              <a:rPr sz="1000" b="0" i="0">
                <a:solidFill>
                  <a:srgbClr val="5A6472"/>
                </a:solidFill>
                <a:latin typeface="Calibri"/>
              </a:rPr>
              <a:t>How a stored ruling could be reused at runtime — retrieval augmentation, memory taxonomies, self-reflection over stored records.</a:t>
            </a:r>
          </a:p>
          <a:p>
            <a:pPr algn="l">
              <a:lnSpc>
                <a:spcPct val="116000"/>
              </a:lnSpc>
              <a:spcBef>
                <a:spcPts val="0"/>
              </a:spcBef>
              <a:spcAft>
                <a:spcPts val="0"/>
              </a:spcAft>
            </a:pPr>
            <a:r>
              <a:rPr sz="1000" b="1" i="0">
                <a:solidFill>
                  <a:srgbClr val="D03B3B"/>
                </a:solidFill>
                <a:latin typeface="Calibri"/>
              </a:rPr>
              <a:t>Leaves open  </a:t>
            </a:r>
            <a:r>
              <a:rPr sz="1000" b="0" i="0">
                <a:solidFill>
                  <a:srgbClr val="5A6472"/>
                </a:solidFill>
                <a:latin typeface="Calibri"/>
              </a:rPr>
              <a:t>the reviewed operations retrieve on similarity alone, with no authorisation, scope or expiry predicate.</a:t>
            </a:r>
          </a:p>
        </p:txBody>
      </p:sp>
      <p:sp>
        <p:nvSpPr>
          <p:cNvPr id="21" name="Rounded Rectangle 20"/>
          <p:cNvSpPr/>
          <p:nvPr/>
        </p:nvSpPr>
        <p:spPr>
          <a:xfrm>
            <a:off x="4319930" y="4164584"/>
            <a:ext cx="3551834" cy="1980184"/>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521098" y="4329176"/>
            <a:ext cx="347472" cy="3474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E</a:t>
            </a:r>
          </a:p>
        </p:txBody>
      </p:sp>
      <p:sp>
        <p:nvSpPr>
          <p:cNvPr id="23" name="TextBox 22"/>
          <p:cNvSpPr txBox="1"/>
          <p:nvPr/>
        </p:nvSpPr>
        <p:spPr>
          <a:xfrm>
            <a:off x="4941722" y="4329176"/>
            <a:ext cx="2710586" cy="365760"/>
          </a:xfrm>
          <a:prstGeom prst="rect">
            <a:avLst/>
          </a:prstGeom>
          <a:noFill/>
        </p:spPr>
        <p:txBody>
          <a:bodyPr wrap="square" anchor="ctr" lIns="0" rIns="0" tIns="0" bIns="0">
            <a:spAutoFit/>
          </a:bodyPr>
          <a:lstStyle/>
          <a:p>
            <a:pPr algn="l">
              <a:lnSpc>
                <a:spcPct val="106000"/>
              </a:lnSpc>
              <a:spcBef>
                <a:spcPts val="0"/>
              </a:spcBef>
              <a:spcAft>
                <a:spcPts val="0"/>
              </a:spcAft>
            </a:pPr>
            <a:r>
              <a:rPr sz="1250" b="1" i="0">
                <a:solidFill>
                  <a:srgbClr val="0F2740"/>
                </a:solidFill>
                <a:latin typeface="Cambria"/>
              </a:rPr>
              <a:t>Model assessment &amp; variability</a:t>
            </a:r>
            <a:r>
              <a:rPr sz="1150" b="1" i="0">
                <a:solidFill>
                  <a:srgbClr val="2A78D6"/>
                </a:solidFill>
                <a:latin typeface="Calibri"/>
              </a:rPr>
              <a:t>   ~33</a:t>
            </a:r>
          </a:p>
        </p:txBody>
      </p:sp>
      <p:sp>
        <p:nvSpPr>
          <p:cNvPr id="24" name="TextBox 23"/>
          <p:cNvSpPr txBox="1"/>
          <p:nvPr/>
        </p:nvSpPr>
        <p:spPr>
          <a:xfrm>
            <a:off x="4521098" y="4768088"/>
            <a:ext cx="3149498" cy="1371600"/>
          </a:xfrm>
          <a:prstGeom prst="rect">
            <a:avLst/>
          </a:prstGeom>
          <a:noFill/>
        </p:spPr>
        <p:txBody>
          <a:bodyPr wrap="square" anchor="t" lIns="0" rIns="0" tIns="0" bIns="0">
            <a:spAutoFit/>
          </a:bodyPr>
          <a:lstStyle/>
          <a:p>
            <a:pPr algn="l">
              <a:lnSpc>
                <a:spcPct val="116000"/>
              </a:lnSpc>
              <a:spcBef>
                <a:spcPts val="0"/>
              </a:spcBef>
              <a:spcAft>
                <a:spcPts val="500"/>
              </a:spcAft>
            </a:pPr>
            <a:r>
              <a:rPr sz="1000" b="0" i="0">
                <a:solidFill>
                  <a:srgbClr val="5A6472"/>
                </a:solidFill>
                <a:latin typeface="Calibri"/>
              </a:rPr>
              <a:t>The application domain — automated and LLM-based assessment of conceptual models, and the vocabulary of planned, designed-in variation.</a:t>
            </a:r>
          </a:p>
          <a:p>
            <a:pPr algn="l">
              <a:lnSpc>
                <a:spcPct val="116000"/>
              </a:lnSpc>
              <a:spcBef>
                <a:spcPts val="0"/>
              </a:spcBef>
              <a:spcAft>
                <a:spcPts val="0"/>
              </a:spcAft>
            </a:pPr>
            <a:r>
              <a:rPr sz="1000" b="1" i="0">
                <a:solidFill>
                  <a:srgbClr val="D03B3B"/>
                </a:solidFill>
                <a:latin typeface="Calibri"/>
              </a:rPr>
              <a:t>Leaves open  </a:t>
            </a:r>
            <a:r>
              <a:rPr sz="1000" b="0" i="0">
                <a:solidFill>
                  <a:srgbClr val="5A6472"/>
                </a:solidFill>
                <a:latin typeface="Calibri"/>
              </a:rPr>
              <a:t>the assessor's reasoning is consumed once; legitimacy of a difference is largely settled at construction time, not judged in context.</a:t>
            </a:r>
          </a:p>
        </p:txBody>
      </p:sp>
      <p:sp>
        <p:nvSpPr>
          <p:cNvPr id="25" name="Rounded Rectangle 24"/>
          <p:cNvSpPr/>
          <p:nvPr/>
        </p:nvSpPr>
        <p:spPr>
          <a:xfrm>
            <a:off x="8072932" y="4164584"/>
            <a:ext cx="3551834" cy="1980184"/>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274100" y="4329176"/>
            <a:ext cx="347472" cy="347472"/>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F</a:t>
            </a:r>
          </a:p>
        </p:txBody>
      </p:sp>
      <p:sp>
        <p:nvSpPr>
          <p:cNvPr id="27" name="TextBox 26"/>
          <p:cNvSpPr txBox="1"/>
          <p:nvPr/>
        </p:nvSpPr>
        <p:spPr>
          <a:xfrm>
            <a:off x="8694724" y="4329176"/>
            <a:ext cx="2710586" cy="365760"/>
          </a:xfrm>
          <a:prstGeom prst="rect">
            <a:avLst/>
          </a:prstGeom>
          <a:noFill/>
        </p:spPr>
        <p:txBody>
          <a:bodyPr wrap="square" anchor="ctr" lIns="0" rIns="0" tIns="0" bIns="0">
            <a:spAutoFit/>
          </a:bodyPr>
          <a:lstStyle/>
          <a:p>
            <a:pPr algn="l">
              <a:lnSpc>
                <a:spcPct val="106000"/>
              </a:lnSpc>
              <a:spcBef>
                <a:spcPts val="0"/>
              </a:spcBef>
              <a:spcAft>
                <a:spcPts val="0"/>
              </a:spcAft>
            </a:pPr>
            <a:r>
              <a:rPr sz="1250" b="1" i="0">
                <a:solidFill>
                  <a:srgbClr val="0F2740"/>
                </a:solidFill>
                <a:latin typeface="Cambria"/>
              </a:rPr>
              <a:t>Transfer, shift &amp; validity</a:t>
            </a:r>
            <a:r>
              <a:rPr sz="1150" b="1" i="0">
                <a:solidFill>
                  <a:srgbClr val="2A78D6"/>
                </a:solidFill>
                <a:latin typeface="Calibri"/>
              </a:rPr>
              <a:t>   ~43</a:t>
            </a:r>
          </a:p>
        </p:txBody>
      </p:sp>
      <p:sp>
        <p:nvSpPr>
          <p:cNvPr id="28" name="TextBox 27"/>
          <p:cNvSpPr txBox="1"/>
          <p:nvPr/>
        </p:nvSpPr>
        <p:spPr>
          <a:xfrm>
            <a:off x="8274100" y="4768088"/>
            <a:ext cx="3149498" cy="1371600"/>
          </a:xfrm>
          <a:prstGeom prst="rect">
            <a:avLst/>
          </a:prstGeom>
          <a:noFill/>
        </p:spPr>
        <p:txBody>
          <a:bodyPr wrap="square" anchor="t" lIns="0" rIns="0" tIns="0" bIns="0">
            <a:spAutoFit/>
          </a:bodyPr>
          <a:lstStyle/>
          <a:p>
            <a:pPr algn="l">
              <a:lnSpc>
                <a:spcPct val="116000"/>
              </a:lnSpc>
              <a:spcBef>
                <a:spcPts val="0"/>
              </a:spcBef>
              <a:spcAft>
                <a:spcPts val="500"/>
              </a:spcAft>
            </a:pPr>
            <a:r>
              <a:rPr sz="1000" b="0" i="0">
                <a:solidFill>
                  <a:srgbClr val="5A6472"/>
                </a:solidFill>
                <a:latin typeface="Calibri"/>
              </a:rPr>
              <a:t>How to state a transfer claim precisely and not fool yourself — shift vocabulary, paired in/out-of-context reporting, threats to validity.</a:t>
            </a:r>
          </a:p>
          <a:p>
            <a:pPr algn="l">
              <a:lnSpc>
                <a:spcPct val="116000"/>
              </a:lnSpc>
              <a:spcBef>
                <a:spcPts val="0"/>
              </a:spcBef>
              <a:spcAft>
                <a:spcPts val="0"/>
              </a:spcAft>
            </a:pPr>
            <a:r>
              <a:rPr sz="1000" b="1" i="0">
                <a:solidFill>
                  <a:srgbClr val="D03B3B"/>
                </a:solidFill>
                <a:latin typeface="Calibri"/>
              </a:rPr>
              <a:t>Leaves open  </a:t>
            </a:r>
            <a:r>
              <a:rPr sz="1000" b="0" i="0">
                <a:solidFill>
                  <a:srgbClr val="5A6472"/>
                </a:solidFill>
                <a:latin typeface="Calibri"/>
              </a:rPr>
              <a:t>formulated over fitted models and static datasets; the reviewed set offers no category for a governed human-decision artefact.</a:t>
            </a:r>
          </a:p>
        </p:txBody>
      </p:sp>
      <p:sp>
        <p:nvSpPr>
          <p:cNvPr id="29" name="TextBox 28"/>
          <p:cNvSpPr txBox="1"/>
          <p:nvPr/>
        </p:nvSpPr>
        <p:spPr>
          <a:xfrm>
            <a:off x="566928" y="6291072"/>
            <a:ext cx="11057839" cy="384048"/>
          </a:xfrm>
          <a:prstGeom prst="rect">
            <a:avLst/>
          </a:prstGeom>
          <a:noFill/>
        </p:spPr>
        <p:txBody>
          <a:bodyPr wrap="square" anchor="t" lIns="0" rIns="0" tIns="0" bIns="0">
            <a:spAutoFit/>
          </a:bodyPr>
          <a:lstStyle/>
          <a:p>
            <a:pPr algn="l">
              <a:lnSpc>
                <a:spcPct val="115000"/>
              </a:lnSpc>
              <a:spcBef>
                <a:spcPts val="0"/>
              </a:spcBef>
              <a:spcAft>
                <a:spcPts val="0"/>
              </a:spcAft>
            </a:pPr>
            <a:r>
              <a:rPr sz="1050" b="0" i="0">
                <a:solidFill>
                  <a:srgbClr val="5A6472"/>
                </a:solidFill>
                <a:latin typeface="Calibri"/>
              </a:rPr>
              <a:t>Source counts are for the reviewed corpus only, and are approximate: a source may inform more than one stream. Each “leaves open” describes what the reviewed work does not cover — not a proven absence in the field.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INITIAL FINDINGS · ANALYSIS FRAMEWORK</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The Judgment Lifecycle Grid</a:t>
            </a:r>
          </a:p>
        </p:txBody>
      </p:sp>
      <p:sp>
        <p:nvSpPr>
          <p:cNvPr id="4" name="TextBox 3"/>
          <p:cNvSpPr txBox="1"/>
          <p:nvPr/>
        </p:nvSpPr>
        <p:spPr>
          <a:xfrm>
            <a:off x="566928" y="1339850"/>
            <a:ext cx="11057839" cy="533654"/>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The unit of analysis is not a paper and not a topic — it is one expert ruling, and the five checkpoints it must pass between the moment an agent hesitates and the moment someone claims that ruling still holds elsewhere.</a:t>
            </a:r>
          </a:p>
        </p:txBody>
      </p:sp>
      <p:pic>
        <p:nvPicPr>
          <p:cNvPr id="5" name="Picture 4" descr="05-maturity-grid-bare.png"/>
          <p:cNvPicPr>
            <a:picLocks noChangeAspect="1"/>
          </p:cNvPicPr>
          <p:nvPr/>
        </p:nvPicPr>
        <p:blipFill>
          <a:blip r:embed="rId2"/>
          <a:stretch>
            <a:fillRect/>
          </a:stretch>
        </p:blipFill>
        <p:spPr>
          <a:xfrm>
            <a:off x="857661" y="2019808"/>
            <a:ext cx="7145212" cy="4051808"/>
          </a:xfrm>
          <a:prstGeom prst="rect">
            <a:avLst/>
          </a:prstGeom>
        </p:spPr>
      </p:pic>
      <p:sp>
        <p:nvSpPr>
          <p:cNvPr id="6" name="TextBox 5"/>
          <p:cNvSpPr txBox="1"/>
          <p:nvPr/>
        </p:nvSpPr>
        <p:spPr>
          <a:xfrm>
            <a:off x="8494775" y="2019808"/>
            <a:ext cx="3129992" cy="256032"/>
          </a:xfrm>
          <a:prstGeom prst="rect">
            <a:avLst/>
          </a:prstGeom>
          <a:noFill/>
        </p:spPr>
        <p:txBody>
          <a:bodyPr wrap="square" anchor="t" lIns="0" rIns="0" tIns="0" bIns="0">
            <a:spAutoFit/>
          </a:bodyPr>
          <a:lstStyle/>
          <a:p>
            <a:pPr algn="l">
              <a:spcBef>
                <a:spcPts val="0"/>
              </a:spcBef>
              <a:spcAft>
                <a:spcPts val="0"/>
              </a:spcAft>
            </a:pPr>
            <a:r>
              <a:rPr sz="1100" b="1" i="0">
                <a:solidFill>
                  <a:srgbClr val="D03B3B"/>
                </a:solidFill>
                <a:latin typeface="Calibri"/>
              </a:rPr>
              <a:t>THREE CEILINGS</a:t>
            </a:r>
          </a:p>
        </p:txBody>
      </p:sp>
      <p:sp>
        <p:nvSpPr>
          <p:cNvPr id="7" name="Rounded Rectangle 6"/>
          <p:cNvSpPr/>
          <p:nvPr/>
        </p:nvSpPr>
        <p:spPr>
          <a:xfrm>
            <a:off x="8494775" y="2348992"/>
            <a:ext cx="3129992" cy="1143338"/>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77655" y="2477008"/>
            <a:ext cx="2764232" cy="923882"/>
          </a:xfrm>
          <a:prstGeom prst="rect">
            <a:avLst/>
          </a:prstGeom>
          <a:noFill/>
        </p:spPr>
        <p:txBody>
          <a:bodyPr wrap="square" anchor="t" lIns="0" rIns="0" tIns="0" bIns="0">
            <a:spAutoFit/>
          </a:bodyPr>
          <a:lstStyle/>
          <a:p>
            <a:pPr algn="l">
              <a:spcBef>
                <a:spcPts val="0"/>
              </a:spcBef>
              <a:spcAft>
                <a:spcPts val="400"/>
              </a:spcAft>
            </a:pPr>
            <a:r>
              <a:rPr sz="1250" b="1" i="0">
                <a:solidFill>
                  <a:srgbClr val="0F2740"/>
                </a:solidFill>
                <a:latin typeface="Cambria"/>
              </a:rPr>
              <a:t>REUSE stops at L2</a:t>
            </a:r>
          </a:p>
          <a:p>
            <a:pPr algn="l">
              <a:lnSpc>
                <a:spcPct val="114000"/>
              </a:lnSpc>
              <a:spcBef>
                <a:spcPts val="0"/>
              </a:spcBef>
              <a:spcAft>
                <a:spcPts val="0"/>
              </a:spcAft>
            </a:pPr>
            <a:r>
              <a:rPr sz="1000" b="0" i="0">
                <a:solidFill>
                  <a:srgbClr val="5A6472"/>
                </a:solidFill>
                <a:latin typeface="Calibri"/>
              </a:rPr>
              <a:t>Nothing in the reviewed corpus checks a per-record scope gate before a stored ruling is applied to a new case. Reuse goes by similarity.</a:t>
            </a:r>
          </a:p>
        </p:txBody>
      </p:sp>
      <p:sp>
        <p:nvSpPr>
          <p:cNvPr id="9" name="Rounded Rectangle 8"/>
          <p:cNvSpPr/>
          <p:nvPr/>
        </p:nvSpPr>
        <p:spPr>
          <a:xfrm>
            <a:off x="8494775" y="3638634"/>
            <a:ext cx="3129992" cy="1143338"/>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677655" y="3766650"/>
            <a:ext cx="2764232" cy="923882"/>
          </a:xfrm>
          <a:prstGeom prst="rect">
            <a:avLst/>
          </a:prstGeom>
          <a:noFill/>
        </p:spPr>
        <p:txBody>
          <a:bodyPr wrap="square" anchor="t" lIns="0" rIns="0" tIns="0" bIns="0">
            <a:spAutoFit/>
          </a:bodyPr>
          <a:lstStyle/>
          <a:p>
            <a:pPr algn="l">
              <a:spcBef>
                <a:spcPts val="0"/>
              </a:spcBef>
              <a:spcAft>
                <a:spcPts val="400"/>
              </a:spcAft>
            </a:pPr>
            <a:r>
              <a:rPr sz="1250" b="1" i="0">
                <a:solidFill>
                  <a:srgbClr val="0F2740"/>
                </a:solidFill>
                <a:latin typeface="Cambria"/>
              </a:rPr>
              <a:t>ASK stops at L2</a:t>
            </a:r>
          </a:p>
          <a:p>
            <a:pPr algn="l">
              <a:lnSpc>
                <a:spcPct val="114000"/>
              </a:lnSpc>
              <a:spcBef>
                <a:spcPts val="0"/>
              </a:spcBef>
              <a:spcAft>
                <a:spcPts val="0"/>
              </a:spcAft>
            </a:pPr>
            <a:r>
              <a:rPr sz="1000" b="0" i="0">
                <a:solidFill>
                  <a:srgbClr val="5A6472"/>
                </a:solidFill>
                <a:latin typeface="Calibri"/>
              </a:rPr>
              <a:t>The corpus shows that how a question is framed changes the answer — yet its measures score whether the system asked, never how.</a:t>
            </a:r>
          </a:p>
        </p:txBody>
      </p:sp>
      <p:sp>
        <p:nvSpPr>
          <p:cNvPr id="11" name="Rounded Rectangle 10"/>
          <p:cNvSpPr/>
          <p:nvPr/>
        </p:nvSpPr>
        <p:spPr>
          <a:xfrm>
            <a:off x="8494775" y="4928277"/>
            <a:ext cx="3129992" cy="1143338"/>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677655" y="5056293"/>
            <a:ext cx="2764232" cy="923882"/>
          </a:xfrm>
          <a:prstGeom prst="rect">
            <a:avLst/>
          </a:prstGeom>
          <a:noFill/>
        </p:spPr>
        <p:txBody>
          <a:bodyPr wrap="square" anchor="t" lIns="0" rIns="0" tIns="0" bIns="0">
            <a:spAutoFit/>
          </a:bodyPr>
          <a:lstStyle/>
          <a:p>
            <a:pPr algn="l">
              <a:spcBef>
                <a:spcPts val="0"/>
              </a:spcBef>
              <a:spcAft>
                <a:spcPts val="400"/>
              </a:spcAft>
            </a:pPr>
            <a:r>
              <a:rPr sz="1250" b="1" i="0">
                <a:solidFill>
                  <a:srgbClr val="0F2740"/>
                </a:solidFill>
                <a:latin typeface="Cambria"/>
              </a:rPr>
              <a:t>RECORD is empty at L4</a:t>
            </a:r>
          </a:p>
          <a:p>
            <a:pPr algn="l">
              <a:lnSpc>
                <a:spcPct val="114000"/>
              </a:lnSpc>
              <a:spcBef>
                <a:spcPts val="0"/>
              </a:spcBef>
              <a:spcAft>
                <a:spcPts val="0"/>
              </a:spcAft>
            </a:pPr>
            <a:r>
              <a:rPr sz="1000" b="0" i="0">
                <a:solidFill>
                  <a:srgbClr val="5A6472"/>
                </a:solidFill>
                <a:latin typeface="Calibri"/>
              </a:rPr>
              <a:t>Reconciling conflicting rulings, and revoking one already applied, are not addressed in the reviewed corpus.</a:t>
            </a:r>
          </a:p>
        </p:txBody>
      </p:sp>
      <p:sp>
        <p:nvSpPr>
          <p:cNvPr id="13" name="TextBox 12"/>
          <p:cNvSpPr txBox="1"/>
          <p:nvPr/>
        </p:nvSpPr>
        <p:spPr>
          <a:xfrm>
            <a:off x="566928" y="6291072"/>
            <a:ext cx="11057839" cy="384048"/>
          </a:xfrm>
          <a:prstGeom prst="rect">
            <a:avLst/>
          </a:prstGeom>
          <a:noFill/>
        </p:spPr>
        <p:txBody>
          <a:bodyPr wrap="square" anchor="t" lIns="0" rIns="0" tIns="0" bIns="0">
            <a:spAutoFit/>
          </a:bodyPr>
          <a:lstStyle/>
          <a:p>
            <a:pPr algn="l">
              <a:lnSpc>
                <a:spcPct val="115000"/>
              </a:lnSpc>
              <a:spcBef>
                <a:spcPts val="0"/>
              </a:spcBef>
              <a:spcAft>
                <a:spcPts val="0"/>
              </a:spcAft>
            </a:pPr>
            <a:r>
              <a:rPr sz="1050" b="0" i="0">
                <a:solidFill>
                  <a:srgbClr val="5A6472"/>
                </a:solidFill>
                <a:latin typeface="Calibri"/>
              </a:rPr>
              <a:t>Levels describe where the reviewed corpus reaches — they are not a claim that the field contains nothing higher. Executing the frozen protocol searches may raise any ceiling, and testing that is the next step.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INITIAL FINDINGS · IDENTIFIED GAPS</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What the framework makes visible</a:t>
            </a:r>
          </a:p>
        </p:txBody>
      </p:sp>
      <p:sp>
        <p:nvSpPr>
          <p:cNvPr id="4" name="TextBox 3"/>
          <p:cNvSpPr txBox="1"/>
          <p:nvPr/>
        </p:nvSpPr>
        <p:spPr>
          <a:xfrm>
            <a:off x="566928" y="1339850"/>
            <a:ext cx="11057839" cy="294259"/>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Each gap below is a thin or empty region of the matrix — stated as a boundary of the reviewed corpus, not as a proven absence.</a:t>
            </a:r>
          </a:p>
        </p:txBody>
      </p:sp>
      <p:sp>
        <p:nvSpPr>
          <p:cNvPr id="5" name="TextBox 4"/>
          <p:cNvSpPr txBox="1"/>
          <p:nvPr/>
        </p:nvSpPr>
        <p:spPr>
          <a:xfrm>
            <a:off x="566928" y="1780413"/>
            <a:ext cx="11057839" cy="274320"/>
          </a:xfrm>
          <a:prstGeom prst="rect">
            <a:avLst/>
          </a:prstGeom>
          <a:noFill/>
        </p:spPr>
        <p:txBody>
          <a:bodyPr wrap="square" anchor="t" lIns="0" rIns="0" tIns="0" bIns="0">
            <a:spAutoFit/>
          </a:bodyPr>
          <a:lstStyle/>
          <a:p>
            <a:pPr algn="l">
              <a:spcBef>
                <a:spcPts val="0"/>
              </a:spcBef>
              <a:spcAft>
                <a:spcPts val="0"/>
              </a:spcAft>
            </a:pPr>
            <a:r>
              <a:rPr sz="1300" b="1" i="0">
                <a:solidFill>
                  <a:srgbClr val="D03B3B"/>
                </a:solidFill>
                <a:latin typeface="Cambria"/>
              </a:rPr>
              <a:t>Within the reviewed corpus —</a:t>
            </a:r>
          </a:p>
        </p:txBody>
      </p:sp>
      <p:sp>
        <p:nvSpPr>
          <p:cNvPr id="6" name="Rounded Rectangle 5"/>
          <p:cNvSpPr/>
          <p:nvPr/>
        </p:nvSpPr>
        <p:spPr>
          <a:xfrm>
            <a:off x="566928" y="2127885"/>
            <a:ext cx="11057839" cy="859536"/>
          </a:xfrm>
          <a:prstGeom prst="roundRect">
            <a:avLst>
              <a:gd name="adj" fmla="val 4000"/>
            </a:avLst>
          </a:prstGeom>
          <a:solidFill>
            <a:srgbClr val="CDE2FB"/>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04672" y="2329053"/>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G1</a:t>
            </a:r>
          </a:p>
        </p:txBody>
      </p:sp>
      <p:sp>
        <p:nvSpPr>
          <p:cNvPr id="8" name="TextBox 7"/>
          <p:cNvSpPr txBox="1"/>
          <p:nvPr/>
        </p:nvSpPr>
        <p:spPr>
          <a:xfrm>
            <a:off x="1444752" y="2265045"/>
            <a:ext cx="7863840" cy="621792"/>
          </a:xfrm>
          <a:prstGeom prst="rect">
            <a:avLst/>
          </a:prstGeom>
          <a:noFill/>
        </p:spPr>
        <p:txBody>
          <a:bodyPr wrap="square" anchor="t" lIns="0" rIns="0" tIns="0" bIns="0">
            <a:spAutoFit/>
          </a:bodyPr>
          <a:lstStyle/>
          <a:p>
            <a:pPr algn="l">
              <a:lnSpc>
                <a:spcPct val="114000"/>
              </a:lnSpc>
              <a:spcBef>
                <a:spcPts val="0"/>
              </a:spcBef>
              <a:spcAft>
                <a:spcPts val="300"/>
              </a:spcAft>
            </a:pPr>
            <a:r>
              <a:rPr sz="1400" b="1" i="0">
                <a:solidFill>
                  <a:srgbClr val="0F2740"/>
                </a:solidFill>
                <a:latin typeface="Cambria"/>
              </a:rPr>
              <a:t>escalation and the judgment it obtains stay decoupled</a:t>
            </a:r>
          </a:p>
          <a:p>
            <a:pPr algn="l">
              <a:lnSpc>
                <a:spcPct val="116000"/>
              </a:lnSpc>
              <a:spcBef>
                <a:spcPts val="0"/>
              </a:spcBef>
              <a:spcAft>
                <a:spcPts val="0"/>
              </a:spcAft>
            </a:pPr>
            <a:r>
              <a:rPr sz="1150" b="0" i="0">
                <a:solidFill>
                  <a:srgbClr val="5A6472"/>
                </a:solidFill>
                <a:latin typeface="Calibri"/>
              </a:rPr>
              <a:t>The corpus holds both halves and never joins them: intervention work consumes the expert's answer as a label and discards it; memory work supplies storage and retrieval with no authorisation or scope predicate.</a:t>
            </a:r>
          </a:p>
        </p:txBody>
      </p:sp>
      <p:sp>
        <p:nvSpPr>
          <p:cNvPr id="9" name="TextBox 8"/>
          <p:cNvSpPr txBox="1"/>
          <p:nvPr/>
        </p:nvSpPr>
        <p:spPr>
          <a:xfrm>
            <a:off x="9454896" y="2383917"/>
            <a:ext cx="2103120" cy="384048"/>
          </a:xfrm>
          <a:prstGeom prst="rect">
            <a:avLst/>
          </a:prstGeom>
          <a:noFill/>
        </p:spPr>
        <p:txBody>
          <a:bodyPr wrap="square" anchor="ctr" lIns="0" rIns="0" tIns="0" bIns="0">
            <a:spAutoFit/>
          </a:bodyPr>
          <a:lstStyle/>
          <a:p>
            <a:pPr algn="r">
              <a:spcBef>
                <a:spcPts val="0"/>
              </a:spcBef>
              <a:spcAft>
                <a:spcPts val="0"/>
              </a:spcAft>
            </a:pPr>
            <a:r>
              <a:rPr sz="1200" b="1" i="0">
                <a:solidFill>
                  <a:srgbClr val="2A78D6"/>
                </a:solidFill>
                <a:latin typeface="Calibri"/>
              </a:rPr>
              <a:t>SQ1 × SQ2</a:t>
            </a:r>
          </a:p>
        </p:txBody>
      </p:sp>
      <p:sp>
        <p:nvSpPr>
          <p:cNvPr id="10" name="Rounded Rectangle 9"/>
          <p:cNvSpPr/>
          <p:nvPr/>
        </p:nvSpPr>
        <p:spPr>
          <a:xfrm>
            <a:off x="566928" y="3133725"/>
            <a:ext cx="11057839" cy="859536"/>
          </a:xfrm>
          <a:prstGeom prst="roundRect">
            <a:avLst>
              <a:gd name="adj" fmla="val 4000"/>
            </a:avLst>
          </a:prstGeom>
          <a:solidFill>
            <a:srgbClr val="CDE2FB"/>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04672" y="3334893"/>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G2</a:t>
            </a:r>
          </a:p>
        </p:txBody>
      </p:sp>
      <p:sp>
        <p:nvSpPr>
          <p:cNvPr id="12" name="TextBox 11"/>
          <p:cNvSpPr txBox="1"/>
          <p:nvPr/>
        </p:nvSpPr>
        <p:spPr>
          <a:xfrm>
            <a:off x="1444752" y="3270885"/>
            <a:ext cx="7863840" cy="621792"/>
          </a:xfrm>
          <a:prstGeom prst="rect">
            <a:avLst/>
          </a:prstGeom>
          <a:noFill/>
        </p:spPr>
        <p:txBody>
          <a:bodyPr wrap="square" anchor="t" lIns="0" rIns="0" tIns="0" bIns="0">
            <a:spAutoFit/>
          </a:bodyPr>
          <a:lstStyle/>
          <a:p>
            <a:pPr algn="l">
              <a:lnSpc>
                <a:spcPct val="114000"/>
              </a:lnSpc>
              <a:spcBef>
                <a:spcPts val="0"/>
              </a:spcBef>
              <a:spcAft>
                <a:spcPts val="300"/>
              </a:spcAft>
            </a:pPr>
            <a:r>
              <a:rPr sz="1400" b="1" i="0">
                <a:solidFill>
                  <a:srgbClr val="0F2740"/>
                </a:solidFill>
                <a:latin typeface="Cambria"/>
              </a:rPr>
              <a:t>intervention budgets are static, and coverage is not reported against reviewer load</a:t>
            </a:r>
          </a:p>
          <a:p>
            <a:pPr algn="l">
              <a:lnSpc>
                <a:spcPct val="116000"/>
              </a:lnSpc>
              <a:spcBef>
                <a:spcPts val="0"/>
              </a:spcBef>
              <a:spcAft>
                <a:spcPts val="0"/>
              </a:spcAft>
            </a:pPr>
            <a:r>
              <a:rPr sz="1150" b="0" i="0">
                <a:solidFill>
                  <a:srgbClr val="5A6472"/>
                </a:solidFill>
                <a:latin typeface="Calibri"/>
              </a:rPr>
              <a:t>The formal budgets reviewed price a query at a constant, while the corpus's own clinical evidence shows cost rises with volume and repetition. The two quantities are never reported together.</a:t>
            </a:r>
          </a:p>
        </p:txBody>
      </p:sp>
      <p:sp>
        <p:nvSpPr>
          <p:cNvPr id="13" name="TextBox 12"/>
          <p:cNvSpPr txBox="1"/>
          <p:nvPr/>
        </p:nvSpPr>
        <p:spPr>
          <a:xfrm>
            <a:off x="9454896" y="3389757"/>
            <a:ext cx="2103120" cy="384048"/>
          </a:xfrm>
          <a:prstGeom prst="rect">
            <a:avLst/>
          </a:prstGeom>
          <a:noFill/>
        </p:spPr>
        <p:txBody>
          <a:bodyPr wrap="square" anchor="ctr" lIns="0" rIns="0" tIns="0" bIns="0">
            <a:spAutoFit/>
          </a:bodyPr>
          <a:lstStyle/>
          <a:p>
            <a:pPr algn="r">
              <a:spcBef>
                <a:spcPts val="0"/>
              </a:spcBef>
              <a:spcAft>
                <a:spcPts val="0"/>
              </a:spcAft>
            </a:pPr>
            <a:r>
              <a:rPr sz="1200" b="1" i="0">
                <a:solidFill>
                  <a:srgbClr val="2A78D6"/>
                </a:solidFill>
                <a:latin typeface="Calibri"/>
              </a:rPr>
              <a:t>SQ1 → SQ3</a:t>
            </a:r>
          </a:p>
        </p:txBody>
      </p:sp>
      <p:sp>
        <p:nvSpPr>
          <p:cNvPr id="14" name="Rounded Rectangle 13"/>
          <p:cNvSpPr/>
          <p:nvPr/>
        </p:nvSpPr>
        <p:spPr>
          <a:xfrm>
            <a:off x="566928" y="4139565"/>
            <a:ext cx="11057839" cy="859536"/>
          </a:xfrm>
          <a:prstGeom prst="roundRect">
            <a:avLst>
              <a:gd name="adj" fmla="val 4000"/>
            </a:avLst>
          </a:prstGeom>
          <a:solidFill>
            <a:srgbClr val="CDE2FB"/>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804672" y="4340733"/>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G3</a:t>
            </a:r>
          </a:p>
        </p:txBody>
      </p:sp>
      <p:sp>
        <p:nvSpPr>
          <p:cNvPr id="16" name="TextBox 15"/>
          <p:cNvSpPr txBox="1"/>
          <p:nvPr/>
        </p:nvSpPr>
        <p:spPr>
          <a:xfrm>
            <a:off x="1444752" y="4276725"/>
            <a:ext cx="7863840" cy="621792"/>
          </a:xfrm>
          <a:prstGeom prst="rect">
            <a:avLst/>
          </a:prstGeom>
          <a:noFill/>
        </p:spPr>
        <p:txBody>
          <a:bodyPr wrap="square" anchor="t" lIns="0" rIns="0" tIns="0" bIns="0">
            <a:spAutoFit/>
          </a:bodyPr>
          <a:lstStyle/>
          <a:p>
            <a:pPr algn="l">
              <a:lnSpc>
                <a:spcPct val="114000"/>
              </a:lnSpc>
              <a:spcBef>
                <a:spcPts val="0"/>
              </a:spcBef>
              <a:spcAft>
                <a:spcPts val="300"/>
              </a:spcAft>
            </a:pPr>
            <a:r>
              <a:rPr sz="1400" b="1" i="0">
                <a:solidFill>
                  <a:srgbClr val="0F2740"/>
                </a:solidFill>
                <a:latin typeface="Cambria"/>
              </a:rPr>
              <a:t>triggers fire on content errors, not on “is this difference legitimate?”</a:t>
            </a:r>
          </a:p>
          <a:p>
            <a:pPr algn="l">
              <a:lnSpc>
                <a:spcPct val="116000"/>
              </a:lnSpc>
              <a:spcBef>
                <a:spcPts val="0"/>
              </a:spcBef>
              <a:spcAft>
                <a:spcPts val="0"/>
              </a:spcAft>
            </a:pPr>
            <a:r>
              <a:rPr sz="1150" b="0" i="0">
                <a:solidFill>
                  <a:srgbClr val="5A6472"/>
                </a:solidFill>
                <a:latin typeface="Calibri"/>
              </a:rPr>
              <a:t>Whether a deviation is substantial variability or an occasional error is not itself the object of escalation in the reviewed work — yet it is precisely the judgment only a domain expert can make.</a:t>
            </a:r>
          </a:p>
        </p:txBody>
      </p:sp>
      <p:sp>
        <p:nvSpPr>
          <p:cNvPr id="17" name="TextBox 16"/>
          <p:cNvSpPr txBox="1"/>
          <p:nvPr/>
        </p:nvSpPr>
        <p:spPr>
          <a:xfrm>
            <a:off x="9454896" y="4395597"/>
            <a:ext cx="2103120" cy="384048"/>
          </a:xfrm>
          <a:prstGeom prst="rect">
            <a:avLst/>
          </a:prstGeom>
          <a:noFill/>
        </p:spPr>
        <p:txBody>
          <a:bodyPr wrap="square" anchor="ctr" lIns="0" rIns="0" tIns="0" bIns="0">
            <a:spAutoFit/>
          </a:bodyPr>
          <a:lstStyle/>
          <a:p>
            <a:pPr algn="r">
              <a:spcBef>
                <a:spcPts val="0"/>
              </a:spcBef>
              <a:spcAft>
                <a:spcPts val="0"/>
              </a:spcAft>
            </a:pPr>
            <a:r>
              <a:rPr sz="1200" b="1" i="0">
                <a:solidFill>
                  <a:srgbClr val="2A78D6"/>
                </a:solidFill>
                <a:latin typeface="Calibri"/>
              </a:rPr>
              <a:t>SQ1 × foundation</a:t>
            </a:r>
          </a:p>
        </p:txBody>
      </p:sp>
      <p:sp>
        <p:nvSpPr>
          <p:cNvPr id="18" name="Rounded Rectangle 17"/>
          <p:cNvSpPr/>
          <p:nvPr/>
        </p:nvSpPr>
        <p:spPr>
          <a:xfrm>
            <a:off x="566928" y="5145405"/>
            <a:ext cx="11057839" cy="859536"/>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04672" y="5346573"/>
            <a:ext cx="457200" cy="457200"/>
          </a:xfrm>
          <a:prstGeom prst="ellipse">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G4</a:t>
            </a:r>
          </a:p>
        </p:txBody>
      </p:sp>
      <p:sp>
        <p:nvSpPr>
          <p:cNvPr id="20" name="TextBox 19"/>
          <p:cNvSpPr txBox="1"/>
          <p:nvPr/>
        </p:nvSpPr>
        <p:spPr>
          <a:xfrm>
            <a:off x="1444752" y="5282565"/>
            <a:ext cx="7863840" cy="621792"/>
          </a:xfrm>
          <a:prstGeom prst="rect">
            <a:avLst/>
          </a:prstGeom>
          <a:noFill/>
        </p:spPr>
        <p:txBody>
          <a:bodyPr wrap="square" anchor="t" lIns="0" rIns="0" tIns="0" bIns="0">
            <a:spAutoFit/>
          </a:bodyPr>
          <a:lstStyle/>
          <a:p>
            <a:pPr algn="l">
              <a:lnSpc>
                <a:spcPct val="114000"/>
              </a:lnSpc>
              <a:spcBef>
                <a:spcPts val="0"/>
              </a:spcBef>
              <a:spcAft>
                <a:spcPts val="300"/>
              </a:spcAft>
            </a:pPr>
            <a:r>
              <a:rPr sz="1400" b="1" i="0">
                <a:solidFill>
                  <a:srgbClr val="0F2740"/>
                </a:solidFill>
                <a:latin typeface="Cambria"/>
              </a:rPr>
              <a:t>expiry and revocation of a stored ruling are not addressed</a:t>
            </a:r>
          </a:p>
          <a:p>
            <a:pPr algn="l">
              <a:lnSpc>
                <a:spcPct val="116000"/>
              </a:lnSpc>
              <a:spcBef>
                <a:spcPts val="0"/>
              </a:spcBef>
              <a:spcAft>
                <a:spcPts val="0"/>
              </a:spcAft>
            </a:pPr>
            <a:r>
              <a:rPr sz="1150" b="0" i="0">
                <a:solidFill>
                  <a:srgbClr val="5A6472"/>
                </a:solidFill>
                <a:latin typeface="Calibri"/>
              </a:rPr>
              <a:t>No reviewed source shows that a withdrawn ruling stops influencing later outputs, leaving no way to retire judgment that a later expert overturns.</a:t>
            </a:r>
          </a:p>
        </p:txBody>
      </p:sp>
      <p:sp>
        <p:nvSpPr>
          <p:cNvPr id="21" name="TextBox 20"/>
          <p:cNvSpPr txBox="1"/>
          <p:nvPr/>
        </p:nvSpPr>
        <p:spPr>
          <a:xfrm>
            <a:off x="9454896" y="5401437"/>
            <a:ext cx="2103120" cy="384048"/>
          </a:xfrm>
          <a:prstGeom prst="rect">
            <a:avLst/>
          </a:prstGeom>
          <a:noFill/>
        </p:spPr>
        <p:txBody>
          <a:bodyPr wrap="square" anchor="ctr" lIns="0" rIns="0" tIns="0" bIns="0">
            <a:spAutoFit/>
          </a:bodyPr>
          <a:lstStyle/>
          <a:p>
            <a:pPr algn="r">
              <a:spcBef>
                <a:spcPts val="0"/>
              </a:spcBef>
              <a:spcAft>
                <a:spcPts val="0"/>
              </a:spcAft>
            </a:pPr>
            <a:r>
              <a:rPr sz="1200" b="1" i="0">
                <a:solidFill>
                  <a:srgbClr val="5A6472"/>
                </a:solidFill>
                <a:latin typeface="Calibri"/>
              </a:rPr>
              <a:t>SQ2</a:t>
            </a:r>
          </a:p>
        </p:txBody>
      </p:sp>
      <p:sp>
        <p:nvSpPr>
          <p:cNvPr id="22" name="TextBox 21"/>
          <p:cNvSpPr txBox="1"/>
          <p:nvPr/>
        </p:nvSpPr>
        <p:spPr>
          <a:xfrm>
            <a:off x="566928" y="6291072"/>
            <a:ext cx="11057839" cy="384048"/>
          </a:xfrm>
          <a:prstGeom prst="rect">
            <a:avLst/>
          </a:prstGeom>
          <a:noFill/>
        </p:spPr>
        <p:txBody>
          <a:bodyPr wrap="square" anchor="t" lIns="0" rIns="0" tIns="0" bIns="0">
            <a:spAutoFit/>
          </a:bodyPr>
          <a:lstStyle/>
          <a:p>
            <a:pPr algn="l">
              <a:lnSpc>
                <a:spcPct val="115000"/>
              </a:lnSpc>
              <a:spcBef>
                <a:spcPts val="0"/>
              </a:spcBef>
              <a:spcAft>
                <a:spcPts val="0"/>
              </a:spcAft>
            </a:pPr>
            <a:r>
              <a:rPr sz="1050" b="0" i="0">
                <a:solidFill>
                  <a:srgbClr val="5A6472"/>
                </a:solidFill>
                <a:latin typeface="Calibri"/>
              </a:rPr>
              <a:t>Gaps emerge from the findings, and are stated within the reviewed corpus. Executing the frozen protocol searches is the next step, and may confirm, narrow or remove any of them.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CONCLUSION · DIRECTION AND CONTRIBUTION</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The gap this research takes on</a:t>
            </a:r>
          </a:p>
        </p:txBody>
      </p:sp>
      <p:sp>
        <p:nvSpPr>
          <p:cNvPr id="4" name="Rounded Rectangle 3"/>
          <p:cNvSpPr/>
          <p:nvPr/>
        </p:nvSpPr>
        <p:spPr>
          <a:xfrm>
            <a:off x="566928" y="1339850"/>
            <a:ext cx="11057839" cy="1517904"/>
          </a:xfrm>
          <a:prstGeom prst="roundRect">
            <a:avLst>
              <a:gd name="adj" fmla="val 4000"/>
            </a:avLst>
          </a:prstGeom>
          <a:solidFill>
            <a:srgbClr val="0F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77824" y="1541018"/>
            <a:ext cx="10436047" cy="1170432"/>
          </a:xfrm>
          <a:prstGeom prst="rect">
            <a:avLst/>
          </a:prstGeom>
          <a:noFill/>
        </p:spPr>
        <p:txBody>
          <a:bodyPr wrap="square" anchor="t" lIns="0" rIns="0" tIns="0" bIns="0">
            <a:spAutoFit/>
          </a:bodyPr>
          <a:lstStyle/>
          <a:p>
            <a:pPr algn="l">
              <a:lnSpc>
                <a:spcPct val="120000"/>
              </a:lnSpc>
              <a:spcBef>
                <a:spcPts val="0"/>
              </a:spcBef>
              <a:spcAft>
                <a:spcPts val="600"/>
              </a:spcAft>
            </a:pPr>
            <a:r>
              <a:rPr sz="1700" b="1" i="0">
                <a:solidFill>
                  <a:srgbClr val="FFFFFF"/>
                </a:solidFill>
                <a:latin typeface="Cambria"/>
              </a:rPr>
              <a:t>G1 — the escalation–judgment loop is open.</a:t>
            </a:r>
          </a:p>
          <a:p>
            <a:pPr algn="l">
              <a:lnSpc>
                <a:spcPct val="122000"/>
              </a:lnSpc>
              <a:spcBef>
                <a:spcPts val="0"/>
              </a:spcBef>
              <a:spcAft>
                <a:spcPts val="0"/>
              </a:spcAft>
            </a:pPr>
            <a:r>
              <a:rPr sz="1250" b="0" i="0">
                <a:solidFill>
                  <a:srgbClr val="CDE2FB"/>
                </a:solidFill>
                <a:latin typeface="Calibri"/>
              </a:rPr>
              <a:t>The decision to ask a human, and the governance of what that human said, are developed as two separate literatures. This research closes the loop: an escalation trigger conditioned on a persistent, provenance-carrying, scope-bounded record of prior rulings — which writes back into it, so that what an expert once ruled changes which case is escalated next.</a:t>
            </a:r>
          </a:p>
        </p:txBody>
      </p:sp>
      <p:sp>
        <p:nvSpPr>
          <p:cNvPr id="6" name="Rounded Rectangle 5"/>
          <p:cNvSpPr/>
          <p:nvPr/>
        </p:nvSpPr>
        <p:spPr>
          <a:xfrm>
            <a:off x="566928" y="3077210"/>
            <a:ext cx="3529584" cy="1645920"/>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04672" y="3296666"/>
            <a:ext cx="3054096" cy="1243584"/>
          </a:xfrm>
          <a:prstGeom prst="rect">
            <a:avLst/>
          </a:prstGeom>
          <a:noFill/>
        </p:spPr>
        <p:txBody>
          <a:bodyPr wrap="square" anchor="t" lIns="0" rIns="0" tIns="0" bIns="0">
            <a:spAutoFit/>
          </a:bodyPr>
          <a:lstStyle/>
          <a:p>
            <a:pPr algn="l">
              <a:spcBef>
                <a:spcPts val="0"/>
              </a:spcBef>
              <a:spcAft>
                <a:spcPts val="600"/>
              </a:spcAft>
            </a:pPr>
            <a:r>
              <a:rPr sz="1100" b="1" i="0">
                <a:solidFill>
                  <a:srgbClr val="5A6472"/>
                </a:solidFill>
                <a:latin typeface="Calibri"/>
              </a:rPr>
              <a:t>ENVIRONMENT</a:t>
            </a:r>
          </a:p>
          <a:p>
            <a:pPr algn="l">
              <a:lnSpc>
                <a:spcPct val="124000"/>
              </a:lnSpc>
              <a:spcBef>
                <a:spcPts val="0"/>
              </a:spcBef>
              <a:spcAft>
                <a:spcPts val="0"/>
              </a:spcAft>
            </a:pPr>
            <a:r>
              <a:rPr sz="1250" b="0" i="0">
                <a:solidFill>
                  <a:srgbClr val="5A6472"/>
                </a:solidFill>
                <a:latin typeface="Calibri"/>
              </a:rPr>
              <a:t>Expert review is scarce; the meaning of a deviation is contextual; and reference guidelines drift without human review.</a:t>
            </a:r>
          </a:p>
        </p:txBody>
      </p:sp>
      <p:sp>
        <p:nvSpPr>
          <p:cNvPr id="8" name="Rounded Rectangle 7"/>
          <p:cNvSpPr/>
          <p:nvPr/>
        </p:nvSpPr>
        <p:spPr>
          <a:xfrm>
            <a:off x="4315968" y="3077210"/>
            <a:ext cx="3529584" cy="1645920"/>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553712" y="3296666"/>
            <a:ext cx="3054096" cy="1243584"/>
          </a:xfrm>
          <a:prstGeom prst="rect">
            <a:avLst/>
          </a:prstGeom>
          <a:noFill/>
        </p:spPr>
        <p:txBody>
          <a:bodyPr wrap="square" anchor="t" lIns="0" rIns="0" tIns="0" bIns="0">
            <a:spAutoFit/>
          </a:bodyPr>
          <a:lstStyle/>
          <a:p>
            <a:pPr algn="l">
              <a:spcBef>
                <a:spcPts val="0"/>
              </a:spcBef>
              <a:spcAft>
                <a:spcPts val="600"/>
              </a:spcAft>
            </a:pPr>
            <a:r>
              <a:rPr sz="1100" b="1" i="0">
                <a:solidFill>
                  <a:srgbClr val="2A78D6"/>
                </a:solidFill>
                <a:latin typeface="Calibri"/>
              </a:rPr>
              <a:t>ARTIFACT</a:t>
            </a:r>
          </a:p>
          <a:p>
            <a:pPr algn="l">
              <a:lnSpc>
                <a:spcPct val="124000"/>
              </a:lnSpc>
              <a:spcBef>
                <a:spcPts val="0"/>
              </a:spcBef>
              <a:spcAft>
                <a:spcPts val="0"/>
              </a:spcAft>
            </a:pPr>
            <a:r>
              <a:rPr sz="1250" b="0" i="0">
                <a:solidFill>
                  <a:srgbClr val="5A6472"/>
                </a:solidFill>
                <a:latin typeface="Calibri"/>
              </a:rPr>
              <a:t>A selective-intervention policy plus a governed, provenance-preserving judgment lifecycle around agentic assessment.</a:t>
            </a:r>
          </a:p>
        </p:txBody>
      </p:sp>
      <p:sp>
        <p:nvSpPr>
          <p:cNvPr id="10" name="Rounded Rectangle 9"/>
          <p:cNvSpPr/>
          <p:nvPr/>
        </p:nvSpPr>
        <p:spPr>
          <a:xfrm>
            <a:off x="8065008" y="3077210"/>
            <a:ext cx="3529584" cy="1645920"/>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302752" y="3296666"/>
            <a:ext cx="3054096" cy="1243584"/>
          </a:xfrm>
          <a:prstGeom prst="rect">
            <a:avLst/>
          </a:prstGeom>
          <a:noFill/>
        </p:spPr>
        <p:txBody>
          <a:bodyPr wrap="square" anchor="t" lIns="0" rIns="0" tIns="0" bIns="0">
            <a:spAutoFit/>
          </a:bodyPr>
          <a:lstStyle/>
          <a:p>
            <a:pPr algn="l">
              <a:spcBef>
                <a:spcPts val="0"/>
              </a:spcBef>
              <a:spcAft>
                <a:spcPts val="600"/>
              </a:spcAft>
            </a:pPr>
            <a:r>
              <a:rPr sz="1100" b="1" i="0">
                <a:solidFill>
                  <a:srgbClr val="EB6834"/>
                </a:solidFill>
                <a:latin typeface="Calibri"/>
              </a:rPr>
              <a:t>EVALUATION</a:t>
            </a:r>
          </a:p>
          <a:p>
            <a:pPr algn="l">
              <a:lnSpc>
                <a:spcPct val="124000"/>
              </a:lnSpc>
              <a:spcBef>
                <a:spcPts val="0"/>
              </a:spcBef>
              <a:spcAft>
                <a:spcPts val="0"/>
              </a:spcAft>
            </a:pPr>
            <a:r>
              <a:rPr sz="1250" b="0" i="0">
                <a:solidFill>
                  <a:srgbClr val="5A6472"/>
                </a:solidFill>
                <a:latin typeface="Calibri"/>
              </a:rPr>
              <a:t>Assessment quality, consistency, traceability, expert effort — then what transfers to a second guideline context.</a:t>
            </a:r>
          </a:p>
        </p:txBody>
      </p:sp>
      <p:sp>
        <p:nvSpPr>
          <p:cNvPr id="12" name="Rounded Rectangle 11"/>
          <p:cNvSpPr/>
          <p:nvPr/>
        </p:nvSpPr>
        <p:spPr>
          <a:xfrm>
            <a:off x="566928" y="4942586"/>
            <a:ext cx="11057839" cy="932688"/>
          </a:xfrm>
          <a:prstGeom prst="roundRect">
            <a:avLst>
              <a:gd name="adj" fmla="val 4000"/>
            </a:avLst>
          </a:prstGeom>
          <a:solidFill>
            <a:srgbClr val="FDF0F0"/>
          </a:solidFill>
          <a:ln w="12700">
            <a:solidFill>
              <a:srgbClr val="F0C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107178"/>
            <a:ext cx="10436047" cy="658368"/>
          </a:xfrm>
          <a:prstGeom prst="rect">
            <a:avLst/>
          </a:prstGeom>
          <a:noFill/>
        </p:spPr>
        <p:txBody>
          <a:bodyPr wrap="square" anchor="t" lIns="0" rIns="0" tIns="0" bIns="0">
            <a:spAutoFit/>
          </a:bodyPr>
          <a:lstStyle/>
          <a:p>
            <a:pPr algn="l">
              <a:spcBef>
                <a:spcPts val="0"/>
              </a:spcBef>
              <a:spcAft>
                <a:spcPts val="400"/>
              </a:spcAft>
            </a:pPr>
            <a:r>
              <a:rPr sz="1300" b="1" i="0">
                <a:solidFill>
                  <a:srgbClr val="D03B3B"/>
                </a:solidFill>
                <a:latin typeface="Calibri"/>
              </a:rPr>
              <a:t>What I cannot claim yet</a:t>
            </a:r>
          </a:p>
          <a:p>
            <a:pPr algn="l">
              <a:lnSpc>
                <a:spcPct val="120000"/>
              </a:lnSpc>
              <a:spcBef>
                <a:spcPts val="0"/>
              </a:spcBef>
              <a:spcAft>
                <a:spcPts val="0"/>
              </a:spcAft>
            </a:pPr>
            <a:r>
              <a:rPr sz="1250" b="0" i="0">
                <a:solidFill>
                  <a:srgbClr val="5A6472"/>
                </a:solidFill>
                <a:latin typeface="Calibri"/>
              </a:rPr>
              <a:t>No accuracy improvement, no reduction in expert effort, no safe generalization and no clinical performance. Those require independent expert labels (currently 0 of 24) and the executed searches — both are next, not done.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2740"/>
        </a:solidFill>
        <a:effectLst/>
      </p:bgPr>
    </p:bg>
    <p:spTree>
      <p:nvGrpSpPr>
        <p:cNvPr id="1" name=""/>
        <p:cNvGrpSpPr/>
        <p:nvPr/>
      </p:nvGrpSpPr>
      <p:grpSpPr/>
      <p:sp>
        <p:nvSpPr>
          <p:cNvPr id="2" name="TextBox 1"/>
          <p:cNvSpPr txBox="1"/>
          <p:nvPr/>
        </p:nvSpPr>
        <p:spPr>
          <a:xfrm>
            <a:off x="566928" y="1188720"/>
            <a:ext cx="10515600" cy="1097280"/>
          </a:xfrm>
          <a:prstGeom prst="rect">
            <a:avLst/>
          </a:prstGeom>
          <a:noFill/>
        </p:spPr>
        <p:txBody>
          <a:bodyPr wrap="square" anchor="t" lIns="0" rIns="0" tIns="0" bIns="0">
            <a:spAutoFit/>
          </a:bodyPr>
          <a:lstStyle/>
          <a:p>
            <a:pPr algn="l">
              <a:spcBef>
                <a:spcPts val="0"/>
              </a:spcBef>
              <a:spcAft>
                <a:spcPts val="0"/>
              </a:spcAft>
            </a:pPr>
            <a:r>
              <a:rPr sz="3200" b="1" i="0">
                <a:solidFill>
                  <a:srgbClr val="FFFFFF"/>
                </a:solidFill>
                <a:latin typeface="Cambria"/>
              </a:rPr>
              <a:t>Where this goes next</a:t>
            </a:r>
          </a:p>
        </p:txBody>
      </p:sp>
      <p:sp>
        <p:nvSpPr>
          <p:cNvPr id="3" name="Oval 2"/>
          <p:cNvSpPr/>
          <p:nvPr/>
        </p:nvSpPr>
        <p:spPr>
          <a:xfrm>
            <a:off x="566928" y="2395728"/>
            <a:ext cx="475488" cy="47548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4" name="TextBox 3"/>
          <p:cNvSpPr txBox="1"/>
          <p:nvPr/>
        </p:nvSpPr>
        <p:spPr>
          <a:xfrm>
            <a:off x="1353312" y="2377440"/>
            <a:ext cx="10058400" cy="914400"/>
          </a:xfrm>
          <a:prstGeom prst="rect">
            <a:avLst/>
          </a:prstGeom>
          <a:noFill/>
        </p:spPr>
        <p:txBody>
          <a:bodyPr wrap="square" anchor="t" lIns="0" rIns="0" tIns="0" bIns="0">
            <a:spAutoFit/>
          </a:bodyPr>
          <a:lstStyle/>
          <a:p>
            <a:pPr algn="l">
              <a:spcBef>
                <a:spcPts val="0"/>
              </a:spcBef>
              <a:spcAft>
                <a:spcPts val="400"/>
              </a:spcAft>
            </a:pPr>
            <a:r>
              <a:rPr sz="1700" b="1" i="0">
                <a:solidFill>
                  <a:srgbClr val="FFFFFF"/>
                </a:solidFill>
                <a:latin typeface="Cambria"/>
              </a:rPr>
              <a:t>Execute the frozen searches</a:t>
            </a:r>
          </a:p>
          <a:p>
            <a:pPr algn="l">
              <a:lnSpc>
                <a:spcPct val="120000"/>
              </a:lnSpc>
              <a:spcBef>
                <a:spcPts val="0"/>
              </a:spcBef>
              <a:spcAft>
                <a:spcPts val="0"/>
              </a:spcAft>
            </a:pPr>
            <a:r>
              <a:rPr sz="1300" b="0" i="0">
                <a:solidFill>
                  <a:srgbClr val="BFCEDE"/>
                </a:solidFill>
                <a:latin typeface="Calibri"/>
              </a:rPr>
              <a:t>Run the protocol queries per subsection, screen, and let the evidence confirm or correct these gaps.</a:t>
            </a:r>
          </a:p>
        </p:txBody>
      </p:sp>
      <p:sp>
        <p:nvSpPr>
          <p:cNvPr id="5" name="Oval 4"/>
          <p:cNvSpPr/>
          <p:nvPr/>
        </p:nvSpPr>
        <p:spPr>
          <a:xfrm>
            <a:off x="566928" y="3547872"/>
            <a:ext cx="475488" cy="47548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6" name="TextBox 5"/>
          <p:cNvSpPr txBox="1"/>
          <p:nvPr/>
        </p:nvSpPr>
        <p:spPr>
          <a:xfrm>
            <a:off x="1353312" y="3529584"/>
            <a:ext cx="10058400" cy="914400"/>
          </a:xfrm>
          <a:prstGeom prst="rect">
            <a:avLst/>
          </a:prstGeom>
          <a:noFill/>
        </p:spPr>
        <p:txBody>
          <a:bodyPr wrap="square" anchor="t" lIns="0" rIns="0" tIns="0" bIns="0">
            <a:spAutoFit/>
          </a:bodyPr>
          <a:lstStyle/>
          <a:p>
            <a:pPr algn="l">
              <a:spcBef>
                <a:spcPts val="0"/>
              </a:spcBef>
              <a:spcAft>
                <a:spcPts val="400"/>
              </a:spcAft>
            </a:pPr>
            <a:r>
              <a:rPr sz="1700" b="1" i="0">
                <a:solidFill>
                  <a:srgbClr val="FFFFFF"/>
                </a:solidFill>
                <a:latin typeface="Cambria"/>
              </a:rPr>
              <a:t>Populate the extraction matrix</a:t>
            </a:r>
          </a:p>
          <a:p>
            <a:pPr algn="l">
              <a:lnSpc>
                <a:spcPct val="120000"/>
              </a:lnSpc>
              <a:spcBef>
                <a:spcPts val="0"/>
              </a:spcBef>
              <a:spcAft>
                <a:spcPts val="0"/>
              </a:spcAft>
            </a:pPr>
            <a:r>
              <a:rPr sz="1300" b="0" i="0">
                <a:solidFill>
                  <a:srgbClr val="BFCEDE"/>
                </a:solidFill>
                <a:latin typeface="Calibri"/>
              </a:rPr>
              <a:t>One row per included work, so the framework is filled by evidence rather than by expectation.</a:t>
            </a:r>
          </a:p>
        </p:txBody>
      </p:sp>
      <p:sp>
        <p:nvSpPr>
          <p:cNvPr id="7" name="Oval 6"/>
          <p:cNvSpPr/>
          <p:nvPr/>
        </p:nvSpPr>
        <p:spPr>
          <a:xfrm>
            <a:off x="566928" y="4700016"/>
            <a:ext cx="475488" cy="47548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8" name="TextBox 7"/>
          <p:cNvSpPr txBox="1"/>
          <p:nvPr/>
        </p:nvSpPr>
        <p:spPr>
          <a:xfrm>
            <a:off x="1353312" y="4681728"/>
            <a:ext cx="10058400" cy="914400"/>
          </a:xfrm>
          <a:prstGeom prst="rect">
            <a:avLst/>
          </a:prstGeom>
          <a:noFill/>
        </p:spPr>
        <p:txBody>
          <a:bodyPr wrap="square" anchor="t" lIns="0" rIns="0" tIns="0" bIns="0">
            <a:spAutoFit/>
          </a:bodyPr>
          <a:lstStyle/>
          <a:p>
            <a:pPr algn="l">
              <a:spcBef>
                <a:spcPts val="0"/>
              </a:spcBef>
              <a:spcAft>
                <a:spcPts val="400"/>
              </a:spcAft>
            </a:pPr>
            <a:r>
              <a:rPr sz="1700" b="1" i="0">
                <a:solidFill>
                  <a:srgbClr val="FFFFFF"/>
                </a:solidFill>
                <a:latin typeface="Cambria"/>
              </a:rPr>
              <a:t>Turn each question into a study</a:t>
            </a:r>
          </a:p>
          <a:p>
            <a:pPr algn="l">
              <a:lnSpc>
                <a:spcPct val="120000"/>
              </a:lnSpc>
              <a:spcBef>
                <a:spcPts val="0"/>
              </a:spcBef>
              <a:spcAft>
                <a:spcPts val="0"/>
              </a:spcAft>
            </a:pPr>
            <a:r>
              <a:rPr sz="1300" b="0" i="0">
                <a:solidFill>
                  <a:srgbClr val="BFCEDE"/>
                </a:solidFill>
                <a:latin typeface="Calibri"/>
              </a:rPr>
              <a:t>Artifact and method per sub-question — the design-science structure this course sets out.</a:t>
            </a:r>
          </a:p>
        </p:txBody>
      </p:sp>
      <p:sp>
        <p:nvSpPr>
          <p:cNvPr id="9" name="TextBox 8"/>
          <p:cNvSpPr txBox="1"/>
          <p:nvPr/>
        </p:nvSpPr>
        <p:spPr>
          <a:xfrm>
            <a:off x="566928" y="5961888"/>
            <a:ext cx="10515600" cy="457200"/>
          </a:xfrm>
          <a:prstGeom prst="rect">
            <a:avLst/>
          </a:prstGeom>
          <a:noFill/>
        </p:spPr>
        <p:txBody>
          <a:bodyPr wrap="square" anchor="t" lIns="0" rIns="0" tIns="0" bIns="0">
            <a:spAutoFit/>
          </a:bodyPr>
          <a:lstStyle/>
          <a:p>
            <a:pPr algn="l">
              <a:spcBef>
                <a:spcPts val="0"/>
              </a:spcBef>
              <a:spcAft>
                <a:spcPts val="0"/>
              </a:spcAft>
            </a:pPr>
            <a:r>
              <a:rPr sz="1500" b="1" i="0">
                <a:solidFill>
                  <a:srgbClr val="CDE2FB"/>
                </a:solidFill>
                <a:latin typeface="Calibri"/>
              </a:rPr>
              <a:t>Thank you — questions welcome.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BACKUP · HEVNER'S THREE CYCLES</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This work as design science</a:t>
            </a:r>
          </a:p>
        </p:txBody>
      </p:sp>
      <p:sp>
        <p:nvSpPr>
          <p:cNvPr id="4" name="TextBox 3"/>
          <p:cNvSpPr txBox="1"/>
          <p:nvPr/>
        </p:nvSpPr>
        <p:spPr>
          <a:xfrm>
            <a:off x="566928" y="1339850"/>
            <a:ext cx="11057839" cy="533654"/>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Design science requires bidirectional grounding in a real environment and a knowledge base, connected by an iterating design cycle (CL1–CL2).</a:t>
            </a:r>
          </a:p>
        </p:txBody>
      </p:sp>
      <p:sp>
        <p:nvSpPr>
          <p:cNvPr id="5" name="Rounded Rectangle 4"/>
          <p:cNvSpPr/>
          <p:nvPr/>
        </p:nvSpPr>
        <p:spPr>
          <a:xfrm>
            <a:off x="566928" y="2019808"/>
            <a:ext cx="3401568" cy="4198112"/>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04672" y="2220976"/>
            <a:ext cx="2926080" cy="3832352"/>
          </a:xfrm>
          <a:prstGeom prst="rect">
            <a:avLst/>
          </a:prstGeom>
          <a:noFill/>
        </p:spPr>
        <p:txBody>
          <a:bodyPr wrap="square" anchor="t" lIns="0" rIns="0" tIns="0" bIns="0">
            <a:spAutoFit/>
          </a:bodyPr>
          <a:lstStyle/>
          <a:p>
            <a:pPr algn="l">
              <a:spcBef>
                <a:spcPts val="0"/>
              </a:spcBef>
              <a:spcAft>
                <a:spcPts val="1000"/>
              </a:spcAft>
            </a:pPr>
            <a:r>
              <a:rPr sz="1050" b="1" i="0">
                <a:solidFill>
                  <a:srgbClr val="2A78D6"/>
                </a:solidFill>
                <a:latin typeface="Calibri"/>
              </a:rPr>
              <a:t>RELEVANCE CYCLE</a:t>
            </a:r>
          </a:p>
          <a:p>
            <a:pPr algn="l">
              <a:lnSpc>
                <a:spcPct val="115000"/>
              </a:lnSpc>
              <a:spcBef>
                <a:spcPts val="0"/>
              </a:spcBef>
              <a:spcAft>
                <a:spcPts val="800"/>
              </a:spcAft>
            </a:pPr>
            <a:r>
              <a:rPr sz="1500" b="1" i="0">
                <a:solidFill>
                  <a:srgbClr val="0F2740"/>
                </a:solidFill>
                <a:latin typeface="Cambria"/>
              </a:rPr>
              <a:t>Environment</a:t>
            </a:r>
          </a:p>
          <a:p>
            <a:pPr algn="l">
              <a:lnSpc>
                <a:spcPct val="128000"/>
              </a:lnSpc>
              <a:spcBef>
                <a:spcPts val="0"/>
              </a:spcBef>
              <a:spcAft>
                <a:spcPts val="0"/>
              </a:spcAft>
            </a:pPr>
            <a:r>
              <a:rPr sz="1200" b="0" i="0">
                <a:solidFill>
                  <a:srgbClr val="5A6472"/>
                </a:solidFill>
                <a:latin typeface="Calibri"/>
              </a:rPr>
              <a:t>Expert review is scarce and scarce attention must be spent well; deviation meaning is contextual; reference guidelines drift unseen (EXP-006/008).</a:t>
            </a:r>
          </a:p>
        </p:txBody>
      </p:sp>
      <p:sp>
        <p:nvSpPr>
          <p:cNvPr id="7" name="Rounded Rectangle 6"/>
          <p:cNvSpPr/>
          <p:nvPr/>
        </p:nvSpPr>
        <p:spPr>
          <a:xfrm>
            <a:off x="4187952" y="2019808"/>
            <a:ext cx="3401568" cy="4198112"/>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425696" y="2220976"/>
            <a:ext cx="2926080" cy="3832352"/>
          </a:xfrm>
          <a:prstGeom prst="rect">
            <a:avLst/>
          </a:prstGeom>
          <a:noFill/>
        </p:spPr>
        <p:txBody>
          <a:bodyPr wrap="square" anchor="t" lIns="0" rIns="0" tIns="0" bIns="0">
            <a:spAutoFit/>
          </a:bodyPr>
          <a:lstStyle/>
          <a:p>
            <a:pPr algn="l">
              <a:spcBef>
                <a:spcPts val="0"/>
              </a:spcBef>
              <a:spcAft>
                <a:spcPts val="1000"/>
              </a:spcAft>
            </a:pPr>
            <a:r>
              <a:rPr sz="1050" b="1" i="0">
                <a:solidFill>
                  <a:srgbClr val="EB6834"/>
                </a:solidFill>
                <a:latin typeface="Calibri"/>
              </a:rPr>
              <a:t>DESIGN CYCLE</a:t>
            </a:r>
          </a:p>
          <a:p>
            <a:pPr algn="l">
              <a:lnSpc>
                <a:spcPct val="115000"/>
              </a:lnSpc>
              <a:spcBef>
                <a:spcPts val="0"/>
              </a:spcBef>
              <a:spcAft>
                <a:spcPts val="800"/>
              </a:spcAft>
            </a:pPr>
            <a:r>
              <a:rPr sz="1500" b="1" i="0">
                <a:solidFill>
                  <a:srgbClr val="0F2740"/>
                </a:solidFill>
                <a:latin typeface="Cambria"/>
              </a:rPr>
              <a:t>Build → evaluate → iterate</a:t>
            </a:r>
          </a:p>
          <a:p>
            <a:pPr algn="l">
              <a:lnSpc>
                <a:spcPct val="128000"/>
              </a:lnSpc>
              <a:spcBef>
                <a:spcPts val="0"/>
              </a:spcBef>
              <a:spcAft>
                <a:spcPts val="0"/>
              </a:spcAft>
            </a:pPr>
            <a:r>
              <a:rPr sz="1200" b="0" i="0">
                <a:solidFill>
                  <a:srgbClr val="5A6472"/>
                </a:solidFill>
                <a:latin typeface="Calibri"/>
              </a:rPr>
              <a:t>An escalation trigger conditioned on a persistent, scope-bounded judgment record (G1) — built and evaluated per sub-question, per the study contract.</a:t>
            </a:r>
          </a:p>
        </p:txBody>
      </p:sp>
      <p:sp>
        <p:nvSpPr>
          <p:cNvPr id="9" name="Rounded Rectangle 8"/>
          <p:cNvSpPr/>
          <p:nvPr/>
        </p:nvSpPr>
        <p:spPr>
          <a:xfrm>
            <a:off x="7808976" y="2019808"/>
            <a:ext cx="3401568" cy="4198112"/>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0" y="2220976"/>
            <a:ext cx="2926080" cy="3832352"/>
          </a:xfrm>
          <a:prstGeom prst="rect">
            <a:avLst/>
          </a:prstGeom>
          <a:noFill/>
        </p:spPr>
        <p:txBody>
          <a:bodyPr wrap="square" anchor="t" lIns="0" rIns="0" tIns="0" bIns="0">
            <a:spAutoFit/>
          </a:bodyPr>
          <a:lstStyle/>
          <a:p>
            <a:pPr algn="l">
              <a:spcBef>
                <a:spcPts val="0"/>
              </a:spcBef>
              <a:spcAft>
                <a:spcPts val="1000"/>
              </a:spcAft>
            </a:pPr>
            <a:r>
              <a:rPr sz="1050" b="1" i="0">
                <a:solidFill>
                  <a:srgbClr val="0CA30C"/>
                </a:solidFill>
                <a:latin typeface="Calibri"/>
              </a:rPr>
              <a:t>RIGOR CYCLE</a:t>
            </a:r>
          </a:p>
          <a:p>
            <a:pPr algn="l">
              <a:lnSpc>
                <a:spcPct val="115000"/>
              </a:lnSpc>
              <a:spcBef>
                <a:spcPts val="0"/>
              </a:spcBef>
              <a:spcAft>
                <a:spcPts val="800"/>
              </a:spcAft>
            </a:pPr>
            <a:r>
              <a:rPr sz="1500" b="1" i="0">
                <a:solidFill>
                  <a:srgbClr val="0F2740"/>
                </a:solidFill>
                <a:latin typeface="Cambria"/>
              </a:rPr>
              <a:t>Knowledge base</a:t>
            </a:r>
          </a:p>
          <a:p>
            <a:pPr algn="l">
              <a:lnSpc>
                <a:spcPct val="128000"/>
              </a:lnSpc>
              <a:spcBef>
                <a:spcPts val="0"/>
              </a:spcBef>
              <a:spcAft>
                <a:spcPts val="0"/>
              </a:spcAft>
            </a:pPr>
            <a:r>
              <a:rPr sz="1200" b="0" i="0">
                <a:solidFill>
                  <a:srgbClr val="5A6472"/>
                </a:solidFill>
                <a:latin typeface="Calibri"/>
              </a:rPr>
              <a:t>144 verified sources organised into six streams and the Judgment Lifecycle Grid — itself a candidate addition back to the knowledge base.</a:t>
            </a:r>
          </a:p>
        </p:txBody>
      </p:sp>
      <p:sp>
        <p:nvSpPr>
          <p:cNvPr id="11" name="TextBox 10"/>
          <p:cNvSpPr txBox="1"/>
          <p:nvPr/>
        </p:nvSpPr>
        <p:spPr>
          <a:xfrm>
            <a:off x="566928" y="6291072"/>
            <a:ext cx="11057839" cy="384048"/>
          </a:xfrm>
          <a:prstGeom prst="rect">
            <a:avLst/>
          </a:prstGeom>
          <a:noFill/>
        </p:spPr>
        <p:txBody>
          <a:bodyPr wrap="square" anchor="t" lIns="0" rIns="0" tIns="0" bIns="0">
            <a:spAutoFit/>
          </a:bodyPr>
          <a:lstStyle/>
          <a:p>
            <a:pPr algn="l">
              <a:lnSpc>
                <a:spcPct val="115000"/>
              </a:lnSpc>
              <a:spcBef>
                <a:spcPts val="0"/>
              </a:spcBef>
              <a:spcAft>
                <a:spcPts val="0"/>
              </a:spcAft>
            </a:pPr>
            <a:r>
              <a:rPr sz="1050" b="0" i="0">
                <a:solidFill>
                  <a:srgbClr val="5A6472"/>
                </a:solidFill>
                <a:latin typeface="Calibri"/>
              </a:rPr>
              <a:t>Hevner &amp; March (2003); Hevner et al. (2004), as presented in CL1–CL2.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BACKUP · HEVNER ET AL. (2004), CL2</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Design-science guidelines checklist</a:t>
            </a:r>
          </a:p>
        </p:txBody>
      </p:sp>
      <p:sp>
        <p:nvSpPr>
          <p:cNvPr id="4" name="TextBox 3"/>
          <p:cNvSpPr txBox="1"/>
          <p:nvPr/>
        </p:nvSpPr>
        <p:spPr>
          <a:xfrm>
            <a:off x="566928" y="1339850"/>
            <a:ext cx="11057839" cy="294259"/>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How the seven guidelines map onto this research, stated plainly rather than assumed.</a:t>
            </a:r>
          </a:p>
        </p:txBody>
      </p:sp>
      <p:sp>
        <p:nvSpPr>
          <p:cNvPr id="5" name="Oval 4"/>
          <p:cNvSpPr/>
          <p:nvPr/>
        </p:nvSpPr>
        <p:spPr>
          <a:xfrm>
            <a:off x="566928" y="1816989"/>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1</a:t>
            </a:r>
          </a:p>
        </p:txBody>
      </p:sp>
      <p:sp>
        <p:nvSpPr>
          <p:cNvPr id="6" name="TextBox 5"/>
          <p:cNvSpPr txBox="1"/>
          <p:nvPr/>
        </p:nvSpPr>
        <p:spPr>
          <a:xfrm>
            <a:off x="1042416" y="1780413"/>
            <a:ext cx="2743200" cy="613029"/>
          </a:xfrm>
          <a:prstGeom prst="rect">
            <a:avLst/>
          </a:prstGeom>
          <a:noFill/>
        </p:spPr>
        <p:txBody>
          <a:bodyPr wrap="square" anchor="ctr" lIns="0" rIns="0" tIns="0" bIns="0">
            <a:spAutoFit/>
          </a:bodyPr>
          <a:lstStyle/>
          <a:p>
            <a:pPr algn="l">
              <a:lnSpc>
                <a:spcPct val="110000"/>
              </a:lnSpc>
              <a:spcBef>
                <a:spcPts val="0"/>
              </a:spcBef>
              <a:spcAft>
                <a:spcPts val="0"/>
              </a:spcAft>
            </a:pPr>
            <a:r>
              <a:rPr sz="1250" b="1" i="0">
                <a:solidFill>
                  <a:srgbClr val="0F2740"/>
                </a:solidFill>
                <a:latin typeface="Cambria"/>
              </a:rPr>
              <a:t>Design as an artifact</a:t>
            </a:r>
          </a:p>
        </p:txBody>
      </p:sp>
      <p:sp>
        <p:nvSpPr>
          <p:cNvPr id="7" name="TextBox 6"/>
          <p:cNvSpPr txBox="1"/>
          <p:nvPr/>
        </p:nvSpPr>
        <p:spPr>
          <a:xfrm>
            <a:off x="3950208" y="1780413"/>
            <a:ext cx="7674559" cy="613029"/>
          </a:xfrm>
          <a:prstGeom prst="rect">
            <a:avLst/>
          </a:prstGeom>
          <a:noFill/>
        </p:spPr>
        <p:txBody>
          <a:bodyPr wrap="square" anchor="ctr" lIns="0" rIns="0" tIns="0" bIns="0">
            <a:spAutoFit/>
          </a:bodyPr>
          <a:lstStyle/>
          <a:p>
            <a:pPr algn="l">
              <a:lnSpc>
                <a:spcPct val="120000"/>
              </a:lnSpc>
              <a:spcBef>
                <a:spcPts val="0"/>
              </a:spcBef>
              <a:spcAft>
                <a:spcPts val="0"/>
              </a:spcAft>
            </a:pPr>
            <a:r>
              <a:rPr sz="1150" b="0" i="0">
                <a:solidFill>
                  <a:srgbClr val="5A6472"/>
                </a:solidFill>
                <a:latin typeface="Calibri"/>
              </a:rPr>
              <a:t>An escalation-trigger policy and a governed judgment lifecycle — a method and a model, in Hevner's terms.</a:t>
            </a:r>
          </a:p>
        </p:txBody>
      </p:sp>
      <p:sp>
        <p:nvSpPr>
          <p:cNvPr id="8" name="Oval 7"/>
          <p:cNvSpPr/>
          <p:nvPr/>
        </p:nvSpPr>
        <p:spPr>
          <a:xfrm>
            <a:off x="566928" y="2430018"/>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2</a:t>
            </a:r>
          </a:p>
        </p:txBody>
      </p:sp>
      <p:sp>
        <p:nvSpPr>
          <p:cNvPr id="9" name="TextBox 8"/>
          <p:cNvSpPr txBox="1"/>
          <p:nvPr/>
        </p:nvSpPr>
        <p:spPr>
          <a:xfrm>
            <a:off x="1042416" y="2393442"/>
            <a:ext cx="2743200" cy="613029"/>
          </a:xfrm>
          <a:prstGeom prst="rect">
            <a:avLst/>
          </a:prstGeom>
          <a:noFill/>
        </p:spPr>
        <p:txBody>
          <a:bodyPr wrap="square" anchor="ctr" lIns="0" rIns="0" tIns="0" bIns="0">
            <a:spAutoFit/>
          </a:bodyPr>
          <a:lstStyle/>
          <a:p>
            <a:pPr algn="l">
              <a:lnSpc>
                <a:spcPct val="110000"/>
              </a:lnSpc>
              <a:spcBef>
                <a:spcPts val="0"/>
              </a:spcBef>
              <a:spcAft>
                <a:spcPts val="0"/>
              </a:spcAft>
            </a:pPr>
            <a:r>
              <a:rPr sz="1250" b="1" i="0">
                <a:solidFill>
                  <a:srgbClr val="0F2740"/>
                </a:solidFill>
                <a:latin typeface="Cambria"/>
              </a:rPr>
              <a:t>Problem relevance</a:t>
            </a:r>
          </a:p>
        </p:txBody>
      </p:sp>
      <p:sp>
        <p:nvSpPr>
          <p:cNvPr id="10" name="TextBox 9"/>
          <p:cNvSpPr txBox="1"/>
          <p:nvPr/>
        </p:nvSpPr>
        <p:spPr>
          <a:xfrm>
            <a:off x="3950208" y="2393442"/>
            <a:ext cx="7674559" cy="613029"/>
          </a:xfrm>
          <a:prstGeom prst="rect">
            <a:avLst/>
          </a:prstGeom>
          <a:noFill/>
        </p:spPr>
        <p:txBody>
          <a:bodyPr wrap="square" anchor="ctr" lIns="0" rIns="0" tIns="0" bIns="0">
            <a:spAutoFit/>
          </a:bodyPr>
          <a:lstStyle/>
          <a:p>
            <a:pPr algn="l">
              <a:lnSpc>
                <a:spcPct val="120000"/>
              </a:lnSpc>
              <a:spcBef>
                <a:spcPts val="0"/>
              </a:spcBef>
              <a:spcAft>
                <a:spcPts val="0"/>
              </a:spcAft>
            </a:pPr>
            <a:r>
              <a:rPr sz="1150" b="0" i="0">
                <a:solidFill>
                  <a:srgbClr val="5A6472"/>
                </a:solidFill>
                <a:latin typeface="Calibri"/>
              </a:rPr>
              <a:t>Motivated by the published framework's own reported need for human judgment (ρ = 0.22) and by measured mechanism gaps in this project (EXP-006–008).</a:t>
            </a:r>
          </a:p>
        </p:txBody>
      </p:sp>
      <p:sp>
        <p:nvSpPr>
          <p:cNvPr id="11" name="Oval 10"/>
          <p:cNvSpPr/>
          <p:nvPr/>
        </p:nvSpPr>
        <p:spPr>
          <a:xfrm>
            <a:off x="566928" y="3043047"/>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3</a:t>
            </a:r>
          </a:p>
        </p:txBody>
      </p:sp>
      <p:sp>
        <p:nvSpPr>
          <p:cNvPr id="12" name="TextBox 11"/>
          <p:cNvSpPr txBox="1"/>
          <p:nvPr/>
        </p:nvSpPr>
        <p:spPr>
          <a:xfrm>
            <a:off x="1042416" y="3006471"/>
            <a:ext cx="2743200" cy="613029"/>
          </a:xfrm>
          <a:prstGeom prst="rect">
            <a:avLst/>
          </a:prstGeom>
          <a:noFill/>
        </p:spPr>
        <p:txBody>
          <a:bodyPr wrap="square" anchor="ctr" lIns="0" rIns="0" tIns="0" bIns="0">
            <a:spAutoFit/>
          </a:bodyPr>
          <a:lstStyle/>
          <a:p>
            <a:pPr algn="l">
              <a:lnSpc>
                <a:spcPct val="110000"/>
              </a:lnSpc>
              <a:spcBef>
                <a:spcPts val="0"/>
              </a:spcBef>
              <a:spcAft>
                <a:spcPts val="0"/>
              </a:spcAft>
            </a:pPr>
            <a:r>
              <a:rPr sz="1250" b="1" i="0">
                <a:solidFill>
                  <a:srgbClr val="0F2740"/>
                </a:solidFill>
                <a:latin typeface="Cambria"/>
              </a:rPr>
              <a:t>Design evaluation</a:t>
            </a:r>
          </a:p>
        </p:txBody>
      </p:sp>
      <p:sp>
        <p:nvSpPr>
          <p:cNvPr id="13" name="TextBox 12"/>
          <p:cNvSpPr txBox="1"/>
          <p:nvPr/>
        </p:nvSpPr>
        <p:spPr>
          <a:xfrm>
            <a:off x="3950208" y="3006471"/>
            <a:ext cx="7674559" cy="613029"/>
          </a:xfrm>
          <a:prstGeom prst="rect">
            <a:avLst/>
          </a:prstGeom>
          <a:noFill/>
        </p:spPr>
        <p:txBody>
          <a:bodyPr wrap="square" anchor="ctr" lIns="0" rIns="0" tIns="0" bIns="0">
            <a:spAutoFit/>
          </a:bodyPr>
          <a:lstStyle/>
          <a:p>
            <a:pPr algn="l">
              <a:lnSpc>
                <a:spcPct val="120000"/>
              </a:lnSpc>
              <a:spcBef>
                <a:spcPts val="0"/>
              </a:spcBef>
              <a:spcAft>
                <a:spcPts val="0"/>
              </a:spcAft>
            </a:pPr>
            <a:r>
              <a:rPr sz="1150" b="0" i="0">
                <a:solidFill>
                  <a:srgbClr val="5A6472"/>
                </a:solidFill>
                <a:latin typeface="Calibri"/>
              </a:rPr>
              <a:t>Per-study measures already specified (SQ1–SQ3); accuracy/effort/generalization claims explicitly excluded until independently evidenced.</a:t>
            </a:r>
          </a:p>
        </p:txBody>
      </p:sp>
      <p:sp>
        <p:nvSpPr>
          <p:cNvPr id="14" name="Oval 13"/>
          <p:cNvSpPr/>
          <p:nvPr/>
        </p:nvSpPr>
        <p:spPr>
          <a:xfrm>
            <a:off x="566928" y="3656076"/>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4</a:t>
            </a:r>
          </a:p>
        </p:txBody>
      </p:sp>
      <p:sp>
        <p:nvSpPr>
          <p:cNvPr id="15" name="TextBox 14"/>
          <p:cNvSpPr txBox="1"/>
          <p:nvPr/>
        </p:nvSpPr>
        <p:spPr>
          <a:xfrm>
            <a:off x="1042416" y="3619500"/>
            <a:ext cx="2743200" cy="613029"/>
          </a:xfrm>
          <a:prstGeom prst="rect">
            <a:avLst/>
          </a:prstGeom>
          <a:noFill/>
        </p:spPr>
        <p:txBody>
          <a:bodyPr wrap="square" anchor="ctr" lIns="0" rIns="0" tIns="0" bIns="0">
            <a:spAutoFit/>
          </a:bodyPr>
          <a:lstStyle/>
          <a:p>
            <a:pPr algn="l">
              <a:lnSpc>
                <a:spcPct val="110000"/>
              </a:lnSpc>
              <a:spcBef>
                <a:spcPts val="0"/>
              </a:spcBef>
              <a:spcAft>
                <a:spcPts val="0"/>
              </a:spcAft>
            </a:pPr>
            <a:r>
              <a:rPr sz="1250" b="1" i="0">
                <a:solidFill>
                  <a:srgbClr val="0F2740"/>
                </a:solidFill>
                <a:latin typeface="Cambria"/>
              </a:rPr>
              <a:t>Research contributions</a:t>
            </a:r>
          </a:p>
        </p:txBody>
      </p:sp>
      <p:sp>
        <p:nvSpPr>
          <p:cNvPr id="16" name="TextBox 15"/>
          <p:cNvSpPr txBox="1"/>
          <p:nvPr/>
        </p:nvSpPr>
        <p:spPr>
          <a:xfrm>
            <a:off x="3950208" y="3619500"/>
            <a:ext cx="7674559" cy="613029"/>
          </a:xfrm>
          <a:prstGeom prst="rect">
            <a:avLst/>
          </a:prstGeom>
          <a:noFill/>
        </p:spPr>
        <p:txBody>
          <a:bodyPr wrap="square" anchor="ctr" lIns="0" rIns="0" tIns="0" bIns="0">
            <a:spAutoFit/>
          </a:bodyPr>
          <a:lstStyle/>
          <a:p>
            <a:pPr algn="l">
              <a:lnSpc>
                <a:spcPct val="120000"/>
              </a:lnSpc>
              <a:spcBef>
                <a:spcPts val="0"/>
              </a:spcBef>
              <a:spcAft>
                <a:spcPts val="0"/>
              </a:spcAft>
            </a:pPr>
            <a:r>
              <a:rPr sz="1150" b="0" i="0">
                <a:solidFill>
                  <a:srgbClr val="5A6472"/>
                </a:solidFill>
                <a:latin typeface="Calibri"/>
              </a:rPr>
              <a:t>The Judgment Lifecycle Grid is a candidate contribution to the knowledge base, not only an analysis tool for this review.</a:t>
            </a:r>
          </a:p>
        </p:txBody>
      </p:sp>
      <p:sp>
        <p:nvSpPr>
          <p:cNvPr id="17" name="Oval 16"/>
          <p:cNvSpPr/>
          <p:nvPr/>
        </p:nvSpPr>
        <p:spPr>
          <a:xfrm>
            <a:off x="566928" y="4269105"/>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5</a:t>
            </a:r>
          </a:p>
        </p:txBody>
      </p:sp>
      <p:sp>
        <p:nvSpPr>
          <p:cNvPr id="18" name="TextBox 17"/>
          <p:cNvSpPr txBox="1"/>
          <p:nvPr/>
        </p:nvSpPr>
        <p:spPr>
          <a:xfrm>
            <a:off x="1042416" y="4232529"/>
            <a:ext cx="2743200" cy="613029"/>
          </a:xfrm>
          <a:prstGeom prst="rect">
            <a:avLst/>
          </a:prstGeom>
          <a:noFill/>
        </p:spPr>
        <p:txBody>
          <a:bodyPr wrap="square" anchor="ctr" lIns="0" rIns="0" tIns="0" bIns="0">
            <a:spAutoFit/>
          </a:bodyPr>
          <a:lstStyle/>
          <a:p>
            <a:pPr algn="l">
              <a:lnSpc>
                <a:spcPct val="110000"/>
              </a:lnSpc>
              <a:spcBef>
                <a:spcPts val="0"/>
              </a:spcBef>
              <a:spcAft>
                <a:spcPts val="0"/>
              </a:spcAft>
            </a:pPr>
            <a:r>
              <a:rPr sz="1250" b="1" i="0">
                <a:solidFill>
                  <a:srgbClr val="0F2740"/>
                </a:solidFill>
                <a:latin typeface="Cambria"/>
              </a:rPr>
              <a:t>Research rigor</a:t>
            </a:r>
          </a:p>
        </p:txBody>
      </p:sp>
      <p:sp>
        <p:nvSpPr>
          <p:cNvPr id="19" name="TextBox 18"/>
          <p:cNvSpPr txBox="1"/>
          <p:nvPr/>
        </p:nvSpPr>
        <p:spPr>
          <a:xfrm>
            <a:off x="3950208" y="4232529"/>
            <a:ext cx="7674559" cy="613029"/>
          </a:xfrm>
          <a:prstGeom prst="rect">
            <a:avLst/>
          </a:prstGeom>
          <a:noFill/>
        </p:spPr>
        <p:txBody>
          <a:bodyPr wrap="square" anchor="ctr" lIns="0" rIns="0" tIns="0" bIns="0">
            <a:spAutoFit/>
          </a:bodyPr>
          <a:lstStyle/>
          <a:p>
            <a:pPr algn="l">
              <a:lnSpc>
                <a:spcPct val="120000"/>
              </a:lnSpc>
              <a:spcBef>
                <a:spcPts val="0"/>
              </a:spcBef>
              <a:spcAft>
                <a:spcPts val="0"/>
              </a:spcAft>
            </a:pPr>
            <a:r>
              <a:rPr sz="1150" b="0" i="0">
                <a:solidFill>
                  <a:srgbClr val="5A6472"/>
                </a:solidFill>
                <a:latin typeface="Calibri"/>
              </a:rPr>
              <a:t>144 sources, each independently verified against a publisher record, DOI, dblp or arXiv — zero fabricated citations.</a:t>
            </a:r>
          </a:p>
        </p:txBody>
      </p:sp>
      <p:sp>
        <p:nvSpPr>
          <p:cNvPr id="20" name="Oval 19"/>
          <p:cNvSpPr/>
          <p:nvPr/>
        </p:nvSpPr>
        <p:spPr>
          <a:xfrm>
            <a:off x="566928" y="4882134"/>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6</a:t>
            </a:r>
          </a:p>
        </p:txBody>
      </p:sp>
      <p:sp>
        <p:nvSpPr>
          <p:cNvPr id="21" name="TextBox 20"/>
          <p:cNvSpPr txBox="1"/>
          <p:nvPr/>
        </p:nvSpPr>
        <p:spPr>
          <a:xfrm>
            <a:off x="1042416" y="4845558"/>
            <a:ext cx="2743200" cy="613029"/>
          </a:xfrm>
          <a:prstGeom prst="rect">
            <a:avLst/>
          </a:prstGeom>
          <a:noFill/>
        </p:spPr>
        <p:txBody>
          <a:bodyPr wrap="square" anchor="ctr" lIns="0" rIns="0" tIns="0" bIns="0">
            <a:spAutoFit/>
          </a:bodyPr>
          <a:lstStyle/>
          <a:p>
            <a:pPr algn="l">
              <a:lnSpc>
                <a:spcPct val="110000"/>
              </a:lnSpc>
              <a:spcBef>
                <a:spcPts val="0"/>
              </a:spcBef>
              <a:spcAft>
                <a:spcPts val="0"/>
              </a:spcAft>
            </a:pPr>
            <a:r>
              <a:rPr sz="1250" b="1" i="0">
                <a:solidFill>
                  <a:srgbClr val="0F2740"/>
                </a:solidFill>
                <a:latin typeface="Cambria"/>
              </a:rPr>
              <a:t>Design as a search process</a:t>
            </a:r>
          </a:p>
        </p:txBody>
      </p:sp>
      <p:sp>
        <p:nvSpPr>
          <p:cNvPr id="22" name="TextBox 21"/>
          <p:cNvSpPr txBox="1"/>
          <p:nvPr/>
        </p:nvSpPr>
        <p:spPr>
          <a:xfrm>
            <a:off x="3950208" y="4845558"/>
            <a:ext cx="7674559" cy="613029"/>
          </a:xfrm>
          <a:prstGeom prst="rect">
            <a:avLst/>
          </a:prstGeom>
          <a:noFill/>
        </p:spPr>
        <p:txBody>
          <a:bodyPr wrap="square" anchor="ctr" lIns="0" rIns="0" tIns="0" bIns="0">
            <a:spAutoFit/>
          </a:bodyPr>
          <a:lstStyle/>
          <a:p>
            <a:pPr algn="l">
              <a:lnSpc>
                <a:spcPct val="120000"/>
              </a:lnSpc>
              <a:spcBef>
                <a:spcPts val="0"/>
              </a:spcBef>
              <a:spcAft>
                <a:spcPts val="0"/>
              </a:spcAft>
            </a:pPr>
            <a:r>
              <a:rPr sz="1150" b="0" i="0">
                <a:solidFill>
                  <a:srgbClr val="5A6472"/>
                </a:solidFill>
                <a:latin typeface="Calibri"/>
              </a:rPr>
              <a:t>Six candidate gaps narrowed to one by evidence; the frozen protocol searches are the next iteration, not a one-shot search.</a:t>
            </a:r>
          </a:p>
        </p:txBody>
      </p:sp>
      <p:sp>
        <p:nvSpPr>
          <p:cNvPr id="23" name="Oval 22"/>
          <p:cNvSpPr/>
          <p:nvPr/>
        </p:nvSpPr>
        <p:spPr>
          <a:xfrm>
            <a:off x="566928" y="5495163"/>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50" b="1">
                <a:solidFill>
                  <a:srgbClr val="FFFFFF"/>
                </a:solidFill>
                <a:latin typeface="Calibri"/>
              </a:rPr>
              <a:t>7</a:t>
            </a:r>
          </a:p>
        </p:txBody>
      </p:sp>
      <p:sp>
        <p:nvSpPr>
          <p:cNvPr id="24" name="TextBox 23"/>
          <p:cNvSpPr txBox="1"/>
          <p:nvPr/>
        </p:nvSpPr>
        <p:spPr>
          <a:xfrm>
            <a:off x="1042416" y="5458587"/>
            <a:ext cx="2743200" cy="613029"/>
          </a:xfrm>
          <a:prstGeom prst="rect">
            <a:avLst/>
          </a:prstGeom>
          <a:noFill/>
        </p:spPr>
        <p:txBody>
          <a:bodyPr wrap="square" anchor="ctr" lIns="0" rIns="0" tIns="0" bIns="0">
            <a:spAutoFit/>
          </a:bodyPr>
          <a:lstStyle/>
          <a:p>
            <a:pPr algn="l">
              <a:lnSpc>
                <a:spcPct val="110000"/>
              </a:lnSpc>
              <a:spcBef>
                <a:spcPts val="0"/>
              </a:spcBef>
              <a:spcAft>
                <a:spcPts val="0"/>
              </a:spcAft>
            </a:pPr>
            <a:r>
              <a:rPr sz="1250" b="1" i="0">
                <a:solidFill>
                  <a:srgbClr val="0F2740"/>
                </a:solidFill>
                <a:latin typeface="Cambria"/>
              </a:rPr>
              <a:t>Communication of research</a:t>
            </a:r>
          </a:p>
        </p:txBody>
      </p:sp>
      <p:sp>
        <p:nvSpPr>
          <p:cNvPr id="25" name="TextBox 24"/>
          <p:cNvSpPr txBox="1"/>
          <p:nvPr/>
        </p:nvSpPr>
        <p:spPr>
          <a:xfrm>
            <a:off x="3950208" y="5458587"/>
            <a:ext cx="7674559" cy="613029"/>
          </a:xfrm>
          <a:prstGeom prst="rect">
            <a:avLst/>
          </a:prstGeom>
          <a:noFill/>
        </p:spPr>
        <p:txBody>
          <a:bodyPr wrap="square" anchor="ctr" lIns="0" rIns="0" tIns="0" bIns="0">
            <a:spAutoFit/>
          </a:bodyPr>
          <a:lstStyle/>
          <a:p>
            <a:pPr algn="l">
              <a:lnSpc>
                <a:spcPct val="120000"/>
              </a:lnSpc>
              <a:spcBef>
                <a:spcPts val="0"/>
              </a:spcBef>
              <a:spcAft>
                <a:spcPts val="0"/>
              </a:spcAft>
            </a:pPr>
            <a:r>
              <a:rPr sz="1150" b="0" i="0">
                <a:solidFill>
                  <a:srgbClr val="5A6472"/>
                </a:solidFill>
                <a:latin typeface="Calibri"/>
              </a:rPr>
              <a:t>This seminar presentation for a technical audience; three planned publications per the study contract for the research community.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BACKUP · REQUIRED DISCLOSURE</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Use of generative AI in preparing this work</a:t>
            </a:r>
          </a:p>
        </p:txBody>
      </p:sp>
      <p:sp>
        <p:nvSpPr>
          <p:cNvPr id="4" name="TextBox 3"/>
          <p:cNvSpPr txBox="1"/>
          <p:nvPr/>
        </p:nvSpPr>
        <p:spPr>
          <a:xfrm>
            <a:off x="566928" y="1339850"/>
            <a:ext cx="11057839" cy="294259"/>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Declared per the course requirement that the work state whether and how GenAI was used, and for what.</a:t>
            </a:r>
          </a:p>
        </p:txBody>
      </p:sp>
      <p:sp>
        <p:nvSpPr>
          <p:cNvPr id="5" name="Rounded Rectangle 4"/>
          <p:cNvSpPr/>
          <p:nvPr/>
        </p:nvSpPr>
        <p:spPr>
          <a:xfrm>
            <a:off x="566928" y="1780413"/>
            <a:ext cx="5486400" cy="3383280"/>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981581"/>
            <a:ext cx="4974336" cy="3017520"/>
          </a:xfrm>
          <a:prstGeom prst="rect">
            <a:avLst/>
          </a:prstGeom>
          <a:noFill/>
        </p:spPr>
        <p:txBody>
          <a:bodyPr wrap="square" anchor="t" lIns="0" rIns="0" tIns="0" bIns="0">
            <a:spAutoFit/>
          </a:bodyPr>
          <a:lstStyle/>
          <a:p>
            <a:pPr algn="l">
              <a:spcBef>
                <a:spcPts val="0"/>
              </a:spcBef>
              <a:spcAft>
                <a:spcPts val="800"/>
              </a:spcAft>
            </a:pPr>
            <a:r>
              <a:rPr sz="1500" b="1" i="0">
                <a:solidFill>
                  <a:srgbClr val="0CA30C"/>
                </a:solidFill>
                <a:latin typeface="Cambria"/>
              </a:rPr>
              <a:t>Used for</a:t>
            </a:r>
          </a:p>
          <a:p>
            <a:pPr algn="l">
              <a:lnSpc>
                <a:spcPct val="122000"/>
              </a:lnSpc>
              <a:spcBef>
                <a:spcPts val="0"/>
              </a:spcBef>
              <a:spcAft>
                <a:spcPts val="600"/>
              </a:spcAft>
            </a:pPr>
            <a:r>
              <a:rPr sz="1250" b="0" i="0">
                <a:solidFill>
                  <a:srgbClr val="5A6472"/>
                </a:solidFill>
                <a:latin typeface="Calibri"/>
              </a:rPr>
              <a:t>•  Brainstorming and refining the wording of the research questions.</a:t>
            </a:r>
          </a:p>
          <a:p>
            <a:pPr algn="l">
              <a:lnSpc>
                <a:spcPct val="122000"/>
              </a:lnSpc>
              <a:spcBef>
                <a:spcPts val="0"/>
              </a:spcBef>
              <a:spcAft>
                <a:spcPts val="600"/>
              </a:spcAft>
            </a:pPr>
            <a:r>
              <a:rPr sz="1250" b="0" i="0">
                <a:solidFill>
                  <a:srgbClr val="5A6472"/>
                </a:solidFill>
                <a:latin typeface="Calibri"/>
              </a:rPr>
              <a:t>•  Discovering candidate literature and drafting search-query families.</a:t>
            </a:r>
          </a:p>
          <a:p>
            <a:pPr algn="l">
              <a:lnSpc>
                <a:spcPct val="122000"/>
              </a:lnSpc>
              <a:spcBef>
                <a:spcPts val="0"/>
              </a:spcBef>
              <a:spcAft>
                <a:spcPts val="600"/>
              </a:spcAft>
            </a:pPr>
            <a:r>
              <a:rPr sz="1250" b="0" i="0">
                <a:solidFill>
                  <a:srgbClr val="5A6472"/>
                </a:solidFill>
                <a:latin typeface="Calibri"/>
              </a:rPr>
              <a:t>•  Screening support: summarising abstracts to triage relevance.</a:t>
            </a:r>
          </a:p>
          <a:p>
            <a:pPr algn="l">
              <a:lnSpc>
                <a:spcPct val="122000"/>
              </a:lnSpc>
              <a:spcBef>
                <a:spcPts val="0"/>
              </a:spcBef>
              <a:spcAft>
                <a:spcPts val="600"/>
              </a:spcAft>
            </a:pPr>
            <a:r>
              <a:rPr sz="1250" b="0" i="0">
                <a:solidFill>
                  <a:srgbClr val="5A6472"/>
                </a:solidFill>
                <a:latin typeface="Calibri"/>
              </a:rPr>
              <a:t>•  Extracting structured fields from sources into the review workbook.</a:t>
            </a:r>
          </a:p>
          <a:p>
            <a:pPr algn="l">
              <a:lnSpc>
                <a:spcPct val="122000"/>
              </a:lnSpc>
              <a:spcBef>
                <a:spcPts val="0"/>
              </a:spcBef>
              <a:spcAft>
                <a:spcPts val="600"/>
              </a:spcAft>
            </a:pPr>
            <a:r>
              <a:rPr sz="1250" b="0" i="0">
                <a:solidFill>
                  <a:srgbClr val="5A6472"/>
                </a:solidFill>
                <a:latin typeface="Calibri"/>
              </a:rPr>
              <a:t>•  Drafting and rephrasing slide text, and generating the figures from measured result files.</a:t>
            </a:r>
          </a:p>
        </p:txBody>
      </p:sp>
      <p:sp>
        <p:nvSpPr>
          <p:cNvPr id="7" name="Rounded Rectangle 6"/>
          <p:cNvSpPr/>
          <p:nvPr/>
        </p:nvSpPr>
        <p:spPr>
          <a:xfrm>
            <a:off x="6309360" y="1780413"/>
            <a:ext cx="5315407" cy="3383280"/>
          </a:xfrm>
          <a:prstGeom prst="roundRect">
            <a:avLst>
              <a:gd name="adj" fmla="val 4000"/>
            </a:avLst>
          </a:prstGeom>
          <a:solidFill>
            <a:srgbClr val="FDF0F0"/>
          </a:solidFill>
          <a:ln w="12700">
            <a:solidFill>
              <a:srgbClr val="F0C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565392" y="1981581"/>
            <a:ext cx="4803343" cy="3017520"/>
          </a:xfrm>
          <a:prstGeom prst="rect">
            <a:avLst/>
          </a:prstGeom>
          <a:noFill/>
        </p:spPr>
        <p:txBody>
          <a:bodyPr wrap="square" anchor="t" lIns="0" rIns="0" tIns="0" bIns="0">
            <a:spAutoFit/>
          </a:bodyPr>
          <a:lstStyle/>
          <a:p>
            <a:pPr algn="l">
              <a:spcBef>
                <a:spcPts val="0"/>
              </a:spcBef>
              <a:spcAft>
                <a:spcPts val="800"/>
              </a:spcAft>
            </a:pPr>
            <a:r>
              <a:rPr sz="1500" b="1" i="0">
                <a:solidFill>
                  <a:srgbClr val="D03B3B"/>
                </a:solidFill>
                <a:latin typeface="Cambria"/>
              </a:rPr>
              <a:t>Not used for</a:t>
            </a:r>
          </a:p>
          <a:p>
            <a:pPr algn="l">
              <a:lnSpc>
                <a:spcPct val="122000"/>
              </a:lnSpc>
              <a:spcBef>
                <a:spcPts val="0"/>
              </a:spcBef>
              <a:spcAft>
                <a:spcPts val="600"/>
              </a:spcAft>
            </a:pPr>
            <a:r>
              <a:rPr sz="1250" b="0" i="0">
                <a:solidFill>
                  <a:srgbClr val="5A6472"/>
                </a:solidFill>
                <a:latin typeface="Calibri"/>
              </a:rPr>
              <a:t>•  Generating citations. Every reference was verified against a publisher page, DOI, dblp or arXiv record; unverifiable entries are quarantined.</a:t>
            </a:r>
          </a:p>
          <a:p>
            <a:pPr algn="l">
              <a:lnSpc>
                <a:spcPct val="122000"/>
              </a:lnSpc>
              <a:spcBef>
                <a:spcPts val="0"/>
              </a:spcBef>
              <a:spcAft>
                <a:spcPts val="600"/>
              </a:spcAft>
            </a:pPr>
            <a:r>
              <a:rPr sz="1250" b="0" i="0">
                <a:solidFill>
                  <a:srgbClr val="5A6472"/>
                </a:solidFill>
                <a:latin typeface="Calibri"/>
              </a:rPr>
              <a:t>•  Deciding the research questions or the message of the review.</a:t>
            </a:r>
          </a:p>
          <a:p>
            <a:pPr algn="l">
              <a:lnSpc>
                <a:spcPct val="122000"/>
              </a:lnSpc>
              <a:spcBef>
                <a:spcPts val="0"/>
              </a:spcBef>
              <a:spcAft>
                <a:spcPts val="600"/>
              </a:spcAft>
            </a:pPr>
            <a:r>
              <a:rPr sz="1250" b="0" i="0">
                <a:solidFill>
                  <a:srgbClr val="5A6472"/>
                </a:solidFill>
                <a:latin typeface="Calibri"/>
              </a:rPr>
              <a:t>•  Designing the analysis framework — that is the conceptual work.</a:t>
            </a:r>
          </a:p>
          <a:p>
            <a:pPr algn="l">
              <a:lnSpc>
                <a:spcPct val="122000"/>
              </a:lnSpc>
              <a:spcBef>
                <a:spcPts val="0"/>
              </a:spcBef>
              <a:spcAft>
                <a:spcPts val="600"/>
              </a:spcAft>
            </a:pPr>
            <a:r>
              <a:rPr sz="1250" b="0" i="0">
                <a:solidFill>
                  <a:srgbClr val="5A6472"/>
                </a:solidFill>
                <a:latin typeface="Calibri"/>
              </a:rPr>
              <a:t>•  Determining gaps. A model reports what exists, not what is missing; gaps come from the framework and remain provisional until the searches run.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37744"/>
          </a:xfrm>
          <a:prstGeom prst="rect">
            <a:avLst/>
          </a:prstGeom>
          <a:noFill/>
        </p:spPr>
        <p:txBody>
          <a:bodyPr wrap="square" anchor="t" lIns="0" rIns="0" tIns="0" bIns="0">
            <a:spAutoFit/>
          </a:bodyPr>
          <a:lstStyle/>
          <a:p>
            <a:pPr algn="l">
              <a:spcBef>
                <a:spcPts val="0"/>
              </a:spcBef>
              <a:spcAft>
                <a:spcPts val="0"/>
              </a:spcAft>
            </a:pPr>
            <a:r>
              <a:rPr sz="1150" b="1" i="0">
                <a:solidFill>
                  <a:srgbClr val="2A78D6"/>
                </a:solidFill>
                <a:latin typeface="Calibri"/>
              </a:rPr>
              <a:t>BACKUP · WHAT IS AND IS NOT CLAIMED</a:t>
            </a:r>
          </a:p>
        </p:txBody>
      </p:sp>
      <p:sp>
        <p:nvSpPr>
          <p:cNvPr id="3" name="TextBox 2"/>
          <p:cNvSpPr txBox="1"/>
          <p:nvPr/>
        </p:nvSpPr>
        <p:spPr>
          <a:xfrm>
            <a:off x="566928" y="713232"/>
            <a:ext cx="11057839" cy="553466"/>
          </a:xfrm>
          <a:prstGeom prst="rect">
            <a:avLst/>
          </a:prstGeom>
          <a:noFill/>
        </p:spPr>
        <p:txBody>
          <a:bodyPr wrap="square" anchor="t" lIns="0" rIns="0" tIns="0" bIns="0">
            <a:spAutoFit/>
          </a:bodyPr>
          <a:lstStyle/>
          <a:p>
            <a:pPr algn="l">
              <a:lnSpc>
                <a:spcPct val="110000"/>
              </a:lnSpc>
              <a:spcBef>
                <a:spcPts val="0"/>
              </a:spcBef>
              <a:spcAft>
                <a:spcPts val="0"/>
              </a:spcAft>
            </a:pPr>
            <a:r>
              <a:rPr sz="3100" b="1" i="0">
                <a:solidFill>
                  <a:srgbClr val="0F2740"/>
                </a:solidFill>
                <a:latin typeface="Cambria"/>
              </a:rPr>
              <a:t>Evidence boundary held throughout</a:t>
            </a:r>
          </a:p>
        </p:txBody>
      </p:sp>
      <p:sp>
        <p:nvSpPr>
          <p:cNvPr id="4" name="TextBox 3"/>
          <p:cNvSpPr txBox="1"/>
          <p:nvPr/>
        </p:nvSpPr>
        <p:spPr>
          <a:xfrm>
            <a:off x="566928" y="1339850"/>
            <a:ext cx="11057839" cy="294259"/>
          </a:xfrm>
          <a:prstGeom prst="rect">
            <a:avLst/>
          </a:prstGeom>
          <a:noFill/>
        </p:spPr>
        <p:txBody>
          <a:bodyPr wrap="square" anchor="t" lIns="0" rIns="0" tIns="0" bIns="0">
            <a:spAutoFit/>
          </a:bodyPr>
          <a:lstStyle/>
          <a:p>
            <a:pPr algn="l">
              <a:lnSpc>
                <a:spcPct val="118000"/>
              </a:lnSpc>
              <a:spcBef>
                <a:spcPts val="0"/>
              </a:spcBef>
              <a:spcAft>
                <a:spcPts val="0"/>
              </a:spcAft>
            </a:pPr>
            <a:r>
              <a:rPr sz="1450" b="0" i="0">
                <a:solidFill>
                  <a:srgbClr val="5A6472"/>
                </a:solidFill>
                <a:latin typeface="Calibri"/>
              </a:rPr>
              <a:t>Separating what the current work can demonstrate from what still requires independent evidence.</a:t>
            </a:r>
          </a:p>
        </p:txBody>
      </p:sp>
      <p:sp>
        <p:nvSpPr>
          <p:cNvPr id="5" name="Rounded Rectangle 4"/>
          <p:cNvSpPr/>
          <p:nvPr/>
        </p:nvSpPr>
        <p:spPr>
          <a:xfrm>
            <a:off x="566928" y="1780413"/>
            <a:ext cx="5400903" cy="3200400"/>
          </a:xfrm>
          <a:prstGeom prst="roundRect">
            <a:avLst>
              <a:gd name="adj" fmla="val 4000"/>
            </a:avLst>
          </a:prstGeom>
          <a:solidFill>
            <a:srgbClr val="F2F5F9"/>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981581"/>
            <a:ext cx="4888839" cy="2834640"/>
          </a:xfrm>
          <a:prstGeom prst="rect">
            <a:avLst/>
          </a:prstGeom>
          <a:noFill/>
        </p:spPr>
        <p:txBody>
          <a:bodyPr wrap="square" anchor="t" lIns="0" rIns="0" tIns="0" bIns="0">
            <a:spAutoFit/>
          </a:bodyPr>
          <a:lstStyle/>
          <a:p>
            <a:pPr algn="l">
              <a:spcBef>
                <a:spcPts val="0"/>
              </a:spcBef>
              <a:spcAft>
                <a:spcPts val="900"/>
              </a:spcAft>
            </a:pPr>
            <a:r>
              <a:rPr sz="1450" b="1" i="0">
                <a:solidFill>
                  <a:srgbClr val="0CA30C"/>
                </a:solidFill>
                <a:latin typeface="Cambria"/>
              </a:rPr>
              <a:t>Can be stated (mechanism / observability)</a:t>
            </a:r>
          </a:p>
          <a:p>
            <a:pPr algn="l">
              <a:lnSpc>
                <a:spcPct val="122000"/>
              </a:lnSpc>
              <a:spcBef>
                <a:spcPts val="0"/>
              </a:spcBef>
              <a:spcAft>
                <a:spcPts val="700"/>
              </a:spcAft>
            </a:pPr>
            <a:r>
              <a:rPr sz="1250" b="0" i="0">
                <a:solidFill>
                  <a:srgbClr val="5A6472"/>
                </a:solidFill>
                <a:latin typeface="Calibri"/>
              </a:rPr>
              <a:t>•  481 lifecycle events reconstructed against a legacy queue of 11.</a:t>
            </a:r>
          </a:p>
          <a:p>
            <a:pPr algn="l">
              <a:lnSpc>
                <a:spcPct val="122000"/>
              </a:lnSpc>
              <a:spcBef>
                <a:spcPts val="0"/>
              </a:spcBef>
              <a:spcAft>
                <a:spcPts val="700"/>
              </a:spcAft>
            </a:pPr>
            <a:r>
              <a:rPr sz="1250" b="0" i="0">
                <a:solidFill>
                  <a:srgbClr val="5A6472"/>
                </a:solidFill>
                <a:latin typeface="Calibri"/>
              </a:rPr>
              <a:t>•  Guideline instability measured at 1.35; 33 guidelines per setting never reviewed.</a:t>
            </a:r>
          </a:p>
          <a:p>
            <a:pPr algn="l">
              <a:lnSpc>
                <a:spcPct val="122000"/>
              </a:lnSpc>
              <a:spcBef>
                <a:spcPts val="0"/>
              </a:spcBef>
              <a:spcAft>
                <a:spcPts val="700"/>
              </a:spcAft>
            </a:pPr>
            <a:r>
              <a:rPr sz="1250" b="0" i="0">
                <a:solidFill>
                  <a:srgbClr val="5A6472"/>
                </a:solidFill>
                <a:latin typeface="Calibri"/>
              </a:rPr>
              <a:t>•  Coverage-versus-burden frontier mapped across five routing policies.</a:t>
            </a:r>
          </a:p>
          <a:p>
            <a:pPr algn="l">
              <a:lnSpc>
                <a:spcPct val="122000"/>
              </a:lnSpc>
              <a:spcBef>
                <a:spcPts val="0"/>
              </a:spcBef>
              <a:spcAft>
                <a:spcPts val="700"/>
              </a:spcAft>
            </a:pPr>
            <a:r>
              <a:rPr sz="1250" b="0" i="0">
                <a:solidFill>
                  <a:srgbClr val="5A6472"/>
                </a:solidFill>
                <a:latin typeface="Calibri"/>
              </a:rPr>
              <a:t>•  The protected baseline is unchanged — 0 of 27 classifications altered.</a:t>
            </a:r>
          </a:p>
        </p:txBody>
      </p:sp>
      <p:sp>
        <p:nvSpPr>
          <p:cNvPr id="7" name="Rounded Rectangle 6"/>
          <p:cNvSpPr/>
          <p:nvPr/>
        </p:nvSpPr>
        <p:spPr>
          <a:xfrm>
            <a:off x="6223863" y="1780413"/>
            <a:ext cx="5400903" cy="3200400"/>
          </a:xfrm>
          <a:prstGeom prst="roundRect">
            <a:avLst>
              <a:gd name="adj" fmla="val 4000"/>
            </a:avLst>
          </a:prstGeom>
          <a:solidFill>
            <a:srgbClr val="FDF0F0"/>
          </a:solidFill>
          <a:ln w="12700">
            <a:solidFill>
              <a:srgbClr val="F0C8C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479895" y="1981581"/>
            <a:ext cx="4888839" cy="2834640"/>
          </a:xfrm>
          <a:prstGeom prst="rect">
            <a:avLst/>
          </a:prstGeom>
          <a:noFill/>
        </p:spPr>
        <p:txBody>
          <a:bodyPr wrap="square" anchor="t" lIns="0" rIns="0" tIns="0" bIns="0">
            <a:spAutoFit/>
          </a:bodyPr>
          <a:lstStyle/>
          <a:p>
            <a:pPr algn="l">
              <a:spcBef>
                <a:spcPts val="0"/>
              </a:spcBef>
              <a:spcAft>
                <a:spcPts val="900"/>
              </a:spcAft>
            </a:pPr>
            <a:r>
              <a:rPr sz="1450" b="1" i="0">
                <a:solidFill>
                  <a:srgbClr val="D03B3B"/>
                </a:solidFill>
                <a:latin typeface="Cambria"/>
              </a:rPr>
              <a:t>Not claimed — requires evidence that does not exist yet</a:t>
            </a:r>
          </a:p>
          <a:p>
            <a:pPr algn="l">
              <a:lnSpc>
                <a:spcPct val="122000"/>
              </a:lnSpc>
              <a:spcBef>
                <a:spcPts val="0"/>
              </a:spcBef>
              <a:spcAft>
                <a:spcPts val="700"/>
              </a:spcAft>
            </a:pPr>
            <a:r>
              <a:rPr sz="1250" b="0" i="0">
                <a:solidFill>
                  <a:srgbClr val="5A6472"/>
                </a:solidFill>
                <a:latin typeface="Calibri"/>
              </a:rPr>
              <a:t>•  No claim of improved assessment accuracy — 0 of 24 generalization-safe expert labels are validated.</a:t>
            </a:r>
          </a:p>
          <a:p>
            <a:pPr algn="l">
              <a:lnSpc>
                <a:spcPct val="122000"/>
              </a:lnSpc>
              <a:spcBef>
                <a:spcPts val="0"/>
              </a:spcBef>
              <a:spcAft>
                <a:spcPts val="700"/>
              </a:spcAft>
            </a:pPr>
            <a:r>
              <a:rPr sz="1250" b="0" i="0">
                <a:solidFill>
                  <a:srgbClr val="5A6472"/>
                </a:solidFill>
                <a:latin typeface="Calibri"/>
              </a:rPr>
              <a:t>•  No claim of reduced expert workload.</a:t>
            </a:r>
          </a:p>
          <a:p>
            <a:pPr algn="l">
              <a:lnSpc>
                <a:spcPct val="122000"/>
              </a:lnSpc>
              <a:spcBef>
                <a:spcPts val="0"/>
              </a:spcBef>
              <a:spcAft>
                <a:spcPts val="700"/>
              </a:spcAft>
            </a:pPr>
            <a:r>
              <a:rPr sz="1250" b="0" i="0">
                <a:solidFill>
                  <a:srgbClr val="5A6472"/>
                </a:solidFill>
                <a:latin typeface="Calibri"/>
              </a:rPr>
              <a:t>•  No claim of safe generalization or transfer across contexts.</a:t>
            </a:r>
          </a:p>
          <a:p>
            <a:pPr algn="l">
              <a:lnSpc>
                <a:spcPct val="122000"/>
              </a:lnSpc>
              <a:spcBef>
                <a:spcPts val="0"/>
              </a:spcBef>
              <a:spcAft>
                <a:spcPts val="700"/>
              </a:spcAft>
            </a:pPr>
            <a:r>
              <a:rPr sz="1250" b="0" i="0">
                <a:solidFill>
                  <a:srgbClr val="5A6472"/>
                </a:solidFill>
                <a:latin typeface="Calibri"/>
              </a:rPr>
              <a:t>•  No claim of any kind about clinical performance.</a:t>
            </a:r>
          </a:p>
          <a:p>
            <a:pPr algn="l">
              <a:lnSpc>
                <a:spcPct val="122000"/>
              </a:lnSpc>
              <a:spcBef>
                <a:spcPts val="0"/>
              </a:spcBef>
              <a:spcAft>
                <a:spcPts val="700"/>
              </a:spcAft>
            </a:pPr>
            <a:r>
              <a:rPr sz="1250" b="0" i="0">
                <a:solidFill>
                  <a:srgbClr val="5A6472"/>
                </a:solidFill>
                <a:latin typeface="Calibri"/>
              </a:rPr>
              <a:t>•  No claim that the literature holds no prior solution — the protocol searches are not yet executed.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