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7d8da277794dc4" /><Relationship Type="http://schemas.openxmlformats.org/officeDocument/2006/relationships/extended-properties" Target="/docProps/app.xml" Id="R110217a7cf654b14" /><Relationship Type="http://schemas.openxmlformats.org/officeDocument/2006/relationships/officeDocument" Target="/ppt/presentation.xml" Id="Rd6eb83927b1d43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93db961a0d48ae"/>
  </p:sldMasterIdLst>
  <p:notesMasterIdLst>
    <p:notesMasterId xmlns:r="http://schemas.openxmlformats.org/officeDocument/2006/relationships" r:id="R4bf63d63fcff42b5"/>
  </p:notesMasterIdLst>
  <p:sldIdLst>
    <p:sldId xmlns:r="http://schemas.openxmlformats.org/officeDocument/2006/relationships" id="256" r:id="Rb50a14786f0046eb"/>
    <p:sldId xmlns:r="http://schemas.openxmlformats.org/officeDocument/2006/relationships" id="257" r:id="R65eff57d5cfb43b6"/>
    <p:sldId xmlns:r="http://schemas.openxmlformats.org/officeDocument/2006/relationships" id="258" r:id="R6f8f742661da4bb8"/>
    <p:sldId xmlns:r="http://schemas.openxmlformats.org/officeDocument/2006/relationships" id="259" r:id="R262cc240a7224063"/>
    <p:sldId xmlns:r="http://schemas.openxmlformats.org/officeDocument/2006/relationships" id="260" r:id="R6b8afb416b4d49ed"/>
    <p:sldId xmlns:r="http://schemas.openxmlformats.org/officeDocument/2006/relationships" id="261" r:id="R1fb9ec0b019b46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351da383cb4ab8" /><Relationship Type="http://schemas.openxmlformats.org/officeDocument/2006/relationships/slideMaster" Target="/ppt/slideMasters/slideMaster1.xml" Id="Rc293db961a0d48ae" /><Relationship Type="http://schemas.openxmlformats.org/officeDocument/2006/relationships/notesMaster" Target="/ppt/notesMasters/notesMaster1.xml" Id="R4bf63d63fcff42b5" /><Relationship Type="http://schemas.openxmlformats.org/officeDocument/2006/relationships/presProps" Target="/ppt/presProps.xml" Id="R6993bee73e614a4d" /><Relationship Type="http://schemas.openxmlformats.org/officeDocument/2006/relationships/tableStyles" Target="/ppt/tableStyles.xml" Id="Ref417834558c4250" /><Relationship Type="http://schemas.openxmlformats.org/officeDocument/2006/relationships/slide" Target="/ppt/slides/slide1.xml" Id="Rb50a14786f0046eb" /><Relationship Type="http://schemas.openxmlformats.org/officeDocument/2006/relationships/slide" Target="/ppt/slides/slide2.xml" Id="R65eff57d5cfb43b6" /><Relationship Type="http://schemas.openxmlformats.org/officeDocument/2006/relationships/slide" Target="/ppt/slides/slide3.xml" Id="R6f8f742661da4bb8" /><Relationship Type="http://schemas.openxmlformats.org/officeDocument/2006/relationships/slide" Target="/ppt/slides/slide4.xml" Id="R262cc240a7224063" /><Relationship Type="http://schemas.openxmlformats.org/officeDocument/2006/relationships/slide" Target="/ppt/slides/slide5.xml" Id="R6b8afb416b4d49ed" /><Relationship Type="http://schemas.openxmlformats.org/officeDocument/2006/relationships/slide" Target="/ppt/slides/slide6.xml" Id="R1fb9ec0b019b46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5ac9cca22445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d835c7204247f4" /><Relationship Type="http://schemas.openxmlformats.org/officeDocument/2006/relationships/notesMaster" Target="/ppt/notesMasters/notesMaster1.xml" Id="Re7395aeebfd247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dda3a404ac49b1" /><Relationship Type="http://schemas.openxmlformats.org/officeDocument/2006/relationships/notesMaster" Target="/ppt/notesMasters/notesMaster1.xml" Id="R394fc2b7e6b840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17be521c8e417c" /><Relationship Type="http://schemas.openxmlformats.org/officeDocument/2006/relationships/notesMaster" Target="/ppt/notesMasters/notesMaster1.xml" Id="R6d74a31cee014e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1cf9a1f7b24c11" /><Relationship Type="http://schemas.openxmlformats.org/officeDocument/2006/relationships/notesMaster" Target="/ppt/notesMasters/notesMaster1.xml" Id="R4f17eee6ed4543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778a3ee6f74cb3" /><Relationship Type="http://schemas.openxmlformats.org/officeDocument/2006/relationships/notesMaster" Target="/ppt/notesMasters/notesMaster1.xml" Id="Rb33203fb985444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210ec8e86d4480" /><Relationship Type="http://schemas.openxmlformats.org/officeDocument/2006/relationships/notesMaster" Target="/ppt/notesMasters/notesMaster1.xml" Id="Ra506d3a0b79f41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2026-09-06 Study 1 execution receipt and preliminary-results report. Scope is retrospective descriptive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Study 1 signal dictionary and transparency data/log-contract materials. Diagram describes mechanism, not benefit.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Study 1 log-contract matrix and signal dictionary. No raw logs appear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frozen Detector-v1 signal contract. S1/S2 are model self-report; S3 is null/zero-length evidence only; S6 is round_count &gt;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transparency correction package. Agent-4 queue status is NOT_AVAILABLE; its absence does not mean it was not triggered.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archival Study 1 receipt/results and 2026-09-08 offline instrument addendum. Only the first check is ENGINEERING_FIXTURE_NOT_SCIENTIFIC.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f8470591a4f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cf255634b54d3a" /><Relationship Type="http://schemas.openxmlformats.org/officeDocument/2006/relationships/slideLayout" Target="/ppt/slideLayouts/slideLayout1.xml" Id="R9d5fb5708ecc4d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5fb5708ecc4d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925fdc59e4548" /><Relationship Type="http://schemas.openxmlformats.org/officeDocument/2006/relationships/notesSlide" Target="/ppt/notesSlides/notesSlide1.xml" Id="R42dba8c08a8b40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21c1f933a49fb" /><Relationship Type="http://schemas.openxmlformats.org/officeDocument/2006/relationships/notesSlide" Target="/ppt/notesSlides/notesSlide2.xml" Id="R1c8e97fcc8f449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a674502104932" /><Relationship Type="http://schemas.openxmlformats.org/officeDocument/2006/relationships/notesSlide" Target="/ppt/notesSlides/notesSlide3.xml" Id="Ra5b7cad85dc845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4fa92f63e47a9" /><Relationship Type="http://schemas.openxmlformats.org/officeDocument/2006/relationships/notesSlide" Target="/ppt/notesSlides/notesSlide4.xml" Id="R591bad4706b244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07c85d81f439b" /><Relationship Type="http://schemas.openxmlformats.org/officeDocument/2006/relationships/notesSlide" Target="/ppt/notesSlides/notesSlide5.xml" Id="R8d4ff8c5471245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751cffef84caa" /><Relationship Type="http://schemas.openxmlformats.org/officeDocument/2006/relationships/notesSlide" Target="/ppt/notesSlides/notesSlide6.xml" Id="R0df32613875f48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header-1">
            <a:extLst xmlns:a="http://schemas.openxmlformats.org/drawingml/2006/main">
              <a:ext uri="{FF2B5EF4-FFF2-40B4-BE49-F238E27FC236}">
                <a16:creationId xmlns:a16="http://schemas.microsoft.com/office/drawing/2014/main" id="{D2592231-C2A0-4A6D-BE15-04601305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985BFACD-586A-4689-8388-64500D32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1093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‫מחקר 1: תהליך מקצה לקצה לקריאה מהירה‬</a:t>
            </a:r>
          </a:p>
        </p:txBody>
      </p:sp>
      <p:sp>
        <p:nvSpPr>
          <p:cNvPr id="3" name="subtitle-1">
            <a:extLst xmlns:a="http://schemas.openxmlformats.org/drawingml/2006/main">
              <a:ext uri="{FF2B5EF4-FFF2-40B4-BE49-F238E27FC236}">
                <a16:creationId xmlns:a16="http://schemas.microsoft.com/office/drawing/2014/main" id="{7D79788F-5546-429B-B074-3A220D7A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AF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D9EAF7"/>
                </a:solidFill>
                <a:latin typeface="Calibri"/>
                <a:ea typeface="Calibri"/>
                <a:cs typeface="Calibri"/>
              </a:rPr>
              <a:t>‫חבילת מנחים בעברית | 8 בספטמבר 2026‬</a:t>
            </a:r>
          </a:p>
        </p:txBody>
      </p:sp>
      <p:sp>
        <p:nvSpPr>
          <p:cNvPr id="4" name="footer-line-1">
            <a:extLst xmlns:a="http://schemas.openxmlformats.org/drawingml/2006/main">
              <a:ext uri="{FF2B5EF4-FFF2-40B4-BE49-F238E27FC236}">
                <a16:creationId xmlns:a16="http://schemas.microsoft.com/office/drawing/2014/main" id="{7A786BEB-DFCD-4F51-8687-2F4180DB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footer-1">
            <a:extLst xmlns:a="http://schemas.openxmlformats.org/drawingml/2006/main">
              <a:ext uri="{FF2B5EF4-FFF2-40B4-BE49-F238E27FC236}">
                <a16:creationId xmlns:a16="http://schemas.microsoft.com/office/drawing/2014/main" id="{0420EA8F-920A-4B0B-AA8F-20B9B071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10934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‫מחקר 1 | AirTravel | שקופית 1 מתוך 6‬</a:t>
            </a:r>
          </a:p>
        </p:txBody>
      </p:sp>
      <p:sp>
        <p:nvSpPr>
          <p:cNvPr id="6" name="slide1-main">
            <a:extLst xmlns:a="http://schemas.openxmlformats.org/drawingml/2006/main">
              <a:ext uri="{FF2B5EF4-FFF2-40B4-BE49-F238E27FC236}">
                <a16:creationId xmlns:a16="http://schemas.microsoft.com/office/drawing/2014/main" id="{961C7C1A-DBF4-4092-974C-0224B1D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934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92778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‫מה נבדק ומה גבול הטענה‬</a:t>
            </a:r>
          </a:p>
        </p:txBody>
      </p:sp>
      <p:sp>
        <p:nvSpPr>
          <p:cNvPr id="7" name="slide1-sub">
            <a:extLst xmlns:a="http://schemas.openxmlformats.org/drawingml/2006/main">
              <a:ext uri="{FF2B5EF4-FFF2-40B4-BE49-F238E27FC236}">
                <a16:creationId xmlns:a16="http://schemas.microsoft.com/office/drawing/2014/main" id="{B6D02C81-7287-452F-9CC2-E8397586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‫תיעוד שאלות ותשובות בין סוכני המערכת, עם תווית דיווח בלבד.‬</a:t>
            </a:r>
          </a:p>
        </p:txBody>
      </p:sp>
      <p:sp>
        <p:nvSpPr>
          <p:cNvPr id="8" name="slide1-card-0">
            <a:extLst xmlns:a="http://schemas.openxmlformats.org/drawingml/2006/main">
              <a:ext uri="{FF2B5EF4-FFF2-40B4-BE49-F238E27FC236}">
                <a16:creationId xmlns:a16="http://schemas.microsoft.com/office/drawing/2014/main" id="{01F855B1-02A5-4DA9-A0AC-2F8B5E2F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3314700" cy="1552575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64AB"/>
            </a:solidFill>
            <a:prstDash val="solid"/>
          </a:ln>
        </p:spPr>
      </p:sp>
      <p:sp>
        <p:nvSpPr>
          <p:cNvPr id="9" name="slide1-tag-0">
            <a:extLst xmlns:a="http://schemas.openxmlformats.org/drawingml/2006/main">
              <a:ext uri="{FF2B5EF4-FFF2-40B4-BE49-F238E27FC236}">
                <a16:creationId xmlns:a16="http://schemas.microsoft.com/office/drawing/2014/main" id="{F4B98C54-951D-411C-8813-6402919D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81225"/>
            <a:ext cx="1428750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1864A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6605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PUBLIC_EXTERNAL</a:t>
            </a:r>
          </a:p>
        </p:txBody>
      </p:sp>
      <p:sp>
        <p:nvSpPr>
          <p:cNvPr id="10" name="slide1-card-title-0">
            <a:extLst xmlns:a="http://schemas.openxmlformats.org/drawingml/2006/main">
              <a:ext uri="{FF2B5EF4-FFF2-40B4-BE49-F238E27FC236}">
                <a16:creationId xmlns:a16="http://schemas.microsoft.com/office/drawing/2014/main" id="{2D3F78A0-276C-40A3-A679-E2BC6155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2971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808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‫מה נבדק‬</a:t>
            </a:r>
          </a:p>
        </p:txBody>
      </p:sp>
      <p:sp>
        <p:nvSpPr>
          <p:cNvPr id="11" name="slide1-card-body-0">
            <a:extLst xmlns:a="http://schemas.openxmlformats.org/drawingml/2006/main">
              <a:ext uri="{FF2B5EF4-FFF2-40B4-BE49-F238E27FC236}">
                <a16:creationId xmlns:a16="http://schemas.microsoft.com/office/drawing/2014/main" id="{8BC8D43A-0CD1-44C0-B979-10829368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2971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‫קורפוס ציבורי חיצוני‬</a:t>
            </a:r>
          </a:p>
        </p:txBody>
      </p:sp>
      <p:sp>
        <p:nvSpPr>
          <p:cNvPr id="12" name="slide1-card-1">
            <a:extLst xmlns:a="http://schemas.openxmlformats.org/drawingml/2006/main">
              <a:ext uri="{FF2B5EF4-FFF2-40B4-BE49-F238E27FC236}">
                <a16:creationId xmlns:a16="http://schemas.microsoft.com/office/drawing/2014/main" id="{92FA0552-B22B-46B4-8BA0-1152D069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00250"/>
            <a:ext cx="3314700" cy="1552575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13" name="slide1-tag-1">
            <a:extLst xmlns:a="http://schemas.openxmlformats.org/drawingml/2006/main">
              <a:ext uri="{FF2B5EF4-FFF2-40B4-BE49-F238E27FC236}">
                <a16:creationId xmlns:a16="http://schemas.microsoft.com/office/drawing/2014/main" id="{BEEF8A08-F475-46D9-8896-16EA8C65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81225"/>
            <a:ext cx="1428750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6605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 = 4 | PURPOSIVE</a:t>
            </a:r>
          </a:p>
        </p:txBody>
      </p:sp>
      <p:sp>
        <p:nvSpPr>
          <p:cNvPr id="14" name="slide1-card-title-1">
            <a:extLst xmlns:a="http://schemas.openxmlformats.org/drawingml/2006/main">
              <a:ext uri="{FF2B5EF4-FFF2-40B4-BE49-F238E27FC236}">
                <a16:creationId xmlns:a16="http://schemas.microsoft.com/office/drawing/2014/main" id="{ED65C845-C571-4F02-93A4-185216CD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2971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808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‫המדגם‬</a:t>
            </a:r>
          </a:p>
        </p:txBody>
      </p:sp>
      <p:sp>
        <p:nvSpPr>
          <p:cNvPr id="15" name="slide1-card-body-1">
            <a:extLst xmlns:a="http://schemas.openxmlformats.org/drawingml/2006/main">
              <a:ext uri="{FF2B5EF4-FFF2-40B4-BE49-F238E27FC236}">
                <a16:creationId xmlns:a16="http://schemas.microsoft.com/office/drawing/2014/main" id="{29C9DAF7-0BEE-49AD-9656-9DA4BF3B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76550"/>
            <a:ext cx="2971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‫4 מקרים שנבחרו באופן מכוון‬</a:t>
            </a:r>
          </a:p>
        </p:txBody>
      </p:sp>
      <p:sp>
        <p:nvSpPr>
          <p:cNvPr id="16" name="slide1-card-2">
            <a:extLst xmlns:a="http://schemas.openxmlformats.org/drawingml/2006/main">
              <a:ext uri="{FF2B5EF4-FFF2-40B4-BE49-F238E27FC236}">
                <a16:creationId xmlns:a16="http://schemas.microsoft.com/office/drawing/2014/main" id="{074515E9-73FC-4EE0-B536-63886B39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3314700" cy="1552575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480F"/>
            </a:solidFill>
            <a:prstDash val="solid"/>
          </a:ln>
        </p:spPr>
      </p:sp>
      <p:sp>
        <p:nvSpPr>
          <p:cNvPr id="17" name="slide1-tag-2">
            <a:extLst xmlns:a="http://schemas.openxmlformats.org/drawingml/2006/main">
              <a:ext uri="{FF2B5EF4-FFF2-40B4-BE49-F238E27FC236}">
                <a16:creationId xmlns:a16="http://schemas.microsoft.com/office/drawing/2014/main" id="{80787C3E-F171-4D0E-8355-18D616C8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428750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6605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CHEERS / PARKWISE</a:t>
            </a:r>
          </a:p>
        </p:txBody>
      </p:sp>
      <p:sp>
        <p:nvSpPr>
          <p:cNvPr id="18" name="slide1-card-title-2">
            <a:extLst xmlns:a="http://schemas.openxmlformats.org/drawingml/2006/main">
              <a:ext uri="{FF2B5EF4-FFF2-40B4-BE49-F238E27FC236}">
                <a16:creationId xmlns:a16="http://schemas.microsoft.com/office/drawing/2014/main" id="{F0BE4049-AAE0-4177-A315-1131BE5C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2971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808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‫מה לא נבדק‬</a:t>
            </a:r>
          </a:p>
        </p:txBody>
      </p:sp>
      <p:sp>
        <p:nvSpPr>
          <p:cNvPr id="19" name="slide1-card-body-2">
            <a:extLst xmlns:a="http://schemas.openxmlformats.org/drawingml/2006/main">
              <a:ext uri="{FF2B5EF4-FFF2-40B4-BE49-F238E27FC236}">
                <a16:creationId xmlns:a16="http://schemas.microsoft.com/office/drawing/2014/main" id="{23B2C48F-BC17-4E4E-B8E5-FAA2FECA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76550"/>
            <a:ext cx="2971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‫לא נתוני סטודנטים. לא מדגם מייצג.‬</a:t>
            </a:r>
          </a:p>
        </p:txBody>
      </p:sp>
      <p:sp>
        <p:nvSpPr>
          <p:cNvPr id="20" name="slide1-boundary">
            <a:extLst xmlns:a="http://schemas.openxmlformats.org/drawingml/2006/main">
              <a:ext uri="{FF2B5EF4-FFF2-40B4-BE49-F238E27FC236}">
                <a16:creationId xmlns:a16="http://schemas.microsoft.com/office/drawing/2014/main" id="{DC8C5613-3C9A-4017-8CB2-70EE6C2B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109347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F5FF"/>
          </a:solidFill>
          <a:ln xmlns:a="http://schemas.openxmlformats.org/drawingml/2006/main" w="9525">
            <a:solidFill>
              <a:srgbClr val="1864AB"/>
            </a:solidFill>
            <a:prstDash val="solid"/>
          </a:ln>
        </p:spPr>
      </p:sp>
      <p:sp>
        <p:nvSpPr>
          <p:cNvPr id="21" name="slide1-boundary-title">
            <a:extLst xmlns:a="http://schemas.openxmlformats.org/drawingml/2006/main">
              <a:ext uri="{FF2B5EF4-FFF2-40B4-BE49-F238E27FC236}">
                <a16:creationId xmlns:a16="http://schemas.microsoft.com/office/drawing/2014/main" id="{88E85938-CED5-4554-ACF7-0917FA79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1051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‫גבול הטענה‬</a:t>
            </a:r>
          </a:p>
        </p:txBody>
      </p:sp>
      <p:sp>
        <p:nvSpPr>
          <p:cNvPr id="22" name="slide1-boundary-copy">
            <a:extLst xmlns:a="http://schemas.openxmlformats.org/drawingml/2006/main">
              <a:ext uri="{FF2B5EF4-FFF2-40B4-BE49-F238E27FC236}">
                <a16:creationId xmlns:a16="http://schemas.microsoft.com/office/drawing/2014/main" id="{713F31C0-1DE3-41F7-98A9-23CFC32C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38675"/>
            <a:ext cx="10515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‫הריצה הארכיונית מתארת תהליך שנצפה בדיעבד. היא אינה מראה דיוק, תועלת, איכות, עליונות או הכללה.‬</a:t>
            </a:r>
          </a:p>
        </p:txBody>
      </p:sp>
      <p:sp>
        <p:nvSpPr>
          <p:cNvPr id="23" name="slide1-status">
            <a:extLst xmlns:a="http://schemas.openxmlformats.org/drawingml/2006/main">
              <a:ext uri="{FF2B5EF4-FFF2-40B4-BE49-F238E27FC236}">
                <a16:creationId xmlns:a16="http://schemas.microsoft.com/office/drawing/2014/main" id="{A34A3412-04B8-465D-B6B1-ABD31294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2667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04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9518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ARCHIVAL / RETROSPECTIVE DESCRIPTIVE EVIDENCE</a:t>
            </a:r>
          </a:p>
        </p:txBody>
      </p:sp>
    </p:spTree>
    <p:extLst>
      <p:ext uri="{BB962C8B-B14F-4D97-AF65-F5344CB8AC3E}">
        <p14:creationId xmlns:p14="http://schemas.microsoft.com/office/powerpoint/2010/main" val="1815538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header-2">
            <a:extLst xmlns:a="http://schemas.openxmlformats.org/drawingml/2006/main">
              <a:ext uri="{FF2B5EF4-FFF2-40B4-BE49-F238E27FC236}">
                <a16:creationId xmlns:a16="http://schemas.microsoft.com/office/drawing/2014/main" id="{F763F82A-9C1C-40A4-B4A5-6A672A53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CF020C6-AB7B-48B3-B97A-971C7548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1093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‫הזרימה מקצה לקצה‬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7E6317A0-5208-430D-9417-BE2AD3DF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AF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D9EAF7"/>
                </a:solidFill>
                <a:latin typeface="Calibri"/>
                <a:ea typeface="Calibri"/>
                <a:cs typeface="Calibri"/>
              </a:rPr>
              <a:t>‫נתונים, סוכנים, יומן Q&amp;A, כלל, ותווית בדוח‬</a:t>
            </a:r>
          </a:p>
        </p:txBody>
      </p:sp>
      <p:sp>
        <p:nvSpPr>
          <p:cNvPr id="4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73CABA1F-ED5A-49F9-BF26-FFC750FE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F022C5D2-B399-4D6A-B57A-57A1A44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10934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‫מחקר 1 | AirTravel | שקופית 2 מתוך 6‬</a:t>
            </a:r>
          </a:p>
        </p:txBody>
      </p:sp>
      <p:sp>
        <p:nvSpPr>
          <p:cNvPr id="6" name="slide2-copy">
            <a:extLst xmlns:a="http://schemas.openxmlformats.org/drawingml/2006/main">
              <a:ext uri="{FF2B5EF4-FFF2-40B4-BE49-F238E27FC236}">
                <a16:creationId xmlns:a16="http://schemas.microsoft.com/office/drawing/2014/main" id="{4EDC1147-890E-4FE8-9569-39E7CC1D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934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‫התהליך מתועד. הוא אינו מתקן מקור, יעד, הנחיה או מודל.‬</a:t>
            </a:r>
          </a:p>
        </p:txBody>
      </p:sp>
      <p:sp>
        <p:nvSpPr>
          <p:cNvPr id="7" name="slide2-step-0">
            <a:extLst xmlns:a="http://schemas.openxmlformats.org/drawingml/2006/main">
              <a:ext uri="{FF2B5EF4-FFF2-40B4-BE49-F238E27FC236}">
                <a16:creationId xmlns:a16="http://schemas.microsoft.com/office/drawing/2014/main" id="{E16CF197-0822-46E0-AEC3-00F9466B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5621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8A3E"/>
            </a:solidFill>
            <a:prstDash val="solid"/>
          </a:ln>
        </p:spPr>
      </p:sp>
      <p:sp>
        <p:nvSpPr>
          <p:cNvPr id="8" name="slide2-circle-0">
            <a:extLst xmlns:a="http://schemas.openxmlformats.org/drawingml/2006/main">
              <a:ext uri="{FF2B5EF4-FFF2-40B4-BE49-F238E27FC236}">
                <a16:creationId xmlns:a16="http://schemas.microsoft.com/office/drawing/2014/main" id="{B023257E-4F67-4483-8046-27F220A5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24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A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lide2-token-0">
            <a:extLst xmlns:a="http://schemas.openxmlformats.org/drawingml/2006/main">
              <a:ext uri="{FF2B5EF4-FFF2-40B4-BE49-F238E27FC236}">
                <a16:creationId xmlns:a16="http://schemas.microsoft.com/office/drawing/2014/main" id="{7111F331-B820-4CBF-B00F-CC33B29B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4765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LABEL</a:t>
            </a:r>
          </a:p>
        </p:txBody>
      </p:sp>
      <p:sp>
        <p:nvSpPr>
          <p:cNvPr id="10" name="slide2-label-0">
            <a:extLst xmlns:a="http://schemas.openxmlformats.org/drawingml/2006/main">
              <a:ext uri="{FF2B5EF4-FFF2-40B4-BE49-F238E27FC236}">
                <a16:creationId xmlns:a16="http://schemas.microsoft.com/office/drawing/2014/main" id="{FDF5A49B-BD23-41D4-8C1B-BB92C8EB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‫תווית בדוח‬</a:t>
            </a:r>
          </a:p>
        </p:txBody>
      </p:sp>
      <p:sp>
        <p:nvSpPr>
          <p:cNvPr id="11" name="slide2-step-1">
            <a:extLst xmlns:a="http://schemas.openxmlformats.org/drawingml/2006/main">
              <a:ext uri="{FF2B5EF4-FFF2-40B4-BE49-F238E27FC236}">
                <a16:creationId xmlns:a16="http://schemas.microsoft.com/office/drawing/2014/main" id="{87508583-388A-4ED2-99D3-489EE454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52650"/>
            <a:ext cx="15621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480F"/>
            </a:solidFill>
            <a:prstDash val="solid"/>
          </a:ln>
        </p:spPr>
      </p:sp>
      <p:sp>
        <p:nvSpPr>
          <p:cNvPr id="12" name="slide2-circle-1">
            <a:extLst xmlns:a="http://schemas.openxmlformats.org/drawingml/2006/main">
              <a:ext uri="{FF2B5EF4-FFF2-40B4-BE49-F238E27FC236}">
                <a16:creationId xmlns:a16="http://schemas.microsoft.com/office/drawing/2014/main" id="{8779C5C6-D6A0-4C23-9BDF-80E2FDF0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24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lide2-token-1">
            <a:extLst xmlns:a="http://schemas.openxmlformats.org/drawingml/2006/main">
              <a:ext uri="{FF2B5EF4-FFF2-40B4-BE49-F238E27FC236}">
                <a16:creationId xmlns:a16="http://schemas.microsoft.com/office/drawing/2014/main" id="{C36AB722-DB4C-4D1E-9E1F-48911FC8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765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RULE</a:t>
            </a:r>
          </a:p>
        </p:txBody>
      </p:sp>
      <p:sp>
        <p:nvSpPr>
          <p:cNvPr id="14" name="slide2-label-1">
            <a:extLst xmlns:a="http://schemas.openxmlformats.org/drawingml/2006/main">
              <a:ext uri="{FF2B5EF4-FFF2-40B4-BE49-F238E27FC236}">
                <a16:creationId xmlns:a16="http://schemas.microsoft.com/office/drawing/2014/main" id="{F3E11A96-197F-4266-A501-FAABC12F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90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‫כלל ההתראה‬</a:t>
            </a:r>
          </a:p>
        </p:txBody>
      </p:sp>
      <p:sp>
        <p:nvSpPr>
          <p:cNvPr id="15" name="slide2-step-2">
            <a:extLst xmlns:a="http://schemas.openxmlformats.org/drawingml/2006/main">
              <a:ext uri="{FF2B5EF4-FFF2-40B4-BE49-F238E27FC236}">
                <a16:creationId xmlns:a16="http://schemas.microsoft.com/office/drawing/2014/main" id="{65601697-EDA2-400F-833E-6636FC68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52650"/>
            <a:ext cx="15621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8E8"/>
            </a:solidFill>
            <a:prstDash val="solid"/>
          </a:ln>
        </p:spPr>
      </p:sp>
      <p:sp>
        <p:nvSpPr>
          <p:cNvPr id="16" name="slide2-circle-2">
            <a:extLst xmlns:a="http://schemas.openxmlformats.org/drawingml/2006/main">
              <a:ext uri="{FF2B5EF4-FFF2-40B4-BE49-F238E27FC236}">
                <a16:creationId xmlns:a16="http://schemas.microsoft.com/office/drawing/2014/main" id="{4FF15634-9BC7-4DB8-86A6-0992FCFA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24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lide2-token-2">
            <a:extLst xmlns:a="http://schemas.openxmlformats.org/drawingml/2006/main">
              <a:ext uri="{FF2B5EF4-FFF2-40B4-BE49-F238E27FC236}">
                <a16:creationId xmlns:a16="http://schemas.microsoft.com/office/drawing/2014/main" id="{00C00E1A-6612-4955-A45A-D1382B9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4765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LOG</a:t>
            </a:r>
          </a:p>
        </p:txBody>
      </p:sp>
      <p:sp>
        <p:nvSpPr>
          <p:cNvPr id="18" name="slide2-label-2">
            <a:extLst xmlns:a="http://schemas.openxmlformats.org/drawingml/2006/main">
              <a:ext uri="{FF2B5EF4-FFF2-40B4-BE49-F238E27FC236}">
                <a16:creationId xmlns:a16="http://schemas.microsoft.com/office/drawing/2014/main" id="{070C0426-314B-4E2A-80A2-2AB3AFE5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‫יומן Q&amp;A‬</a:t>
            </a:r>
          </a:p>
        </p:txBody>
      </p:sp>
      <p:sp>
        <p:nvSpPr>
          <p:cNvPr id="19" name="slide2-step-3">
            <a:extLst xmlns:a="http://schemas.openxmlformats.org/drawingml/2006/main">
              <a:ext uri="{FF2B5EF4-FFF2-40B4-BE49-F238E27FC236}">
                <a16:creationId xmlns:a16="http://schemas.microsoft.com/office/drawing/2014/main" id="{1A30B141-5822-4D95-83F6-3879D909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5621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20" name="slide2-circle-3">
            <a:extLst xmlns:a="http://schemas.openxmlformats.org/drawingml/2006/main">
              <a:ext uri="{FF2B5EF4-FFF2-40B4-BE49-F238E27FC236}">
                <a16:creationId xmlns:a16="http://schemas.microsoft.com/office/drawing/2014/main" id="{653FD959-76BC-46BF-80F2-80DF6AD9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24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lide2-token-3">
            <a:extLst xmlns:a="http://schemas.openxmlformats.org/drawingml/2006/main">
              <a:ext uri="{FF2B5EF4-FFF2-40B4-BE49-F238E27FC236}">
                <a16:creationId xmlns:a16="http://schemas.microsoft.com/office/drawing/2014/main" id="{BF5FFECE-81EB-4243-9A9B-E7F2FE6D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4765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88772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AGENTS</a:t>
            </a:r>
          </a:p>
        </p:txBody>
      </p:sp>
      <p:sp>
        <p:nvSpPr>
          <p:cNvPr id="22" name="slide2-label-3">
            <a:extLst xmlns:a="http://schemas.openxmlformats.org/drawingml/2006/main">
              <a:ext uri="{FF2B5EF4-FFF2-40B4-BE49-F238E27FC236}">
                <a16:creationId xmlns:a16="http://schemas.microsoft.com/office/drawing/2014/main" id="{7FFCBE12-CDEF-47F8-BA1A-69793550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‫סוכני המערכת‬</a:t>
            </a:r>
          </a:p>
        </p:txBody>
      </p:sp>
      <p:sp>
        <p:nvSpPr>
          <p:cNvPr id="23" name="slide2-step-4">
            <a:extLst xmlns:a="http://schemas.openxmlformats.org/drawingml/2006/main">
              <a:ext uri="{FF2B5EF4-FFF2-40B4-BE49-F238E27FC236}">
                <a16:creationId xmlns:a16="http://schemas.microsoft.com/office/drawing/2014/main" id="{315F2695-0807-44AE-A908-ED9F73CA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52650"/>
            <a:ext cx="15621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64AB"/>
            </a:solidFill>
            <a:prstDash val="solid"/>
          </a:ln>
        </p:spPr>
      </p:sp>
      <p:sp>
        <p:nvSpPr>
          <p:cNvPr id="24" name="slide2-circle-4">
            <a:extLst xmlns:a="http://schemas.openxmlformats.org/drawingml/2006/main">
              <a:ext uri="{FF2B5EF4-FFF2-40B4-BE49-F238E27FC236}">
                <a16:creationId xmlns:a16="http://schemas.microsoft.com/office/drawing/2014/main" id="{249BAAF6-C1DC-4311-BC94-7005BB68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24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64A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lide2-token-4">
            <a:extLst xmlns:a="http://schemas.openxmlformats.org/drawingml/2006/main">
              <a:ext uri="{FF2B5EF4-FFF2-40B4-BE49-F238E27FC236}">
                <a16:creationId xmlns:a16="http://schemas.microsoft.com/office/drawing/2014/main" id="{7A36EB75-EABB-4994-86F2-7E0EB464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4765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</a:t>
            </a:r>
          </a:p>
        </p:txBody>
      </p:sp>
      <p:sp>
        <p:nvSpPr>
          <p:cNvPr id="26" name="slide2-label-4">
            <a:extLst xmlns:a="http://schemas.openxmlformats.org/drawingml/2006/main">
              <a:ext uri="{FF2B5EF4-FFF2-40B4-BE49-F238E27FC236}">
                <a16:creationId xmlns:a16="http://schemas.microsoft.com/office/drawing/2014/main" id="{9513212E-2676-44C4-B467-D450F0C2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90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‫נתוני הקורפוס‬</a:t>
            </a:r>
          </a:p>
        </p:txBody>
      </p:sp>
      <p:cxnSp>
        <p:nvCxnSpPr>
          <p:cNvPr id="6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14600" y="29051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64AB"/>
            </a:solidFill>
            <a:prstDash val="solid"/>
            <a:head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610100" y="29051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64AB"/>
            </a:solidFill>
            <a:prstDash val="solid"/>
            <a:head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705600" y="29051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64AB"/>
            </a:solidFill>
            <a:prstDash val="solid"/>
            <a:head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801100" y="29051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64AB"/>
            </a:solidFill>
            <a:prstDash val="solid"/>
            <a:headEnd type="arrow" w="med" len="med"/>
          </a:ln>
        </p:spPr>
      </p:cxnSp>
      <p:sp>
        <p:nvSpPr>
          <p:cNvPr id="31" name="slide2-bottom">
            <a:extLst xmlns:a="http://schemas.openxmlformats.org/drawingml/2006/main">
              <a:ext uri="{FF2B5EF4-FFF2-40B4-BE49-F238E27FC236}">
                <a16:creationId xmlns:a16="http://schemas.microsoft.com/office/drawing/2014/main" id="{27B96B58-5206-4FD3-A98D-46200B18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10934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3FAFC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32" name="slide2-marker-0">
            <a:extLst xmlns:a="http://schemas.openxmlformats.org/drawingml/2006/main">
              <a:ext uri="{FF2B5EF4-FFF2-40B4-BE49-F238E27FC236}">
                <a16:creationId xmlns:a16="http://schemas.microsoft.com/office/drawing/2014/main" id="{A8E73354-8A98-47E0-94E8-DEFC9067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95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lide2-row-0">
            <a:extLst xmlns:a="http://schemas.openxmlformats.org/drawingml/2006/main">
              <a:ext uri="{FF2B5EF4-FFF2-40B4-BE49-F238E27FC236}">
                <a16:creationId xmlns:a16="http://schemas.microsoft.com/office/drawing/2014/main" id="{F9AD7381-1E73-4342-B561-BCD02974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42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‫מתועדים: סוכן שואל, סוכן משיב, שאלה, תשובה, סבב וסיום אפיזודה.‬</a:t>
            </a:r>
          </a:p>
        </p:txBody>
      </p:sp>
      <p:sp>
        <p:nvSpPr>
          <p:cNvPr id="34" name="slide2-marker-1">
            <a:extLst xmlns:a="http://schemas.openxmlformats.org/drawingml/2006/main">
              <a:ext uri="{FF2B5EF4-FFF2-40B4-BE49-F238E27FC236}">
                <a16:creationId xmlns:a16="http://schemas.microsoft.com/office/drawing/2014/main" id="{4D7047A0-1535-4376-BAD8-533B4138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933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lide2-row-1">
            <a:extLst xmlns:a="http://schemas.openxmlformats.org/drawingml/2006/main">
              <a:ext uri="{FF2B5EF4-FFF2-40B4-BE49-F238E27FC236}">
                <a16:creationId xmlns:a16="http://schemas.microsoft.com/office/drawing/2014/main" id="{FB3232EE-17F0-48B7-891A-0C703168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42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‫הכלל משתמש באותות Q&amp;A קפואים בלבד.‬</a:t>
            </a:r>
          </a:p>
        </p:txBody>
      </p:sp>
      <p:sp>
        <p:nvSpPr>
          <p:cNvPr id="36" name="slide2-marker-2">
            <a:extLst xmlns:a="http://schemas.openxmlformats.org/drawingml/2006/main">
              <a:ext uri="{FF2B5EF4-FFF2-40B4-BE49-F238E27FC236}">
                <a16:creationId xmlns:a16="http://schemas.microsoft.com/office/drawing/2014/main" id="{53D41209-1D2D-4943-8EC3-F0FBE7D7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72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slide2-row-2">
            <a:extLst xmlns:a="http://schemas.openxmlformats.org/drawingml/2006/main">
              <a:ext uri="{FF2B5EF4-FFF2-40B4-BE49-F238E27FC236}">
                <a16:creationId xmlns:a16="http://schemas.microsoft.com/office/drawing/2014/main" id="{B0274009-49C6-4934-95F2-F1D99846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042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‫הפלט הוא תווית בדוח בלבד.‬</a:t>
            </a:r>
          </a:p>
        </p:txBody>
      </p:sp>
    </p:spTree>
    <p:extLst>
      <p:ext uri="{BB962C8B-B14F-4D97-AF65-F5344CB8AC3E}">
        <p14:creationId xmlns:p14="http://schemas.microsoft.com/office/powerpoint/2010/main" val="640302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3">
            <a:extLst xmlns:a="http://schemas.openxmlformats.org/drawingml/2006/main">
              <a:ext uri="{FF2B5EF4-FFF2-40B4-BE49-F238E27FC236}">
                <a16:creationId xmlns:a16="http://schemas.microsoft.com/office/drawing/2014/main" id="{440558E3-DA7C-46DA-9173-4FFE5EA8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CF998BD-B189-4160-A0A0-B6545E73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1093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‫איזה יומן משמש למה‬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3B2CD09E-9321-4EF4-9161-9D9DC87A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AF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D9EAF7"/>
                </a:solidFill>
                <a:latin typeface="Calibri"/>
                <a:ea typeface="Calibri"/>
                <a:cs typeface="Calibri"/>
              </a:rPr>
              <a:t>‫מקור השיח, עקבת מודל אפשרית, ביקורת ממשק ומנגנון שונות‬</a:t>
            </a:r>
          </a:p>
        </p:txBody>
      </p:sp>
      <p:sp>
        <p:nvSpPr>
          <p:cNvPr id="4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F795709D-BF51-4D83-BAD5-370B9B0B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ADCF438D-94C0-46D3-952C-623C6C34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10934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‫מחקר 1 | AirTravel | שקופית 3 מתוך 6‬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28650" y="1190625"/>
          <a:ext xmlns:a="http://schemas.openxmlformats.org/drawingml/2006/main" cx="10934700" cy="25050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3857625"/>
                <a:gridCol w="3590925"/>
              </a:tblGrid>
              <a:tr h="501015">
                <a:tc>
                  <a:txBody>
                    <a:bodyPr/>
                    <a:lstStyle/>
                    <a:p>
                      <a:r>
                        <a:t>‫שימוש בדוח‬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‫מה הוא מתעד‬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יומן</a:t>
                      </a:r>
                    </a:p>
                  </a:txBody>
                  <a:tcPr marL="91440" marR="91440" marT="45720" marB="45720"/>
                </a:tc>
              </a:tr>
              <a:tr h="501015">
                <a:tc>
                  <a:txBody>
                    <a:bodyPr/>
                    <a:lstStyle/>
                    <a:p>
                      <a:r>
                        <a:t>‫מקור השיח כאשר הוא מאומת‬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‫שאלות, תשובות, סבבים וסיום אפיזודה‬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qa_events.jsonl</a:t>
                      </a:r>
                    </a:p>
                  </a:txBody>
                  <a:tcPr marL="91440" marR="91440" marT="45720" marB="45720"/>
                </a:tc>
              </a:tr>
              <a:tr h="501015">
                <a:tc>
                  <a:txBody>
                    <a:bodyPr/>
                    <a:lstStyle/>
                    <a:p>
                      <a:r>
                        <a:t>‫עקבת מודל אפשרית בלבד‬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‫עקבת מודל אפשרית. אינה מקור לכלל‬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interaction_log.json</a:t>
                      </a:r>
                    </a:p>
                  </a:txBody>
                  <a:tcPr marL="91440" marR="91440" marT="45720" marB="45720"/>
                </a:tc>
              </a:tr>
              <a:tr h="501015">
                <a:tc>
                  <a:txBody>
                    <a:bodyPr/>
                    <a:lstStyle/>
                    <a:p>
                      <a:r>
                        <a:t>‫ביקורת ממשק בלבד‬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‫פעולות ממשק. אינו מקור לשיח‬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user_actions.log</a:t>
                      </a:r>
                    </a:p>
                  </a:txBody>
                  <a:tcPr marL="91440" marR="91440" marT="45720" marB="45720"/>
                </a:tc>
              </a:tr>
              <a:tr h="501015">
                <a:tc>
                  <a:txBody>
                    <a:bodyPr/>
                    <a:lstStyle/>
                    <a:p>
                      <a:r>
                        <a:t>‫מנגנון שונות נפרד‬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‫סיווג שונות נפרד. אינו קלט לכלל‬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Agent-4 output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slide3-alert">
            <a:extLst xmlns:a="http://schemas.openxmlformats.org/drawingml/2006/main">
              <a:ext uri="{FF2B5EF4-FFF2-40B4-BE49-F238E27FC236}">
                <a16:creationId xmlns:a16="http://schemas.microsoft.com/office/drawing/2014/main" id="{50558EFF-41A6-4FE1-89FA-1CABDEF0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109347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BFBEE"/>
          </a:solidFill>
          <a:ln xmlns:a="http://schemas.openxmlformats.org/drawingml/2006/main" w="9525">
            <a:solidFill>
              <a:srgbClr val="2B8A3E"/>
            </a:solidFill>
            <a:prstDash val="solid"/>
          </a:ln>
        </p:spPr>
      </p:sp>
      <p:sp>
        <p:nvSpPr>
          <p:cNvPr id="8" name="slide3-alert-title">
            <a:extLst xmlns:a="http://schemas.openxmlformats.org/drawingml/2006/main">
              <a:ext uri="{FF2B5EF4-FFF2-40B4-BE49-F238E27FC236}">
                <a16:creationId xmlns:a16="http://schemas.microsoft.com/office/drawing/2014/main" id="{74FDCC4C-AF54-46F3-B4D7-1DDC3FFC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1047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‫מה פירוש התראה‬</a:t>
            </a:r>
          </a:p>
        </p:txBody>
      </p:sp>
      <p:sp>
        <p:nvSpPr>
          <p:cNvPr id="9" name="slide3-alert-text">
            <a:extLst xmlns:a="http://schemas.openxmlformats.org/drawingml/2006/main">
              <a:ext uri="{FF2B5EF4-FFF2-40B4-BE49-F238E27FC236}">
                <a16:creationId xmlns:a16="http://schemas.microsoft.com/office/drawing/2014/main" id="{351EB852-D000-4D7B-98EA-CD5C4418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B8A3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B8A3E"/>
                </a:solidFill>
                <a:latin typeface="Calibri"/>
                <a:ea typeface="Calibri"/>
                <a:cs typeface="Calibri"/>
              </a:rPr>
              <a:t>‫התראה = מועמד לבדיקה אנושית בדוח.‬</a:t>
            </a:r>
          </a:p>
        </p:txBody>
      </p:sp>
      <p:sp>
        <p:nvSpPr>
          <p:cNvPr id="10" name="slide3-alert-boundary">
            <a:extLst xmlns:a="http://schemas.openxmlformats.org/drawingml/2006/main">
              <a:ext uri="{FF2B5EF4-FFF2-40B4-BE49-F238E27FC236}">
                <a16:creationId xmlns:a16="http://schemas.microsoft.com/office/drawing/2014/main" id="{89D1815F-17E9-41B0-B86C-B0AA26FE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1047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‫היא אינה שגיאה, אינה הוכחת תועלת, ואינה תיקון אוטומטי.‬</a:t>
            </a:r>
          </a:p>
        </p:txBody>
      </p:sp>
    </p:spTree>
    <p:extLst>
      <p:ext uri="{BB962C8B-B14F-4D97-AF65-F5344CB8AC3E}">
        <p14:creationId xmlns:p14="http://schemas.microsoft.com/office/powerpoint/2010/main" val="1204354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header-4">
            <a:extLst xmlns:a="http://schemas.openxmlformats.org/drawingml/2006/main">
              <a:ext uri="{FF2B5EF4-FFF2-40B4-BE49-F238E27FC236}">
                <a16:creationId xmlns:a16="http://schemas.microsoft.com/office/drawing/2014/main" id="{08073C06-7C5B-41AA-BAE7-8D1CF353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4DBF760-61F4-43AB-9281-B81512C2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1093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‫מה הכלל עושה‬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BE9615A0-B629-42B1-9785-A34C9BA4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AF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D9EAF7"/>
                </a:solidFill>
                <a:latin typeface="Calibri"/>
                <a:ea typeface="Calibri"/>
                <a:cs typeface="Calibri"/>
              </a:rPr>
              <a:t>‫כלל ההתראה מסווג אפיזודת שיח כתווית דיווח בלבד‬</a:t>
            </a:r>
          </a:p>
        </p:txBody>
      </p:sp>
      <p:sp>
        <p:nvSpPr>
          <p:cNvPr id="4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F0EE65AA-835E-452C-B417-C3FA6BF9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B3FD8848-A513-45C1-AA3D-442350E7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10934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‫מחקר 1 | AirTravel | שקופית 4 מתוך 6‬</a:t>
            </a:r>
          </a:p>
        </p:txBody>
      </p:sp>
      <p:sp>
        <p:nvSpPr>
          <p:cNvPr id="6" name="slide4-strong">
            <a:extLst xmlns:a="http://schemas.openxmlformats.org/drawingml/2006/main">
              <a:ext uri="{FF2B5EF4-FFF2-40B4-BE49-F238E27FC236}">
                <a16:creationId xmlns:a16="http://schemas.microsoft.com/office/drawing/2014/main" id="{83F1EDF4-21EE-40D9-96D5-1B45394A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47775"/>
            <a:ext cx="33337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C92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STRONG_ALERT = S1 OR S3 OR S7</a:t>
            </a:r>
          </a:p>
        </p:txBody>
      </p:sp>
      <p:sp>
        <p:nvSpPr>
          <p:cNvPr id="7" name="slide4-weak">
            <a:extLst xmlns:a="http://schemas.openxmlformats.org/drawingml/2006/main">
              <a:ext uri="{FF2B5EF4-FFF2-40B4-BE49-F238E27FC236}">
                <a16:creationId xmlns:a16="http://schemas.microsoft.com/office/drawing/2014/main" id="{356B644E-56E2-454E-9B17-E8511739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47775"/>
            <a:ext cx="40005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WEAK_ALERT = no strong AND (S2 OR S6)</a:t>
            </a:r>
          </a:p>
        </p:txBody>
      </p:sp>
      <p:sp>
        <p:nvSpPr>
          <p:cNvPr id="8" name="slide4-none">
            <a:extLst xmlns:a="http://schemas.openxmlformats.org/drawingml/2006/main">
              <a:ext uri="{FF2B5EF4-FFF2-40B4-BE49-F238E27FC236}">
                <a16:creationId xmlns:a16="http://schemas.microsoft.com/office/drawing/2014/main" id="{51CFF283-D1AA-4D81-A5DA-27CB3F27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247775"/>
            <a:ext cx="24765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627D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NO_ALERT = otherwise</a:t>
            </a:r>
          </a:p>
        </p:txBody>
      </p:sp>
      <p:sp>
        <p:nvSpPr>
          <p:cNvPr id="9" name="slide4-signal-0">
            <a:extLst xmlns:a="http://schemas.openxmlformats.org/drawingml/2006/main">
              <a:ext uri="{FF2B5EF4-FFF2-40B4-BE49-F238E27FC236}">
                <a16:creationId xmlns:a16="http://schemas.microsoft.com/office/drawing/2014/main" id="{2681C04A-4D6A-476D-8FE2-242161E1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95500"/>
            <a:ext cx="18478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A2A"/>
            </a:solidFill>
            <a:prstDash val="solid"/>
          </a:ln>
        </p:spPr>
      </p:sp>
      <p:sp>
        <p:nvSpPr>
          <p:cNvPr id="10" name="slide4-signal-tag-0">
            <a:extLst xmlns:a="http://schemas.openxmlformats.org/drawingml/2006/main">
              <a:ext uri="{FF2B5EF4-FFF2-40B4-BE49-F238E27FC236}">
                <a16:creationId xmlns:a16="http://schemas.microsoft.com/office/drawing/2014/main" id="{17CDA4B8-24B6-4212-A636-E3E5DFA6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000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C92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843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S1</a:t>
            </a:r>
          </a:p>
        </p:txBody>
      </p:sp>
      <p:sp>
        <p:nvSpPr>
          <p:cNvPr id="11" name="slide4-signal-copy-0">
            <a:extLst xmlns:a="http://schemas.openxmlformats.org/drawingml/2006/main">
              <a:ext uri="{FF2B5EF4-FFF2-40B4-BE49-F238E27FC236}">
                <a16:creationId xmlns:a16="http://schemas.microsoft.com/office/drawing/2014/main" id="{739CE01E-AC7B-4E07-AA50-FAE59779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‫ביטחון נמוך שדווח על ידי המודל‬</a:t>
            </a:r>
          </a:p>
        </p:txBody>
      </p:sp>
      <p:sp>
        <p:nvSpPr>
          <p:cNvPr id="12" name="slide4-signal-1">
            <a:extLst xmlns:a="http://schemas.openxmlformats.org/drawingml/2006/main">
              <a:ext uri="{FF2B5EF4-FFF2-40B4-BE49-F238E27FC236}">
                <a16:creationId xmlns:a16="http://schemas.microsoft.com/office/drawing/2014/main" id="{199DD1A9-9A47-4B7B-B882-57271ADE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95500"/>
            <a:ext cx="18478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A2A"/>
            </a:solidFill>
            <a:prstDash val="solid"/>
          </a:ln>
        </p:spPr>
      </p:sp>
      <p:sp>
        <p:nvSpPr>
          <p:cNvPr id="13" name="slide4-signal-tag-1">
            <a:extLst xmlns:a="http://schemas.openxmlformats.org/drawingml/2006/main">
              <a:ext uri="{FF2B5EF4-FFF2-40B4-BE49-F238E27FC236}">
                <a16:creationId xmlns:a16="http://schemas.microsoft.com/office/drawing/2014/main" id="{EF41A9C8-4F8D-4AA9-BE4A-FCB41AB7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86000"/>
            <a:ext cx="4000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C92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843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S3</a:t>
            </a:r>
          </a:p>
        </p:txBody>
      </p:sp>
      <p:sp>
        <p:nvSpPr>
          <p:cNvPr id="14" name="slide4-signal-copy-1">
            <a:extLst xmlns:a="http://schemas.openxmlformats.org/drawingml/2006/main">
              <a:ext uri="{FF2B5EF4-FFF2-40B4-BE49-F238E27FC236}">
                <a16:creationId xmlns:a16="http://schemas.microsoft.com/office/drawing/2014/main" id="{6BD6F07D-583A-4453-A028-D1938E0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8605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‫ראיה ריקה או חסרה בלבד‬</a:t>
            </a:r>
          </a:p>
        </p:txBody>
      </p:sp>
      <p:sp>
        <p:nvSpPr>
          <p:cNvPr id="15" name="slide4-signal-2">
            <a:extLst xmlns:a="http://schemas.openxmlformats.org/drawingml/2006/main">
              <a:ext uri="{FF2B5EF4-FFF2-40B4-BE49-F238E27FC236}">
                <a16:creationId xmlns:a16="http://schemas.microsoft.com/office/drawing/2014/main" id="{E4DDE92F-C372-4174-928B-4F9433B5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95500"/>
            <a:ext cx="18478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A2A"/>
            </a:solidFill>
            <a:prstDash val="solid"/>
          </a:ln>
        </p:spPr>
      </p:sp>
      <p:sp>
        <p:nvSpPr>
          <p:cNvPr id="16" name="slide4-signal-tag-2">
            <a:extLst xmlns:a="http://schemas.openxmlformats.org/drawingml/2006/main">
              <a:ext uri="{FF2B5EF4-FFF2-40B4-BE49-F238E27FC236}">
                <a16:creationId xmlns:a16="http://schemas.microsoft.com/office/drawing/2014/main" id="{1735E47E-F617-4E3E-A1EB-84C91E50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86000"/>
            <a:ext cx="4000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C92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843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S7</a:t>
            </a:r>
          </a:p>
        </p:txBody>
      </p:sp>
      <p:sp>
        <p:nvSpPr>
          <p:cNvPr id="17" name="slide4-signal-copy-2">
            <a:extLst xmlns:a="http://schemas.openxmlformats.org/drawingml/2006/main">
              <a:ext uri="{FF2B5EF4-FFF2-40B4-BE49-F238E27FC236}">
                <a16:creationId xmlns:a16="http://schemas.microsoft.com/office/drawing/2014/main" id="{8943685E-02EC-4F13-94B1-6BC2AA46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‫סיום במגבלת סבבים‬</a:t>
            </a:r>
          </a:p>
        </p:txBody>
      </p:sp>
      <p:sp>
        <p:nvSpPr>
          <p:cNvPr id="18" name="slide4-signal-3">
            <a:extLst xmlns:a="http://schemas.openxmlformats.org/drawingml/2006/main">
              <a:ext uri="{FF2B5EF4-FFF2-40B4-BE49-F238E27FC236}">
                <a16:creationId xmlns:a16="http://schemas.microsoft.com/office/drawing/2014/main" id="{09B3F114-796E-4BDE-98CC-6E71045C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095500"/>
            <a:ext cx="18478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480F"/>
            </a:solidFill>
            <a:prstDash val="solid"/>
          </a:ln>
        </p:spPr>
      </p:sp>
      <p:sp>
        <p:nvSpPr>
          <p:cNvPr id="19" name="slide4-signal-tag-3">
            <a:extLst xmlns:a="http://schemas.openxmlformats.org/drawingml/2006/main">
              <a:ext uri="{FF2B5EF4-FFF2-40B4-BE49-F238E27FC236}">
                <a16:creationId xmlns:a16="http://schemas.microsoft.com/office/drawing/2014/main" id="{E40A29DB-AD08-4CD1-94D9-91D00AA9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86000"/>
            <a:ext cx="4000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843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S2</a:t>
            </a:r>
          </a:p>
        </p:txBody>
      </p:sp>
      <p:sp>
        <p:nvSpPr>
          <p:cNvPr id="20" name="slide4-signal-copy-3">
            <a:extLst xmlns:a="http://schemas.openxmlformats.org/drawingml/2006/main">
              <a:ext uri="{FF2B5EF4-FFF2-40B4-BE49-F238E27FC236}">
                <a16:creationId xmlns:a16="http://schemas.microsoft.com/office/drawing/2014/main" id="{B64903FD-B1AE-431C-8D00-2A7BEAE2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8605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‫ביטחון בינוני שדווח על ידי המודל‬</a:t>
            </a:r>
          </a:p>
        </p:txBody>
      </p:sp>
      <p:sp>
        <p:nvSpPr>
          <p:cNvPr id="21" name="slide4-signal-4">
            <a:extLst xmlns:a="http://schemas.openxmlformats.org/drawingml/2006/main">
              <a:ext uri="{FF2B5EF4-FFF2-40B4-BE49-F238E27FC236}">
                <a16:creationId xmlns:a16="http://schemas.microsoft.com/office/drawing/2014/main" id="{BAED0B6F-4278-4F7E-9A59-A47B2B2C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95500"/>
            <a:ext cx="18478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480F"/>
            </a:solidFill>
            <a:prstDash val="solid"/>
          </a:ln>
        </p:spPr>
      </p:sp>
      <p:sp>
        <p:nvSpPr>
          <p:cNvPr id="22" name="slide4-signal-tag-4">
            <a:extLst xmlns:a="http://schemas.openxmlformats.org/drawingml/2006/main">
              <a:ext uri="{FF2B5EF4-FFF2-40B4-BE49-F238E27FC236}">
                <a16:creationId xmlns:a16="http://schemas.microsoft.com/office/drawing/2014/main" id="{74B0B0FB-3502-4B42-8795-DD1126BC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86000"/>
            <a:ext cx="4000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843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S6</a:t>
            </a:r>
          </a:p>
        </p:txBody>
      </p:sp>
      <p:sp>
        <p:nvSpPr>
          <p:cNvPr id="23" name="slide4-signal-copy-4">
            <a:extLst xmlns:a="http://schemas.openxmlformats.org/drawingml/2006/main">
              <a:ext uri="{FF2B5EF4-FFF2-40B4-BE49-F238E27FC236}">
                <a16:creationId xmlns:a16="http://schemas.microsoft.com/office/drawing/2014/main" id="{F7EF42AD-EFEE-427C-8A34-701442CA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8605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‫יותר מסבב אחד‬</a:t>
            </a:r>
          </a:p>
        </p:txBody>
      </p:sp>
      <p:sp>
        <p:nvSpPr>
          <p:cNvPr id="24" name="slide4-boundary">
            <a:extLst xmlns:a="http://schemas.openxmlformats.org/drawingml/2006/main">
              <a:ext uri="{FF2B5EF4-FFF2-40B4-BE49-F238E27FC236}">
                <a16:creationId xmlns:a16="http://schemas.microsoft.com/office/drawing/2014/main" id="{8D038DB4-77F1-4348-B10A-08BDF0C2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9480F"/>
            </a:solidFill>
            <a:prstDash val="solid"/>
          </a:ln>
        </p:spPr>
      </p:sp>
      <p:sp>
        <p:nvSpPr>
          <p:cNvPr id="25" name="slide4-boundary-title">
            <a:extLst xmlns:a="http://schemas.openxmlformats.org/drawingml/2006/main">
              <a:ext uri="{FF2B5EF4-FFF2-40B4-BE49-F238E27FC236}">
                <a16:creationId xmlns:a16="http://schemas.microsoft.com/office/drawing/2014/main" id="{0A376114-B675-43AF-99BC-D28A925F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‫מה לא מפעיל התראה‬</a:t>
            </a:r>
          </a:p>
        </p:txBody>
      </p:sp>
      <p:sp>
        <p:nvSpPr>
          <p:cNvPr id="26" name="slide4-context-tag">
            <a:extLst xmlns:a="http://schemas.openxmlformats.org/drawingml/2006/main">
              <a:ext uri="{FF2B5EF4-FFF2-40B4-BE49-F238E27FC236}">
                <a16:creationId xmlns:a16="http://schemas.microsoft.com/office/drawing/2014/main" id="{3318E015-8415-4C0A-899F-4EF97B0D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22860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627D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80682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C1 / C2 / C3 = CONTEXT ONLY</a:t>
            </a:r>
          </a:p>
        </p:txBody>
      </p:sp>
      <p:sp>
        <p:nvSpPr>
          <p:cNvPr id="27" name="slide4-boundary-copy">
            <a:extLst xmlns:a="http://schemas.openxmlformats.org/drawingml/2006/main">
              <a:ext uri="{FF2B5EF4-FFF2-40B4-BE49-F238E27FC236}">
                <a16:creationId xmlns:a16="http://schemas.microsoft.com/office/drawing/2014/main" id="{E0B45CD7-126C-458F-9469-A0F999A9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81525"/>
            <a:ext cx="8077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‫משתני הקשר ופלטי מיפוי סמנטי אינם אותות לכלל. S3 מתייחס לקיום או לאורך שדה ראיה בלבד, ולא לאיכות הראיה.‬</a:t>
            </a:r>
          </a:p>
        </p:txBody>
      </p:sp>
      <p:sp>
        <p:nvSpPr>
          <p:cNvPr id="28" name="slide4-boundary-last">
            <a:extLst xmlns:a="http://schemas.openxmlformats.org/drawingml/2006/main">
              <a:ext uri="{FF2B5EF4-FFF2-40B4-BE49-F238E27FC236}">
                <a16:creationId xmlns:a16="http://schemas.microsoft.com/office/drawing/2014/main" id="{09F30108-0E11-4A1D-B612-09676353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1051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7778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9480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D9480F"/>
                </a:solidFill>
                <a:latin typeface="Calibri"/>
                <a:ea typeface="Calibri"/>
                <a:cs typeface="Calibri"/>
              </a:rPr>
              <a:t>‫הכלל אינו קובע תשובה נכונה או שגויה.‬</a:t>
            </a:r>
          </a:p>
        </p:txBody>
      </p:sp>
    </p:spTree>
    <p:extLst>
      <p:ext uri="{BB962C8B-B14F-4D97-AF65-F5344CB8AC3E}">
        <p14:creationId xmlns:p14="http://schemas.microsoft.com/office/powerpoint/2010/main" val="947545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header-5">
            <a:extLst xmlns:a="http://schemas.openxmlformats.org/drawingml/2006/main">
              <a:ext uri="{FF2B5EF4-FFF2-40B4-BE49-F238E27FC236}">
                <a16:creationId xmlns:a16="http://schemas.microsoft.com/office/drawing/2014/main" id="{5840EA52-8E9C-4BE3-A50A-32BEB320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5BD3EF04-3B1D-41DC-AB04-5B62569F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1093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‫שני מנגנונים, שתי יחידות ניתוח‬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D41163F4-EA05-40A4-AE87-6EAA79B8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AF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D9EAF7"/>
                </a:solidFill>
                <a:latin typeface="Calibri"/>
                <a:ea typeface="Calibri"/>
                <a:cs typeface="Calibri"/>
              </a:rPr>
              <a:t>‫הדיווח וסיווג השונות נותרים נפרדים גם בדיווח‬</a:t>
            </a:r>
          </a:p>
        </p:txBody>
      </p:sp>
      <p:sp>
        <p:nvSpPr>
          <p:cNvPr id="4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AEB5E092-47FB-459A-BC87-402D0F16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6A05B277-AC27-4801-9772-1CC7EAE1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10934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‫מחקר 1 | AirTravel | שקופית 5 מתוך 6‬</a:t>
            </a:r>
          </a:p>
        </p:txBody>
      </p:sp>
      <p:sp>
        <p:nvSpPr>
          <p:cNvPr id="6" name="slide5-detector">
            <a:extLst xmlns:a="http://schemas.openxmlformats.org/drawingml/2006/main">
              <a:ext uri="{FF2B5EF4-FFF2-40B4-BE49-F238E27FC236}">
                <a16:creationId xmlns:a16="http://schemas.microsoft.com/office/drawing/2014/main" id="{A8CE87A8-9A47-4589-A85E-D3737C34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00150"/>
            <a:ext cx="52197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E7F5FF"/>
          </a:solidFill>
          <a:ln xmlns:a="http://schemas.openxmlformats.org/drawingml/2006/main" w="9525">
            <a:solidFill>
              <a:srgbClr val="1864AB"/>
            </a:solidFill>
            <a:prstDash val="solid"/>
          </a:ln>
        </p:spPr>
      </p:sp>
      <p:sp>
        <p:nvSpPr>
          <p:cNvPr id="7" name="slide5-detector-title">
            <a:extLst xmlns:a="http://schemas.openxmlformats.org/drawingml/2006/main">
              <a:ext uri="{FF2B5EF4-FFF2-40B4-BE49-F238E27FC236}">
                <a16:creationId xmlns:a16="http://schemas.microsoft.com/office/drawing/2014/main" id="{764D0661-00FE-411E-B3B3-7646D1A4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47800"/>
            <a:ext cx="4800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2988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‫Detector-v1‬</a:t>
            </a:r>
          </a:p>
        </p:txBody>
      </p:sp>
      <p:sp>
        <p:nvSpPr>
          <p:cNvPr id="8" name="slide5-detector-tag">
            <a:extLst xmlns:a="http://schemas.openxmlformats.org/drawingml/2006/main">
              <a:ext uri="{FF2B5EF4-FFF2-40B4-BE49-F238E27FC236}">
                <a16:creationId xmlns:a16="http://schemas.microsoft.com/office/drawing/2014/main" id="{F17B63C9-27D4-4DDA-B064-00DB11AC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95475"/>
            <a:ext cx="123825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1864A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2614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Q&amp;A EPISODE</a:t>
            </a:r>
          </a:p>
        </p:txBody>
      </p:sp>
      <p:sp>
        <p:nvSpPr>
          <p:cNvPr id="9" name="slide5-detector-label-0">
            <a:extLst xmlns:a="http://schemas.openxmlformats.org/drawingml/2006/main">
              <a:ext uri="{FF2B5EF4-FFF2-40B4-BE49-F238E27FC236}">
                <a16:creationId xmlns:a16="http://schemas.microsoft.com/office/drawing/2014/main" id="{B718DDF1-9792-4FB6-95AB-DE1E2B3B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480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‫יחידת ניתוח‬</a:t>
            </a:r>
          </a:p>
        </p:txBody>
      </p:sp>
      <p:sp>
        <p:nvSpPr>
          <p:cNvPr id="10" name="slide5-detector-value-0">
            <a:extLst xmlns:a="http://schemas.openxmlformats.org/drawingml/2006/main">
              <a:ext uri="{FF2B5EF4-FFF2-40B4-BE49-F238E27FC236}">
                <a16:creationId xmlns:a16="http://schemas.microsoft.com/office/drawing/2014/main" id="{C8582CE7-BEAB-4AB8-B421-8B9B20EA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0325"/>
            <a:ext cx="4800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‫אפיזודת Q&amp;A‬</a:t>
            </a:r>
          </a:p>
        </p:txBody>
      </p:sp>
      <p:sp>
        <p:nvSpPr>
          <p:cNvPr id="11" name="slide5-detector-line-0">
            <a:extLst xmlns:a="http://schemas.openxmlformats.org/drawingml/2006/main">
              <a:ext uri="{FF2B5EF4-FFF2-40B4-BE49-F238E27FC236}">
                <a16:creationId xmlns:a16="http://schemas.microsoft.com/office/drawing/2014/main" id="{5126EE3A-A0D8-4995-B2F4-4569EBC3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800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6D9F5"/>
            </a:solidFill>
            <a:prstDash val="solid"/>
          </a:ln>
        </p:spPr>
      </p:sp>
      <p:sp>
        <p:nvSpPr>
          <p:cNvPr id="12" name="slide5-detector-label-1">
            <a:extLst xmlns:a="http://schemas.openxmlformats.org/drawingml/2006/main">
              <a:ext uri="{FF2B5EF4-FFF2-40B4-BE49-F238E27FC236}">
                <a16:creationId xmlns:a16="http://schemas.microsoft.com/office/drawing/2014/main" id="{A0BFD910-9ED5-4108-AFBD-AB8FF88A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480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‫פעולה‬</a:t>
            </a:r>
          </a:p>
        </p:txBody>
      </p:sp>
      <p:sp>
        <p:nvSpPr>
          <p:cNvPr id="13" name="slide5-detector-value-1">
            <a:extLst xmlns:a="http://schemas.openxmlformats.org/drawingml/2006/main">
              <a:ext uri="{FF2B5EF4-FFF2-40B4-BE49-F238E27FC236}">
                <a16:creationId xmlns:a16="http://schemas.microsoft.com/office/drawing/2014/main" id="{6DA7D8D0-339F-48A0-AA04-1BABFF3C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9925"/>
            <a:ext cx="4800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‫תווית מועמד לבדיקה בדוח‬</a:t>
            </a:r>
          </a:p>
        </p:txBody>
      </p:sp>
      <p:sp>
        <p:nvSpPr>
          <p:cNvPr id="14" name="slide5-detector-line-1">
            <a:extLst xmlns:a="http://schemas.openxmlformats.org/drawingml/2006/main">
              <a:ext uri="{FF2B5EF4-FFF2-40B4-BE49-F238E27FC236}">
                <a16:creationId xmlns:a16="http://schemas.microsoft.com/office/drawing/2014/main" id="{8D120C83-3104-4AB5-90DD-2179059B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05200"/>
            <a:ext cx="4800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6D9F5"/>
            </a:solidFill>
            <a:prstDash val="solid"/>
          </a:ln>
        </p:spPr>
      </p:sp>
      <p:sp>
        <p:nvSpPr>
          <p:cNvPr id="15" name="slide5-detector-label-2">
            <a:extLst xmlns:a="http://schemas.openxmlformats.org/drawingml/2006/main">
              <a:ext uri="{FF2B5EF4-FFF2-40B4-BE49-F238E27FC236}">
                <a16:creationId xmlns:a16="http://schemas.microsoft.com/office/drawing/2014/main" id="{5956A27A-04D4-4C39-8230-793AEDCB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19500"/>
            <a:ext cx="480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‫תור‬</a:t>
            </a:r>
          </a:p>
        </p:txBody>
      </p:sp>
      <p:sp>
        <p:nvSpPr>
          <p:cNvPr id="16" name="slide5-detector-value-2">
            <a:extLst xmlns:a="http://schemas.openxmlformats.org/drawingml/2006/main">
              <a:ext uri="{FF2B5EF4-FFF2-40B4-BE49-F238E27FC236}">
                <a16:creationId xmlns:a16="http://schemas.microsoft.com/office/drawing/2014/main" id="{ECA2FA3C-046A-4A34-95D0-8B63D0CD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19525"/>
            <a:ext cx="4800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‫לא נוצר תור‬</a:t>
            </a:r>
          </a:p>
        </p:txBody>
      </p:sp>
      <p:sp>
        <p:nvSpPr>
          <p:cNvPr id="17" name="slide5-detector-line-2">
            <a:extLst xmlns:a="http://schemas.openxmlformats.org/drawingml/2006/main">
              <a:ext uri="{FF2B5EF4-FFF2-40B4-BE49-F238E27FC236}">
                <a16:creationId xmlns:a16="http://schemas.microsoft.com/office/drawing/2014/main" id="{12023523-35B1-474C-8BB9-288BA8E3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800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6D9F5"/>
            </a:solidFill>
            <a:prstDash val="solid"/>
          </a:ln>
        </p:spPr>
      </p:sp>
      <p:sp>
        <p:nvSpPr>
          <p:cNvPr id="18" name="slide5-detector-label-3">
            <a:extLst xmlns:a="http://schemas.openxmlformats.org/drawingml/2006/main">
              <a:ext uri="{FF2B5EF4-FFF2-40B4-BE49-F238E27FC236}">
                <a16:creationId xmlns:a16="http://schemas.microsoft.com/office/drawing/2014/main" id="{33A1D7EB-9B15-4962-9BD1-F8DEB8E8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29100"/>
            <a:ext cx="480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‫שינוי אוטומטי‬</a:t>
            </a:r>
          </a:p>
        </p:txBody>
      </p:sp>
      <p:sp>
        <p:nvSpPr>
          <p:cNvPr id="19" name="slide5-detector-value-3">
            <a:extLst xmlns:a="http://schemas.openxmlformats.org/drawingml/2006/main">
              <a:ext uri="{FF2B5EF4-FFF2-40B4-BE49-F238E27FC236}">
                <a16:creationId xmlns:a16="http://schemas.microsoft.com/office/drawing/2014/main" id="{4E262E91-6ADF-434A-9579-45B2BC0D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29125"/>
            <a:ext cx="4800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‫לא מבוצע‬</a:t>
            </a:r>
          </a:p>
        </p:txBody>
      </p:sp>
      <p:sp>
        <p:nvSpPr>
          <p:cNvPr id="20" name="slide5-detector-line-3">
            <a:extLst xmlns:a="http://schemas.openxmlformats.org/drawingml/2006/main">
              <a:ext uri="{FF2B5EF4-FFF2-40B4-BE49-F238E27FC236}">
                <a16:creationId xmlns:a16="http://schemas.microsoft.com/office/drawing/2014/main" id="{4EAB5B10-93D7-447F-9647-14AA8341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24400"/>
            <a:ext cx="4800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6D9F5"/>
            </a:solidFill>
            <a:prstDash val="solid"/>
          </a:ln>
        </p:spPr>
      </p:sp>
      <p:sp>
        <p:nvSpPr>
          <p:cNvPr id="21" name="slide5-agent4">
            <a:extLst xmlns:a="http://schemas.openxmlformats.org/drawingml/2006/main">
              <a:ext uri="{FF2B5EF4-FFF2-40B4-BE49-F238E27FC236}">
                <a16:creationId xmlns:a16="http://schemas.microsoft.com/office/drawing/2014/main" id="{205A6D60-0B60-4AEB-BC73-534B42FE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52197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7048E8"/>
            </a:solidFill>
            <a:prstDash val="solid"/>
          </a:ln>
        </p:spPr>
      </p:sp>
      <p:sp>
        <p:nvSpPr>
          <p:cNvPr id="22" name="slide5-agent4-title">
            <a:extLst xmlns:a="http://schemas.openxmlformats.org/drawingml/2006/main">
              <a:ext uri="{FF2B5EF4-FFF2-40B4-BE49-F238E27FC236}">
                <a16:creationId xmlns:a16="http://schemas.microsoft.com/office/drawing/2014/main" id="{14E204F0-FB26-4009-B572-993F872C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7800"/>
            <a:ext cx="4800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2988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‫Agent-4‬</a:t>
            </a:r>
          </a:p>
        </p:txBody>
      </p:sp>
      <p:sp>
        <p:nvSpPr>
          <p:cNvPr id="23" name="slide5-agent4-tag">
            <a:extLst xmlns:a="http://schemas.openxmlformats.org/drawingml/2006/main">
              <a:ext uri="{FF2B5EF4-FFF2-40B4-BE49-F238E27FC236}">
                <a16:creationId xmlns:a16="http://schemas.microsoft.com/office/drawing/2014/main" id="{6C8E1023-2998-47C6-A069-4B42ED26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20955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704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82516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6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VARIABILITY CLASSIFICATION</a:t>
            </a:r>
          </a:p>
        </p:txBody>
      </p:sp>
      <p:sp>
        <p:nvSpPr>
          <p:cNvPr id="24" name="slide5-agent4-label-0">
            <a:extLst xmlns:a="http://schemas.openxmlformats.org/drawingml/2006/main">
              <a:ext uri="{FF2B5EF4-FFF2-40B4-BE49-F238E27FC236}">
                <a16:creationId xmlns:a16="http://schemas.microsoft.com/office/drawing/2014/main" id="{AABC95A5-6A77-4A3C-8D99-4F3954DA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80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‫יחידת ניתוח‬</a:t>
            </a:r>
          </a:p>
        </p:txBody>
      </p:sp>
      <p:sp>
        <p:nvSpPr>
          <p:cNvPr id="25" name="slide5-agent4-value-0">
            <a:extLst xmlns:a="http://schemas.openxmlformats.org/drawingml/2006/main">
              <a:ext uri="{FF2B5EF4-FFF2-40B4-BE49-F238E27FC236}">
                <a16:creationId xmlns:a16="http://schemas.microsoft.com/office/drawing/2014/main" id="{66797165-905B-4A95-92BE-335CEE0B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4800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‫סיווג שונות‬</a:t>
            </a:r>
          </a:p>
        </p:txBody>
      </p:sp>
      <p:sp>
        <p:nvSpPr>
          <p:cNvPr id="26" name="slide5-agent4-line-0">
            <a:extLst xmlns:a="http://schemas.openxmlformats.org/drawingml/2006/main">
              <a:ext uri="{FF2B5EF4-FFF2-40B4-BE49-F238E27FC236}">
                <a16:creationId xmlns:a16="http://schemas.microsoft.com/office/drawing/2014/main" id="{ECEB09B7-62BB-4B00-AA74-79735964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4800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5C8FF"/>
            </a:solidFill>
            <a:prstDash val="solid"/>
          </a:ln>
        </p:spPr>
      </p:sp>
      <p:sp>
        <p:nvSpPr>
          <p:cNvPr id="27" name="slide5-agent4-label-1">
            <a:extLst xmlns:a="http://schemas.openxmlformats.org/drawingml/2006/main">
              <a:ext uri="{FF2B5EF4-FFF2-40B4-BE49-F238E27FC236}">
                <a16:creationId xmlns:a16="http://schemas.microsoft.com/office/drawing/2014/main" id="{E7BBF279-5A04-49FE-A9E0-71AD8391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80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‫פעולה‬</a:t>
            </a:r>
          </a:p>
        </p:txBody>
      </p:sp>
      <p:sp>
        <p:nvSpPr>
          <p:cNvPr id="28" name="slide5-agent4-value-1">
            <a:extLst xmlns:a="http://schemas.openxmlformats.org/drawingml/2006/main">
              <a:ext uri="{FF2B5EF4-FFF2-40B4-BE49-F238E27FC236}">
                <a16:creationId xmlns:a16="http://schemas.microsoft.com/office/drawing/2014/main" id="{A54AD284-0C6C-4577-8E8C-452404CD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4800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‫בונה תור נפרד כאשר הכתיבה מצליחה‬</a:t>
            </a:r>
          </a:p>
        </p:txBody>
      </p:sp>
      <p:sp>
        <p:nvSpPr>
          <p:cNvPr id="29" name="slide5-agent4-line-1">
            <a:extLst xmlns:a="http://schemas.openxmlformats.org/drawingml/2006/main">
              <a:ext uri="{FF2B5EF4-FFF2-40B4-BE49-F238E27FC236}">
                <a16:creationId xmlns:a16="http://schemas.microsoft.com/office/drawing/2014/main" id="{93231014-7900-4DD3-A10A-8F0397FB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4800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5C8FF"/>
            </a:solidFill>
            <a:prstDash val="solid"/>
          </a:ln>
        </p:spPr>
      </p:sp>
      <p:sp>
        <p:nvSpPr>
          <p:cNvPr id="30" name="slide5-agent4-label-2">
            <a:extLst xmlns:a="http://schemas.openxmlformats.org/drawingml/2006/main">
              <a:ext uri="{FF2B5EF4-FFF2-40B4-BE49-F238E27FC236}">
                <a16:creationId xmlns:a16="http://schemas.microsoft.com/office/drawing/2014/main" id="{D5E4723A-9DE1-4349-97F2-E8628688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480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‫מצב הקורפוס‬</a:t>
            </a:r>
          </a:p>
        </p:txBody>
      </p:sp>
      <p:sp>
        <p:nvSpPr>
          <p:cNvPr id="31" name="slide5-agent4-value-2">
            <a:extLst xmlns:a="http://schemas.openxmlformats.org/drawingml/2006/main">
              <a:ext uri="{FF2B5EF4-FFF2-40B4-BE49-F238E27FC236}">
                <a16:creationId xmlns:a16="http://schemas.microsoft.com/office/drawing/2014/main" id="{A4D051DB-CE3A-4BCA-AB5D-2523E91F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9525"/>
            <a:ext cx="4800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048E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7048E8"/>
                </a:solidFill>
                <a:latin typeface="Calibri"/>
                <a:ea typeface="Calibri"/>
                <a:cs typeface="Calibri"/>
              </a:rPr>
              <a:t>EXECUTED_THEN_BLOCKED</a:t>
            </a:r>
          </a:p>
        </p:txBody>
      </p:sp>
      <p:sp>
        <p:nvSpPr>
          <p:cNvPr id="32" name="slide5-agent4-line-2">
            <a:extLst xmlns:a="http://schemas.openxmlformats.org/drawingml/2006/main">
              <a:ext uri="{FF2B5EF4-FFF2-40B4-BE49-F238E27FC236}">
                <a16:creationId xmlns:a16="http://schemas.microsoft.com/office/drawing/2014/main" id="{76EF0647-8B35-4255-94FC-93191701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800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5C8FF"/>
            </a:solidFill>
            <a:prstDash val="solid"/>
          </a:ln>
        </p:spPr>
      </p:sp>
      <p:sp>
        <p:nvSpPr>
          <p:cNvPr id="33" name="slide5-agent4-label-3">
            <a:extLst xmlns:a="http://schemas.openxmlformats.org/drawingml/2006/main">
              <a:ext uri="{FF2B5EF4-FFF2-40B4-BE49-F238E27FC236}">
                <a16:creationId xmlns:a16="http://schemas.microsoft.com/office/drawing/2014/main" id="{A44C1C8B-6C96-4E97-95B3-C675BA9D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480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‫מצב תור‬</a:t>
            </a:r>
          </a:p>
        </p:txBody>
      </p:sp>
      <p:sp>
        <p:nvSpPr>
          <p:cNvPr id="34" name="slide5-agent4-value-3">
            <a:extLst xmlns:a="http://schemas.openxmlformats.org/drawingml/2006/main">
              <a:ext uri="{FF2B5EF4-FFF2-40B4-BE49-F238E27FC236}">
                <a16:creationId xmlns:a16="http://schemas.microsoft.com/office/drawing/2014/main" id="{79C05BF8-A58D-4440-8352-E7EE382B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800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048E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7048E8"/>
                </a:solidFill>
                <a:latin typeface="Calibri"/>
                <a:ea typeface="Calibri"/>
                <a:cs typeface="Calibri"/>
              </a:rPr>
              <a:t>NOT_AVAILABLE</a:t>
            </a:r>
          </a:p>
        </p:txBody>
      </p:sp>
      <p:sp>
        <p:nvSpPr>
          <p:cNvPr id="35" name="slide5-agent4-line-3">
            <a:extLst xmlns:a="http://schemas.openxmlformats.org/drawingml/2006/main">
              <a:ext uri="{FF2B5EF4-FFF2-40B4-BE49-F238E27FC236}">
                <a16:creationId xmlns:a16="http://schemas.microsoft.com/office/drawing/2014/main" id="{C0574ADB-0D32-4FB2-99FE-4F913152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4800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5C8FF"/>
            </a:solidFill>
            <a:prstDash val="solid"/>
          </a:ln>
        </p:spPr>
      </p:sp>
      <p:sp>
        <p:nvSpPr>
          <p:cNvPr id="36" name="slide5-agent4-reason">
            <a:extLst xmlns:a="http://schemas.openxmlformats.org/drawingml/2006/main">
              <a:ext uri="{FF2B5EF4-FFF2-40B4-BE49-F238E27FC236}">
                <a16:creationId xmlns:a16="http://schemas.microsoft.com/office/drawing/2014/main" id="{3E72B4B6-7756-4370-A92A-4D66DD0E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4800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048E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7048E8"/>
                </a:solidFill>
                <a:latin typeface="Calibri"/>
                <a:ea typeface="Calibri"/>
                <a:cs typeface="Calibri"/>
              </a:rPr>
              <a:t>‫נבנתה רשומת ביקורת, אך סכמת המורשת חסמה את כתיבת התור.‬</a:t>
            </a:r>
          </a:p>
        </p:txBody>
      </p:sp>
    </p:spTree>
    <p:extLst>
      <p:ext uri="{BB962C8B-B14F-4D97-AF65-F5344CB8AC3E}">
        <p14:creationId xmlns:p14="http://schemas.microsoft.com/office/powerpoint/2010/main" val="1966614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header-6">
            <a:extLst xmlns:a="http://schemas.openxmlformats.org/drawingml/2006/main">
              <a:ext uri="{FF2B5EF4-FFF2-40B4-BE49-F238E27FC236}">
                <a16:creationId xmlns:a16="http://schemas.microsoft.com/office/drawing/2014/main" id="{A1D8B8EB-776C-47FF-B11F-48042BCC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39DA3BE-AAC5-4C62-A14D-4A7D68D7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1093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‫תמונה ארכיונית, בדיקות הנדסיות, והמשך‬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1AC32CCF-51A6-46A7-933B-EA912FDB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AF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D9EAF7"/>
                </a:solidFill>
                <a:latin typeface="Calibri"/>
                <a:ea typeface="Calibri"/>
                <a:cs typeface="Calibri"/>
              </a:rPr>
              <a:t>‫שלושה סוגי מידע מוצגים בנפרד כדי למנוע מסקנת יתר‬</a:t>
            </a:r>
          </a:p>
        </p:txBody>
      </p:sp>
      <p:sp>
        <p:nvSpPr>
          <p:cNvPr id="4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D987685F-18B0-4201-AE3B-67A99E1D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A807E7E0-4D50-4CBD-8B33-CE46E646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10934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‫מחקר 1 | AirTravel | שקופית 6 מתוך 6‬</a:t>
            </a:r>
          </a:p>
        </p:txBody>
      </p:sp>
      <p:sp>
        <p:nvSpPr>
          <p:cNvPr id="6" name="slide6-archive-banner">
            <a:extLst xmlns:a="http://schemas.openxmlformats.org/drawingml/2006/main">
              <a:ext uri="{FF2B5EF4-FFF2-40B4-BE49-F238E27FC236}">
                <a16:creationId xmlns:a16="http://schemas.microsoft.com/office/drawing/2014/main" id="{6399BCCD-E033-489B-922C-2A7CA44E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9347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04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5366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4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ARCHIVAL / RETROSPECTIVE DESCRIPTIVE EVIDENCE</a:t>
            </a:r>
          </a:p>
        </p:txBody>
      </p:sp>
      <p:sp>
        <p:nvSpPr>
          <p:cNvPr id="7" name="slide6-cases-box">
            <a:extLst xmlns:a="http://schemas.openxmlformats.org/drawingml/2006/main">
              <a:ext uri="{FF2B5EF4-FFF2-40B4-BE49-F238E27FC236}">
                <a16:creationId xmlns:a16="http://schemas.microsoft.com/office/drawing/2014/main" id="{15718448-BADB-4DB5-B4A4-A78423B2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24288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64AB"/>
            </a:solidFill>
            <a:prstDash val="solid"/>
          </a:ln>
        </p:spPr>
      </p:sp>
      <p:sp>
        <p:nvSpPr>
          <p:cNvPr id="8" name="slide6-cases-value">
            <a:extLst xmlns:a="http://schemas.openxmlformats.org/drawingml/2006/main">
              <a:ext uri="{FF2B5EF4-FFF2-40B4-BE49-F238E27FC236}">
                <a16:creationId xmlns:a16="http://schemas.microsoft.com/office/drawing/2014/main" id="{0FAFE845-87E9-4761-872B-2521F9EC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5862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64AB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864A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9" name="slide6-cases-label">
            <a:extLst xmlns:a="http://schemas.openxmlformats.org/drawingml/2006/main">
              <a:ext uri="{FF2B5EF4-FFF2-40B4-BE49-F238E27FC236}">
                <a16:creationId xmlns:a16="http://schemas.microsoft.com/office/drawing/2014/main" id="{719C47CE-713B-4FB9-9D31-41EA5F0B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0495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‫מקרים שנבחרו‬</a:t>
            </a:r>
          </a:p>
        </p:txBody>
      </p:sp>
      <p:sp>
        <p:nvSpPr>
          <p:cNvPr id="10" name="slide6-cases-micro">
            <a:extLst xmlns:a="http://schemas.openxmlformats.org/drawingml/2006/main">
              <a:ext uri="{FF2B5EF4-FFF2-40B4-BE49-F238E27FC236}">
                <a16:creationId xmlns:a16="http://schemas.microsoft.com/office/drawing/2014/main" id="{1AD4BED1-07B1-40D9-98BE-1CD91694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907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‫מכנה: 4 מקרים‬</a:t>
            </a:r>
          </a:p>
        </p:txBody>
      </p:sp>
      <p:sp>
        <p:nvSpPr>
          <p:cNvPr id="11" name="slide6-episodes-box">
            <a:extLst xmlns:a="http://schemas.openxmlformats.org/drawingml/2006/main">
              <a:ext uri="{FF2B5EF4-FFF2-40B4-BE49-F238E27FC236}">
                <a16:creationId xmlns:a16="http://schemas.microsoft.com/office/drawing/2014/main" id="{3B162CFE-4AE8-4D24-A0B7-66BA8E0F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314450"/>
            <a:ext cx="24288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12" name="slide6-episodes-value">
            <a:extLst xmlns:a="http://schemas.openxmlformats.org/drawingml/2006/main">
              <a:ext uri="{FF2B5EF4-FFF2-40B4-BE49-F238E27FC236}">
                <a16:creationId xmlns:a16="http://schemas.microsoft.com/office/drawing/2014/main" id="{C75D506A-D8A8-496B-9C87-8309C842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4859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5862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7285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7285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slide6-episodes-label">
            <a:extLst xmlns:a="http://schemas.openxmlformats.org/drawingml/2006/main">
              <a:ext uri="{FF2B5EF4-FFF2-40B4-BE49-F238E27FC236}">
                <a16:creationId xmlns:a16="http://schemas.microsoft.com/office/drawing/2014/main" id="{33AD6768-32C9-4E4C-86AC-B0423904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50495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‫אפיזודות שלמות‬</a:t>
            </a:r>
          </a:p>
        </p:txBody>
      </p:sp>
      <p:sp>
        <p:nvSpPr>
          <p:cNvPr id="14" name="slide6-episodes-micro">
            <a:extLst xmlns:a="http://schemas.openxmlformats.org/drawingml/2006/main">
              <a:ext uri="{FF2B5EF4-FFF2-40B4-BE49-F238E27FC236}">
                <a16:creationId xmlns:a16="http://schemas.microsoft.com/office/drawing/2014/main" id="{AF80DDED-6985-441A-BAB1-4A839CCF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7907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‫מכנה: 3 אפיזודות‬</a:t>
            </a:r>
          </a:p>
        </p:txBody>
      </p:sp>
      <p:sp>
        <p:nvSpPr>
          <p:cNvPr id="15" name="slide6-qa-box">
            <a:extLst xmlns:a="http://schemas.openxmlformats.org/drawingml/2006/main">
              <a:ext uri="{FF2B5EF4-FFF2-40B4-BE49-F238E27FC236}">
                <a16:creationId xmlns:a16="http://schemas.microsoft.com/office/drawing/2014/main" id="{93FCC9CF-D97D-4CAB-B36A-26CB3FDA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14450"/>
            <a:ext cx="24288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8E8"/>
            </a:solidFill>
            <a:prstDash val="solid"/>
          </a:ln>
        </p:spPr>
      </p:sp>
      <p:sp>
        <p:nvSpPr>
          <p:cNvPr id="16" name="slide6-qa-value">
            <a:extLst xmlns:a="http://schemas.openxmlformats.org/drawingml/2006/main">
              <a:ext uri="{FF2B5EF4-FFF2-40B4-BE49-F238E27FC236}">
                <a16:creationId xmlns:a16="http://schemas.microsoft.com/office/drawing/2014/main" id="{2215B2E1-B348-4592-93D3-F55CC491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859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5862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048E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7048E8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  <p:sp>
        <p:nvSpPr>
          <p:cNvPr id="17" name="slide6-qa-label">
            <a:extLst xmlns:a="http://schemas.openxmlformats.org/drawingml/2006/main">
              <a:ext uri="{FF2B5EF4-FFF2-40B4-BE49-F238E27FC236}">
                <a16:creationId xmlns:a16="http://schemas.microsoft.com/office/drawing/2014/main" id="{15C12BC6-6BEF-4631-8089-0CEDAEA9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0495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‫שאלות ותשובות‬</a:t>
            </a:r>
          </a:p>
        </p:txBody>
      </p:sp>
      <p:sp>
        <p:nvSpPr>
          <p:cNvPr id="18" name="slide6-qa-micro">
            <a:extLst xmlns:a="http://schemas.openxmlformats.org/drawingml/2006/main">
              <a:ext uri="{FF2B5EF4-FFF2-40B4-BE49-F238E27FC236}">
                <a16:creationId xmlns:a16="http://schemas.microsoft.com/office/drawing/2014/main" id="{D66C1FCC-E6A3-49A1-95FA-EB6EA52C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907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‫44 שאלות + 44 תשובות‬</a:t>
            </a:r>
          </a:p>
        </p:txBody>
      </p:sp>
      <p:sp>
        <p:nvSpPr>
          <p:cNvPr id="19" name="slide6-alerts-box">
            <a:extLst xmlns:a="http://schemas.openxmlformats.org/drawingml/2006/main">
              <a:ext uri="{FF2B5EF4-FFF2-40B4-BE49-F238E27FC236}">
                <a16:creationId xmlns:a16="http://schemas.microsoft.com/office/drawing/2014/main" id="{A687BAC8-F2E0-4609-BB91-1954E522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314450"/>
            <a:ext cx="24288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A2A"/>
            </a:solidFill>
            <a:prstDash val="solid"/>
          </a:ln>
        </p:spPr>
      </p:sp>
      <p:sp>
        <p:nvSpPr>
          <p:cNvPr id="20" name="slide6-alerts-value">
            <a:extLst xmlns:a="http://schemas.openxmlformats.org/drawingml/2006/main">
              <a:ext uri="{FF2B5EF4-FFF2-40B4-BE49-F238E27FC236}">
                <a16:creationId xmlns:a16="http://schemas.microsoft.com/office/drawing/2014/main" id="{A9B452EF-CEA8-48E3-98B8-AC074C88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4859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5862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2A2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C92A2A"/>
                </a:solidFill>
                <a:latin typeface="Calibri"/>
                <a:ea typeface="Calibri"/>
                <a:cs typeface="Calibri"/>
              </a:rPr>
              <a:t>3/3</a:t>
            </a:r>
          </a:p>
        </p:txBody>
      </p:sp>
      <p:sp>
        <p:nvSpPr>
          <p:cNvPr id="21" name="slide6-alerts-label">
            <a:extLst xmlns:a="http://schemas.openxmlformats.org/drawingml/2006/main">
              <a:ext uri="{FF2B5EF4-FFF2-40B4-BE49-F238E27FC236}">
                <a16:creationId xmlns:a16="http://schemas.microsoft.com/office/drawing/2014/main" id="{0AA23A07-70B1-4B61-944A-711F98BF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50495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‫STRONG_ALERT‬</a:t>
            </a:r>
          </a:p>
        </p:txBody>
      </p:sp>
      <p:sp>
        <p:nvSpPr>
          <p:cNvPr id="22" name="slide6-alerts-micro">
            <a:extLst xmlns:a="http://schemas.openxmlformats.org/drawingml/2006/main">
              <a:ext uri="{FF2B5EF4-FFF2-40B4-BE49-F238E27FC236}">
                <a16:creationId xmlns:a16="http://schemas.microsoft.com/office/drawing/2014/main" id="{0A965D14-62F2-40F0-9F91-764395F9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7907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‫מכנה: 3 אפיזודות‬</a:t>
            </a:r>
          </a:p>
        </p:txBody>
      </p:sp>
      <p:sp>
        <p:nvSpPr>
          <p:cNvPr id="23" name="slide6-archive-source">
            <a:extLst xmlns:a="http://schemas.openxmlformats.org/drawingml/2006/main">
              <a:ext uri="{FF2B5EF4-FFF2-40B4-BE49-F238E27FC236}">
                <a16:creationId xmlns:a16="http://schemas.microsoft.com/office/drawing/2014/main" id="{1D667117-E032-43DB-B216-4254BCAB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‫מקור: תוצאות Study 1 שפורסמו. עדות תיאורית בדיעבד בלבד.‬</a:t>
            </a:r>
          </a:p>
        </p:txBody>
      </p:sp>
      <p:sp>
        <p:nvSpPr>
          <p:cNvPr id="24" name="slide6-check-0">
            <a:extLst xmlns:a="http://schemas.openxmlformats.org/drawingml/2006/main">
              <a:ext uri="{FF2B5EF4-FFF2-40B4-BE49-F238E27FC236}">
                <a16:creationId xmlns:a16="http://schemas.microsoft.com/office/drawing/2014/main" id="{7103ED16-07B4-4255-9259-5AC5E8AE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3352800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480F"/>
            </a:solidFill>
            <a:prstDash val="solid"/>
          </a:ln>
        </p:spPr>
      </p:sp>
      <p:sp>
        <p:nvSpPr>
          <p:cNvPr id="25" name="slide6-check-banner-0">
            <a:extLst xmlns:a="http://schemas.openxmlformats.org/drawingml/2006/main">
              <a:ext uri="{FF2B5EF4-FFF2-40B4-BE49-F238E27FC236}">
                <a16:creationId xmlns:a16="http://schemas.microsoft.com/office/drawing/2014/main" id="{870D92AF-E1D1-4C22-9E94-724892E2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62275"/>
            <a:ext cx="31051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0971"/>
          </a:bodyPr>
          <a:lstStyle xmlns:a="http://schemas.openxmlformats.org/drawingml/2006/main"/>
          <a:p xmlns:a="http://schemas.openxmlformats.org/drawingml/2006/main">
            <a:pPr algn="ctr">
              <a:defRPr sz="57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7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ENGINEERING_FIXTURE_NOT_SCIENTIFIC</a:t>
            </a:r>
          </a:p>
        </p:txBody>
      </p:sp>
      <p:sp>
        <p:nvSpPr>
          <p:cNvPr id="26" name="slide6-check-title-0">
            <a:extLst xmlns:a="http://schemas.openxmlformats.org/drawingml/2006/main">
              <a:ext uri="{FF2B5EF4-FFF2-40B4-BE49-F238E27FC236}">
                <a16:creationId xmlns:a16="http://schemas.microsoft.com/office/drawing/2014/main" id="{8273D8AB-ED11-46D1-AB22-EBEC719F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‫מעטפת הכלל‬</a:t>
            </a:r>
          </a:p>
        </p:txBody>
      </p:sp>
      <p:sp>
        <p:nvSpPr>
          <p:cNvPr id="27" name="slide6-check-value-0">
            <a:extLst xmlns:a="http://schemas.openxmlformats.org/drawingml/2006/main">
              <a:ext uri="{FF2B5EF4-FFF2-40B4-BE49-F238E27FC236}">
                <a16:creationId xmlns:a16="http://schemas.microsoft.com/office/drawing/2014/main" id="{8DA83392-B876-4006-B445-23F1558C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480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D9480F"/>
                </a:solidFill>
                <a:latin typeface="Calibri"/>
                <a:ea typeface="Calibri"/>
                <a:cs typeface="Calibri"/>
              </a:rPr>
              <a:t>9/9</a:t>
            </a:r>
          </a:p>
        </p:txBody>
      </p:sp>
      <p:sp>
        <p:nvSpPr>
          <p:cNvPr id="28" name="slide6-check-detail-0">
            <a:extLst xmlns:a="http://schemas.openxmlformats.org/drawingml/2006/main">
              <a:ext uri="{FF2B5EF4-FFF2-40B4-BE49-F238E27FC236}">
                <a16:creationId xmlns:a16="http://schemas.microsoft.com/office/drawing/2014/main" id="{72D7FCF6-40FD-42D4-9C3A-3F69E438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56235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‫מצבי בדיקה תאמו לכלל‬</a:t>
            </a:r>
          </a:p>
        </p:txBody>
      </p:sp>
      <p:sp>
        <p:nvSpPr>
          <p:cNvPr id="29" name="slide6-check-source-0">
            <a:extLst xmlns:a="http://schemas.openxmlformats.org/drawingml/2006/main">
              <a:ext uri="{FF2B5EF4-FFF2-40B4-BE49-F238E27FC236}">
                <a16:creationId xmlns:a16="http://schemas.microsoft.com/office/drawing/2014/main" id="{72F454A7-0DB9-4735-B16D-D1B1153D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3076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‫מקור: fixture | מכנה: 9‬</a:t>
            </a:r>
          </a:p>
        </p:txBody>
      </p:sp>
      <p:sp>
        <p:nvSpPr>
          <p:cNvPr id="30" name="slide6-check-limit-0">
            <a:extLst xmlns:a="http://schemas.openxmlformats.org/drawingml/2006/main">
              <a:ext uri="{FF2B5EF4-FFF2-40B4-BE49-F238E27FC236}">
                <a16:creationId xmlns:a16="http://schemas.microsoft.com/office/drawing/2014/main" id="{BE302A56-6470-49CD-B2EE-43463910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076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21739"/>
          </a:bodyPr>
          <a:lstStyle xmlns:a="http://schemas.openxmlformats.org/drawingml/2006/main"/>
          <a:p xmlns:a="http://schemas.openxmlformats.org/drawingml/2006/main">
            <a:pPr algn="r">
              <a:defRPr sz="69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69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‫מוכיח מסלולים של המכשור בלבד‬</a:t>
            </a:r>
          </a:p>
        </p:txBody>
      </p:sp>
      <p:sp>
        <p:nvSpPr>
          <p:cNvPr id="31" name="slide6-check-1">
            <a:extLst xmlns:a="http://schemas.openxmlformats.org/drawingml/2006/main">
              <a:ext uri="{FF2B5EF4-FFF2-40B4-BE49-F238E27FC236}">
                <a16:creationId xmlns:a16="http://schemas.microsoft.com/office/drawing/2014/main" id="{1AC7B4C8-DBA9-4C06-B930-5C7A941D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09875"/>
            <a:ext cx="3352800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32" name="slide6-check-banner-1">
            <a:extLst xmlns:a="http://schemas.openxmlformats.org/drawingml/2006/main">
              <a:ext uri="{FF2B5EF4-FFF2-40B4-BE49-F238E27FC236}">
                <a16:creationId xmlns:a16="http://schemas.microsoft.com/office/drawing/2014/main" id="{46CEBB53-7B3C-464D-B121-FD7985E2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62275"/>
            <a:ext cx="31051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0971"/>
          </a:bodyPr>
          <a:lstStyle xmlns:a="http://schemas.openxmlformats.org/drawingml/2006/main"/>
          <a:p xmlns:a="http://schemas.openxmlformats.org/drawingml/2006/main">
            <a:pPr algn="ctr">
              <a:defRPr sz="57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7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ENGINEERING_ONLY_NOT_SCIENTIFIC</a:t>
            </a:r>
          </a:p>
        </p:txBody>
      </p:sp>
      <p:sp>
        <p:nvSpPr>
          <p:cNvPr id="33" name="slide6-check-title-1">
            <a:extLst xmlns:a="http://schemas.openxmlformats.org/drawingml/2006/main">
              <a:ext uri="{FF2B5EF4-FFF2-40B4-BE49-F238E27FC236}">
                <a16:creationId xmlns:a16="http://schemas.microsoft.com/office/drawing/2014/main" id="{F9A4711D-A4B7-48D0-88CC-175AA32C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48025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‫חוסן סדר אירועים‬</a:t>
            </a:r>
          </a:p>
        </p:txBody>
      </p:sp>
      <p:sp>
        <p:nvSpPr>
          <p:cNvPr id="34" name="slide6-check-value-1">
            <a:extLst xmlns:a="http://schemas.openxmlformats.org/drawingml/2006/main">
              <a:ext uri="{FF2B5EF4-FFF2-40B4-BE49-F238E27FC236}">
                <a16:creationId xmlns:a16="http://schemas.microsoft.com/office/drawing/2014/main" id="{C20804EA-B06E-4CDB-9482-81A853DC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2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7285"/>
                </a:solidFill>
                <a:latin typeface="Calibri"/>
                <a:ea typeface="Calibri"/>
                <a:cs typeface="Calibri"/>
              </a:rPr>
              <a:t>500/500</a:t>
            </a:r>
          </a:p>
        </p:txBody>
      </p:sp>
      <p:sp>
        <p:nvSpPr>
          <p:cNvPr id="35" name="slide6-check-detail-1">
            <a:extLst xmlns:a="http://schemas.openxmlformats.org/drawingml/2006/main">
              <a:ext uri="{FF2B5EF4-FFF2-40B4-BE49-F238E27FC236}">
                <a16:creationId xmlns:a16="http://schemas.microsoft.com/office/drawing/2014/main" id="{32744621-9E3F-4C94-8A3E-FCFFC3FD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6235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‫ערבובים שמרו על הסיווג‬</a:t>
            </a:r>
          </a:p>
        </p:txBody>
      </p:sp>
      <p:sp>
        <p:nvSpPr>
          <p:cNvPr id="36" name="slide6-check-source-1">
            <a:extLst xmlns:a="http://schemas.openxmlformats.org/drawingml/2006/main">
              <a:ext uri="{FF2B5EF4-FFF2-40B4-BE49-F238E27FC236}">
                <a16:creationId xmlns:a16="http://schemas.microsoft.com/office/drawing/2014/main" id="{9F939DBF-C918-45FC-84C6-5FDBADF8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00475"/>
            <a:ext cx="3076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‫מקור: יומן ארכיוני | מכנה: 500‬</a:t>
            </a:r>
          </a:p>
        </p:txBody>
      </p:sp>
      <p:sp>
        <p:nvSpPr>
          <p:cNvPr id="37" name="slide6-check-limit-1">
            <a:extLst xmlns:a="http://schemas.openxmlformats.org/drawingml/2006/main">
              <a:ext uri="{FF2B5EF4-FFF2-40B4-BE49-F238E27FC236}">
                <a16:creationId xmlns:a16="http://schemas.microsoft.com/office/drawing/2014/main" id="{0E9900E1-5140-4AD7-981B-D639955C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3076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21739"/>
          </a:bodyPr>
          <a:lstStyle xmlns:a="http://schemas.openxmlformats.org/drawingml/2006/main"/>
          <a:p xmlns:a="http://schemas.openxmlformats.org/drawingml/2006/main">
            <a:pPr algn="r">
              <a:defRPr sz="69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69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‫מוכיח אי-תלות בסדר בלבד‬</a:t>
            </a:r>
          </a:p>
        </p:txBody>
      </p:sp>
      <p:sp>
        <p:nvSpPr>
          <p:cNvPr id="38" name="slide6-check-2">
            <a:extLst xmlns:a="http://schemas.openxmlformats.org/drawingml/2006/main">
              <a:ext uri="{FF2B5EF4-FFF2-40B4-BE49-F238E27FC236}">
                <a16:creationId xmlns:a16="http://schemas.microsoft.com/office/drawing/2014/main" id="{BD4BFF72-8107-47C2-91E7-83050F7F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9875"/>
            <a:ext cx="3352800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8E8"/>
            </a:solidFill>
            <a:prstDash val="solid"/>
          </a:ln>
        </p:spPr>
      </p:sp>
      <p:sp>
        <p:nvSpPr>
          <p:cNvPr id="39" name="slide6-check-banner-2">
            <a:extLst xmlns:a="http://schemas.openxmlformats.org/drawingml/2006/main">
              <a:ext uri="{FF2B5EF4-FFF2-40B4-BE49-F238E27FC236}">
                <a16:creationId xmlns:a16="http://schemas.microsoft.com/office/drawing/2014/main" id="{2D363C1F-046F-41B5-8FCD-FBD32E48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62275"/>
            <a:ext cx="31051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0971"/>
          </a:bodyPr>
          <a:lstStyle xmlns:a="http://schemas.openxmlformats.org/drawingml/2006/main"/>
          <a:p xmlns:a="http://schemas.openxmlformats.org/drawingml/2006/main">
            <a:pPr algn="ctr">
              <a:defRPr sz="57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7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ENGINEERING_ONLY_NOT_SCIENTIFIC</a:t>
            </a:r>
          </a:p>
        </p:txBody>
      </p:sp>
      <p:sp>
        <p:nvSpPr>
          <p:cNvPr id="40" name="slide6-check-title-2">
            <a:extLst xmlns:a="http://schemas.openxmlformats.org/drawingml/2006/main">
              <a:ext uri="{FF2B5EF4-FFF2-40B4-BE49-F238E27FC236}">
                <a16:creationId xmlns:a16="http://schemas.microsoft.com/office/drawing/2014/main" id="{61D9B01C-0E27-4B7B-839C-0A58CFB5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48025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‫כיול שמירת עלות‬</a:t>
            </a:r>
          </a:p>
        </p:txBody>
      </p:sp>
      <p:sp>
        <p:nvSpPr>
          <p:cNvPr id="41" name="slide6-check-value-2">
            <a:extLst xmlns:a="http://schemas.openxmlformats.org/drawingml/2006/main">
              <a:ext uri="{FF2B5EF4-FFF2-40B4-BE49-F238E27FC236}">
                <a16:creationId xmlns:a16="http://schemas.microsoft.com/office/drawing/2014/main" id="{9141E512-278D-4C51-A09F-2E1B13E2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242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48E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7048E8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  <p:sp>
        <p:nvSpPr>
          <p:cNvPr id="42" name="slide6-check-detail-2">
            <a:extLst xmlns:a="http://schemas.openxmlformats.org/drawingml/2006/main">
              <a:ext uri="{FF2B5EF4-FFF2-40B4-BE49-F238E27FC236}">
                <a16:creationId xmlns:a16="http://schemas.microsoft.com/office/drawing/2014/main" id="{44BC1AA3-A771-4902-8A1C-DF187423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56235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‫בקשות בקבלה הארכיונית‬</a:t>
            </a:r>
          </a:p>
        </p:txBody>
      </p:sp>
      <p:sp>
        <p:nvSpPr>
          <p:cNvPr id="43" name="slide6-check-source-2">
            <a:extLst xmlns:a="http://schemas.openxmlformats.org/drawingml/2006/main">
              <a:ext uri="{FF2B5EF4-FFF2-40B4-BE49-F238E27FC236}">
                <a16:creationId xmlns:a16="http://schemas.microsoft.com/office/drawing/2014/main" id="{040810CD-E428-4097-8D88-1778350F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00475"/>
            <a:ext cx="3076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‫מקור: קבלה ארכיונית | מכנה: 1‬</a:t>
            </a:r>
          </a:p>
        </p:txBody>
      </p:sp>
      <p:sp>
        <p:nvSpPr>
          <p:cNvPr id="44" name="slide6-check-limit-2">
            <a:extLst xmlns:a="http://schemas.openxmlformats.org/drawingml/2006/main">
              <a:ext uri="{FF2B5EF4-FFF2-40B4-BE49-F238E27FC236}">
                <a16:creationId xmlns:a16="http://schemas.microsoft.com/office/drawing/2014/main" id="{EACCE8DF-E78C-45A6-A0E0-B49D4CCA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3076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21739"/>
          </a:bodyPr>
          <a:lstStyle xmlns:a="http://schemas.openxmlformats.org/drawingml/2006/main"/>
          <a:p xmlns:a="http://schemas.openxmlformats.org/drawingml/2006/main">
            <a:pPr algn="r">
              <a:defRPr sz="69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69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‫מוכיח אריתמטיקת שמירה בלבד‬</a:t>
            </a:r>
          </a:p>
        </p:txBody>
      </p:sp>
      <p:sp>
        <p:nvSpPr>
          <p:cNvPr id="45" name="slide6-open">
            <a:extLst xmlns:a="http://schemas.openxmlformats.org/drawingml/2006/main">
              <a:ext uri="{FF2B5EF4-FFF2-40B4-BE49-F238E27FC236}">
                <a16:creationId xmlns:a16="http://schemas.microsoft.com/office/drawing/2014/main" id="{E956FBA9-5140-40DC-A884-9D2C5C0B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934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9480F"/>
            </a:solidFill>
            <a:prstDash val="solid"/>
          </a:ln>
        </p:spPr>
      </p:sp>
      <p:sp>
        <p:nvSpPr>
          <p:cNvPr id="46" name="slide6-open-title">
            <a:extLst xmlns:a="http://schemas.openxmlformats.org/drawingml/2006/main">
              <a:ext uri="{FF2B5EF4-FFF2-40B4-BE49-F238E27FC236}">
                <a16:creationId xmlns:a16="http://schemas.microsoft.com/office/drawing/2014/main" id="{8A35B461-75B2-40B4-B13A-310EE40B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0553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‫מה נשאר פתוח‬</a:t>
            </a:r>
          </a:p>
        </p:txBody>
      </p:sp>
      <p:sp>
        <p:nvSpPr>
          <p:cNvPr id="47" name="slide6-open-copy">
            <a:extLst xmlns:a="http://schemas.openxmlformats.org/drawingml/2006/main">
              <a:ext uri="{FF2B5EF4-FFF2-40B4-BE49-F238E27FC236}">
                <a16:creationId xmlns:a16="http://schemas.microsoft.com/office/drawing/2014/main" id="{E954E78E-4FB2-4440-8C6E-EE61BC77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1055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43B5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43B53"/>
                </a:solidFill>
                <a:latin typeface="Calibri"/>
                <a:ea typeface="Calibri"/>
                <a:cs typeface="Calibri"/>
              </a:rPr>
              <a:t>‫קישור ראיות פרטיות | אמת־מידה ובוחנים אנושיים | תוצאת ON/OFF | טענה על דיוק או תועלת‬</a:t>
            </a:r>
          </a:p>
        </p:txBody>
      </p:sp>
    </p:spTree>
    <p:extLst>
      <p:ext uri="{BB962C8B-B14F-4D97-AF65-F5344CB8AC3E}">
        <p14:creationId xmlns:p14="http://schemas.microsoft.com/office/powerpoint/2010/main" val="953471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2026-09-08T14:47:23.8130000Z</dcterms:created>
  <dcterms:modified xsi:type="dcterms:W3CDTF">2026-09-08T14:47:23.8130000Z</dcterms:modified>
</coreProperties>
</file>