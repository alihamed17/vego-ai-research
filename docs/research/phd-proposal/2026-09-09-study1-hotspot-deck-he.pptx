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71600"/>
            <a:ext cx="111858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בסיס לזיהוי מוקדי בדיקה אנושית</a:t>
            </a:r>
          </a:p>
          <a:p>
            <a:pPr rtl="1" algn="r">
              <a:spcBef>
                <a:spcPts val="600"/>
              </a:spcBef>
              <a:spcAft>
                <a:spcPts val="0"/>
              </a:spcAft>
            </a:pPr>
            <a:r>
              <a:rPr sz="160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מחקר 1 · VEGO-AI · דוח מנחים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0"/>
            <a:ext cx="1118585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השאלה: מבין שיחות שהושלמו, עד כמה גלאי־v1 מקדם לבדיקה בדיוק את השיחות ששני בודקים אנושיים עיוורים שופטים כראויות לבדיקה.</a:t>
            </a:r>
          </a:p>
          <a:p>
            <a:pPr rtl="1" algn="r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מה שנמדד אינו נכונות של הבינה המלאכותית, אלא האם העומס קטן בלי לאבד שיחות שאדם רוצה לראות.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8076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כל מספר מחושב מחדש מיומן האירועים · גלאי־v1 לא שונה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מה הוקפא לפני כל קריאה לספק</a:t>
            </a:r>
          </a:p>
          <a:p>
            <a:pPr rtl="1" algn="r">
              <a:spcBef>
                <a:spcPts val="30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הקפאה אינה תוצאה · היא מונעת שינוי אחרי שרואים תוצאה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16152"/>
            <a:ext cx="11185855" cy="25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693593" cy="96012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587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21</a:t>
            </a:r>
          </a:p>
          <a:p>
            <a:pPr rtl="1"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מקרים כשירים</a:t>
            </a:r>
          </a:p>
          <a:p>
            <a:pPr rtl="1" algn="ctr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מסגרת מלאה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3673" y="1417320"/>
            <a:ext cx="2693593" cy="96012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587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6</a:t>
            </a:r>
          </a:p>
          <a:p>
            <a:pPr rtl="1"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נדגמו מראש</a:t>
            </a:r>
          </a:p>
          <a:p>
            <a:pPr rtl="1" algn="ctr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זרע 20260909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4427" y="1417320"/>
            <a:ext cx="2693593" cy="96012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587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5.10$</a:t>
            </a:r>
          </a:p>
          <a:p>
            <a:pPr rtl="1"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שריון פסימי</a:t>
            </a:r>
          </a:p>
          <a:p>
            <a:pPr rtl="1" algn="ctr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כל קריאה במחיר מלא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95181" y="1417320"/>
            <a:ext cx="2693593" cy="96012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587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6.00$</a:t>
            </a:r>
          </a:p>
          <a:p>
            <a:pPr rtl="1"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תקרה</a:t>
            </a:r>
          </a:p>
          <a:p>
            <a:pPr rtl="1" algn="ctr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נבדק לפני ההרצה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1118585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rtl="1" algn="r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• הדגימה נקבעה בהגרלה דטרמיניסטית מזרע קבוע · ניתנת לשחזור בידי כל אדם.</a:t>
            </a:r>
          </a:p>
          <a:p>
            <a:pPr rtl="1" algn="r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• לכן הבחירה אינה יכולה להיות תלויה בסטטוס התרעה חזוי או נצפה.</a:t>
            </a:r>
          </a:p>
          <a:p>
            <a:pPr rtl="1" algn="r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• המודל, הבקשות, הסיפים, מכסת הקריאות וכלל העצירה הוקפאו מראש.</a:t>
            </a:r>
          </a:p>
          <a:p>
            <a:pPr rtl="1" algn="r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• מחוון הבדיקה האנושית הוקפא לפני שקיימת ולו תווית אחת.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08415" y="4343400"/>
            <a:ext cx="2880360" cy="265176"/>
          </a:xfrm>
          <a:prstGeom prst="roundRect">
            <a:avLst>
              <a:gd name="adj" fmla="val 35000"/>
            </a:avLst>
          </a:prstGeom>
          <a:solidFill>
            <a:srgbClr val="E8E2FD"/>
          </a:solidFill>
          <a:ln w="15875">
            <a:solidFill>
              <a:srgbClr val="301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1A6E"/>
                </a:solidFill>
                <a:latin typeface="Segoe UI"/>
                <a:cs typeface="Segoe UI"/>
                <a:ea typeface="Segoe UI"/>
              </a:rPr>
              <a:t>ראיה אמפירית פרוספקטיבית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08076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מקור: study1-hotspot-manifest.json · מכנה: 21 מקרים כשירים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הזרימה מקצה לקצה</a:t>
            </a:r>
          </a:p>
          <a:p>
            <a:pPr rtl="1" algn="r">
              <a:spcBef>
                <a:spcPts val="30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נתונים ← סוכנים ← יומן ← גלאי ← בדיקה אנושית עיוורת ← מדדים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16152"/>
            <a:ext cx="11185855" cy="25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00665" y="1554480"/>
            <a:ext cx="1788109" cy="91440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587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1</a:t>
            </a:r>
          </a:p>
          <a:p>
            <a:pPr rtl="1"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נתונים</a:t>
            </a:r>
          </a:p>
          <a:p>
            <a:pPr rtl="1" algn="ctr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AirTravel ציבורי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554480"/>
            <a:ext cx="1788109" cy="91440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587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2</a:t>
            </a:r>
          </a:p>
          <a:p>
            <a:pPr rtl="1"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סוכנים</a:t>
            </a:r>
          </a:p>
          <a:p>
            <a:pPr rtl="1" algn="ctr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שואל · משיב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1567" y="1554480"/>
            <a:ext cx="1788109" cy="91440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587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3</a:t>
            </a:r>
          </a:p>
          <a:p>
            <a:pPr rtl="1"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יומן שיחות</a:t>
            </a:r>
          </a:p>
          <a:p>
            <a:pPr rtl="1" algn="ctr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אירועים קבועים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2018" y="1554480"/>
            <a:ext cx="1788109" cy="91440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587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4</a:t>
            </a:r>
          </a:p>
          <a:p>
            <a:pPr rtl="1"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גלאי־v1</a:t>
            </a:r>
          </a:p>
          <a:p>
            <a:pPr rtl="1" algn="ctr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דיווח בלבד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82469" y="1554480"/>
            <a:ext cx="1788109" cy="91440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587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5</a:t>
            </a:r>
          </a:p>
          <a:p>
            <a:pPr rtl="1"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כרטיסים עיוורים</a:t>
            </a:r>
          </a:p>
          <a:p>
            <a:pPr rtl="1" algn="ctr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בלי תווית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788109" cy="91440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587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6</a:t>
            </a:r>
          </a:p>
          <a:p>
            <a:pPr rtl="1"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שני בודקים</a:t>
            </a:r>
          </a:p>
          <a:p>
            <a:pPr rtl="1" algn="ctr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עצמאיים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111858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B6834"/>
                </a:solidFill>
                <a:latin typeface="Segoe UI"/>
                <a:cs typeface="Segoe UI"/>
                <a:ea typeface="Segoe UI"/>
              </a:rPr>
              <a:t>גלאי־v1 פועל ברמת שיחה ולמטרת דיווח בלבד. הוא אינו יוצר תור אנושי, ואינו מנגנון התור של סוכן־4.</a:t>
            </a:r>
          </a:p>
          <a:p>
            <a:pPr rtl="1" algn="r"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הכרטיסים מסתירים מהבודקים את סיווג הגלאי, את שמות האותות ואת תווית הביטחון · אחרת השיפוט האנושי היה שכפול של הגלאי.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8076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תרשים מבנה · אינו מעיד על נכונות של אף שלב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טבלה א׳ · אמינות הצינור</a:t>
            </a:r>
          </a:p>
          <a:p>
            <a:pPr rtl="1" algn="r">
              <a:spcBef>
                <a:spcPts val="30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כל ריצה על המכנה של עצמה · ריצות אינן מאוחדות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16152"/>
            <a:ext cx="11185855" cy="25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5855" cy="2377440"/>
        </p:xfrm>
        <a:graphic>
          <a:graphicData uri="http://schemas.openxmlformats.org/drawingml/2006/table">
            <a:tbl>
              <a:tblPr firstRow="1" bandRow="1" rtl="1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594360"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4375E"/>
                          </a:solidFill>
                          <a:latin typeface="Segoe UI"/>
                          <a:cs typeface="Segoe UI"/>
                          <a:ea typeface="Segoe UI"/>
                        </a:rPr>
                        <a:t>ריצה</a:t>
                      </a:r>
                    </a:p>
                  </a:txBody>
                  <a:tcPr marL="45720" marR="45720" marT="18288" marB="18288">
                    <a:solidFill>
                      <a:srgbClr val="E2EE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4375E"/>
                          </a:solidFill>
                          <a:latin typeface="Segoe UI"/>
                          <a:cs typeface="Segoe UI"/>
                          <a:ea typeface="Segoe UI"/>
                        </a:rPr>
                        <a:t>סטטוס</a:t>
                      </a:r>
                    </a:p>
                  </a:txBody>
                  <a:tcPr marL="45720" marR="45720" marT="18288" marB="18288">
                    <a:solidFill>
                      <a:srgbClr val="E2EE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4375E"/>
                          </a:solidFill>
                          <a:latin typeface="Segoe UI"/>
                          <a:cs typeface="Segoe UI"/>
                          <a:ea typeface="Segoe UI"/>
                        </a:rPr>
                        <a:t>מקרים</a:t>
                      </a:r>
                    </a:p>
                  </a:txBody>
                  <a:tcPr marL="45720" marR="45720" marT="18288" marB="18288">
                    <a:solidFill>
                      <a:srgbClr val="E2EE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4375E"/>
                          </a:solidFill>
                          <a:latin typeface="Segoe UI"/>
                          <a:cs typeface="Segoe UI"/>
                          <a:ea typeface="Segoe UI"/>
                        </a:rPr>
                        <a:t>שיחות</a:t>
                      </a:r>
                    </a:p>
                  </a:txBody>
                  <a:tcPr marL="45720" marR="45720" marT="18288" marB="18288">
                    <a:solidFill>
                      <a:srgbClr val="E2EE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4375E"/>
                          </a:solidFill>
                          <a:latin typeface="Segoe UI"/>
                          <a:cs typeface="Segoe UI"/>
                          <a:ea typeface="Segoe UI"/>
                        </a:rPr>
                        <a:t>קריאות</a:t>
                      </a:r>
                    </a:p>
                  </a:txBody>
                  <a:tcPr marL="45720" marR="45720" marT="18288" marB="18288">
                    <a:solidFill>
                      <a:srgbClr val="E2EE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4375E"/>
                          </a:solidFill>
                          <a:latin typeface="Segoe UI"/>
                          <a:cs typeface="Segoe UI"/>
                          <a:ea typeface="Segoe UI"/>
                        </a:rPr>
                        <a:t>עלות $</a:t>
                      </a:r>
                    </a:p>
                  </a:txBody>
                  <a:tcPr marL="45720" marR="45720" marT="18288" marB="18288">
                    <a:solidFill>
                      <a:srgbClr val="E2EE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rtl="1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Consolas"/>
                          <a:cs typeface="Consolas"/>
                          <a:ea typeface="Consolas"/>
                        </a:rPr>
                        <a:t>HOTSPOT-01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Consolas"/>
                          <a:cs typeface="Consolas"/>
                          <a:ea typeface="Consolas"/>
                        </a:rPr>
                        <a:t>TECHNICAL_SUCCESS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73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0.224831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rtl="1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Consolas"/>
                          <a:cs typeface="Consolas"/>
                          <a:ea typeface="Consolas"/>
                        </a:rPr>
                        <a:t>ACCEPTED_N4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Consolas"/>
                          <a:cs typeface="Consolas"/>
                          <a:ea typeface="Consolas"/>
                        </a:rPr>
                        <a:t>TECHNICAL_SUCCESS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43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0.134972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rtl="1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Consolas"/>
                          <a:cs typeface="Consolas"/>
                          <a:ea typeface="Consolas"/>
                        </a:rPr>
                        <a:t>FULLFRAME_N21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Consolas"/>
                          <a:cs typeface="Consolas"/>
                          <a:ea typeface="Consolas"/>
                        </a:rPr>
                        <a:t>TECHNICAL_SUCCESS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21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11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98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0.360827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08076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מקור: run-receipt.json · אמינות טכנית אינה נכונות ואינה תועלת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טבלה ב׳ · התאמה בין הגלאי לאדם</a:t>
            </a:r>
          </a:p>
          <a:p>
            <a:pPr rtl="1" algn="r">
              <a:spcBef>
                <a:spcPts val="30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התוצאה הראשית של המחקר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16152"/>
            <a:ext cx="11185855" cy="25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B6834"/>
                </a:solidFill>
                <a:latin typeface="Segoe UI"/>
                <a:cs typeface="Segoe UI"/>
                <a:ea typeface="Segoe UI"/>
              </a:rPr>
              <a:t>אינו זמין (ולא אפס)</a:t>
            </a:r>
          </a:p>
          <a:p>
            <a:pPr rtl="1" algn="r">
              <a:spcBef>
                <a:spcPts val="600"/>
              </a:spcBef>
              <a:spcAft>
                <a:spcPts val="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טבלה ב׳ מוגדרת מול שיפוט אנושי עצמאי. אין שני בודקים עיוורים, ולכן אין תוצאה. אין תחליף מותר: לא תווית של מודל, לא אות מתווכת, לא היוריסטיקה, ולא שיפוט המחבר.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95181" y="2651760"/>
            <a:ext cx="2693593" cy="91440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587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0.8333</a:t>
            </a:r>
          </a:p>
          <a:p>
            <a:pPr rtl="1"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שיעור התרעה</a:t>
            </a:r>
          </a:p>
          <a:p>
            <a:pPr rtl="1" algn="ctr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ניתן לחישוב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4427" y="2651760"/>
            <a:ext cx="2693593" cy="914400"/>
          </a:xfrm>
          <a:prstGeom prst="roundRect">
            <a:avLst>
              <a:gd name="adj" fmla="val 5000"/>
            </a:avLst>
          </a:prstGeom>
          <a:solidFill>
            <a:srgbClr val="F4F5F3"/>
          </a:solidFill>
          <a:ln w="1587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6</a:t>
            </a:r>
          </a:p>
          <a:p>
            <a:pPr rtl="1"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שיחות · מכנה</a:t>
            </a:r>
          </a:p>
          <a:p>
            <a:pPr rtl="1" algn="ctr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ניתן לחישוב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3673" y="2651760"/>
            <a:ext cx="2693593" cy="914400"/>
          </a:xfrm>
          <a:prstGeom prst="roundRect">
            <a:avLst>
              <a:gd name="adj" fmla="val 5000"/>
            </a:avLst>
          </a:prstGeom>
          <a:solidFill>
            <a:srgbClr val="F0F0EE"/>
          </a:solidFill>
          <a:ln w="1587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אינו זמין</a:t>
            </a:r>
          </a:p>
          <a:p>
            <a:pPr rtl="1"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שיעור ראוי־לבדיקה</a:t>
            </a:r>
          </a:p>
          <a:p>
            <a:pPr rtl="1" algn="ctr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דורש בודקים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51760"/>
            <a:ext cx="2693593" cy="914400"/>
          </a:xfrm>
          <a:prstGeom prst="roundRect">
            <a:avLst>
              <a:gd name="adj" fmla="val 5000"/>
            </a:avLst>
          </a:prstGeom>
          <a:solidFill>
            <a:srgbClr val="F0F0EE"/>
          </a:solidFill>
          <a:ln w="1587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אינו זמין</a:t>
            </a:r>
          </a:p>
          <a:p>
            <a:pPr rtl="1"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דיוק · היזכרות</a:t>
            </a:r>
          </a:p>
          <a:p>
            <a:pPr rtl="1" algn="ctr"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דורש בודקים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08415" y="3840480"/>
            <a:ext cx="2880360" cy="265176"/>
          </a:xfrm>
          <a:prstGeom prst="roundRect">
            <a:avLst>
              <a:gd name="adj" fmla="val 35000"/>
            </a:avLst>
          </a:prstGeom>
          <a:solidFill>
            <a:srgbClr val="F0F0EE"/>
          </a:solidFill>
          <a:ln w="15875">
            <a:solidFill>
              <a:srgbClr val="AAA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64008"/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אינו זמין (ולא אפס)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08076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אין תוויות אמת למאגר · דיוק והיזכרות אינם ניתנים לחישוב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טבלה ג׳ · עומס הבדיקה בפועל</a:t>
            </a:r>
          </a:p>
          <a:p>
            <a:pPr rtl="1" algn="r">
              <a:spcBef>
                <a:spcPts val="30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הבסיס העסקי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16152"/>
            <a:ext cx="11185855" cy="25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2775" y="1536192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כל השיחות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8790127" cy="237744"/>
          </a:xfrm>
          <a:prstGeom prst="roundRect">
            <a:avLst>
              <a:gd name="adj" fmla="val 30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8790127" cy="237744"/>
          </a:xfrm>
          <a:prstGeom prst="roundRect">
            <a:avLst>
              <a:gd name="adj" fmla="val 3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54533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2775" y="1947672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קבוצת קדימות · התרעה חזקה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8790127" cy="237744"/>
          </a:xfrm>
          <a:prstGeom prst="roundRect">
            <a:avLst>
              <a:gd name="adj" fmla="val 30000"/>
            </a:avLst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67942" y="1965960"/>
            <a:ext cx="7325105" cy="237744"/>
          </a:xfrm>
          <a:prstGeom prst="roundRect">
            <a:avLst>
              <a:gd name="adj" fmla="val 3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95681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1118585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B6834"/>
                </a:solidFill>
                <a:latin typeface="Segoe UI"/>
                <a:cs typeface="Segoe UI"/>
                <a:ea typeface="Segoe UI"/>
              </a:rPr>
              <a:t>בריצה הפרוספקטיבית נצפתה לראשונה שיחה ללא התרעה כלל · הגלאי אינו פונקציה קבועה.</a:t>
            </a:r>
          </a:p>
          <a:p>
            <a:pPr rtl="1" algn="r">
              <a:spcBef>
                <a:spcPts val="800"/>
              </a:spcBef>
              <a:spcAft>
                <a:spcPts val="0"/>
              </a:spcAft>
            </a:pPr>
            <a:r>
              <a:rPr sz="14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קדימות לפי ״התרעה חזקה בלבד״: הקטנה של 17% מהעומס.</a:t>
            </a:r>
          </a:p>
          <a:p>
            <a:pPr rtl="1" algn="r"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אבל שיעור השימור אינו ידוע בלי בודקים, ולכן אי־אפשר לדעת אם ההקטנה נקנתה במחיר השמטת שיחות שאדם היה רוצה לראות. חיסכון בדקות אינו זמין ואסור לאמוד אותו.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8076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מכנה: 6 שיחות שהושלמו · הקטנת עומס בלי שימור מדוד אינה חיסכון מוכח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טבלה ד׳ · יציבות</a:t>
            </a:r>
          </a:p>
          <a:p>
            <a:pPr rtl="1" algn="r">
              <a:spcBef>
                <a:spcPts val="30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הממצא שקובע את פרשנות כל השאר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16152"/>
            <a:ext cx="11185855" cy="25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85855" cy="1828800"/>
        </p:xfrm>
        <a:graphic>
          <a:graphicData uri="http://schemas.openxmlformats.org/drawingml/2006/table">
            <a:tbl>
              <a:tblPr firstRow="1" bandRow="1" rtl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457200"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4375E"/>
                          </a:solidFill>
                          <a:latin typeface="Segoe UI"/>
                          <a:cs typeface="Segoe UI"/>
                          <a:ea typeface="Segoe UI"/>
                        </a:rPr>
                        <a:t>ריצה</a:t>
                      </a:r>
                    </a:p>
                  </a:txBody>
                  <a:tcPr marL="45720" marR="45720" marT="18288" marB="18288">
                    <a:solidFill>
                      <a:srgbClr val="E2EE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4375E"/>
                          </a:solidFill>
                          <a:latin typeface="Segoe UI"/>
                          <a:cs typeface="Segoe UI"/>
                          <a:ea typeface="Segoe UI"/>
                        </a:rPr>
                        <a:t>שיחות</a:t>
                      </a:r>
                    </a:p>
                  </a:txBody>
                  <a:tcPr marL="45720" marR="45720" marT="18288" marB="18288">
                    <a:solidFill>
                      <a:srgbClr val="E2EE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4375E"/>
                          </a:solidFill>
                          <a:latin typeface="Segoe UI"/>
                          <a:cs typeface="Segoe UI"/>
                          <a:ea typeface="Segoe UI"/>
                        </a:rPr>
                        <a:t>מחלקות הגלאי</a:t>
                      </a:r>
                    </a:p>
                  </a:txBody>
                  <a:tcPr marL="45720" marR="45720" marT="18288" marB="18288">
                    <a:solidFill>
                      <a:srgbClr val="E2EEFD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4375E"/>
                          </a:solidFill>
                          <a:latin typeface="Segoe UI"/>
                          <a:cs typeface="Segoe UI"/>
                          <a:ea typeface="Segoe UI"/>
                        </a:rPr>
                        <a:t>ממוצע תשובות</a:t>
                      </a:r>
                    </a:p>
                  </a:txBody>
                  <a:tcPr marL="45720" marR="45720" marT="18288" marB="18288">
                    <a:solidFill>
                      <a:srgbClr val="E2EE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Consolas"/>
                          <a:cs typeface="Consolas"/>
                          <a:ea typeface="Consolas"/>
                        </a:rPr>
                        <a:t>HOTSPOT-01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Consolas"/>
                          <a:cs typeface="Consolas"/>
                          <a:ea typeface="Consolas"/>
                        </a:rPr>
                        <a:t>NO_ALERT=1, STRONG_ALERT=5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13.67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Consolas"/>
                          <a:cs typeface="Consolas"/>
                          <a:ea typeface="Consolas"/>
                        </a:rPr>
                        <a:t>ACCEPTED_N4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Consolas"/>
                          <a:cs typeface="Consolas"/>
                          <a:ea typeface="Consolas"/>
                        </a:rPr>
                        <a:t>STRONG_ALERT=3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14.67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Consolas"/>
                          <a:cs typeface="Consolas"/>
                          <a:ea typeface="Consolas"/>
                        </a:rPr>
                        <a:t>FULLFRAME_N21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11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Consolas"/>
                          <a:cs typeface="Consolas"/>
                          <a:ea typeface="Consolas"/>
                        </a:rPr>
                        <a:t>STRONG_ALERT=7, WEAK_ALERT=4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B0B0B"/>
                          </a:solidFill>
                          <a:latin typeface="Segoe UI"/>
                          <a:cs typeface="Segoe UI"/>
                          <a:ea typeface="Segoe UI"/>
                        </a:rPr>
                        <a:t>2.64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383280"/>
            <a:ext cx="111858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B6834"/>
                </a:solidFill>
                <a:latin typeface="Segoe UI"/>
                <a:cs typeface="Segoe UI"/>
                <a:ea typeface="Segoe UI"/>
              </a:rPr>
              <a:t>אורך השיחה אינו פרמטר מבוקר, והוא שקובע אם הגלאי מפריד בין שיחות. בשתי ריצות בעלות תצורה זהה הוא נע פי חמישה־עשר.</a:t>
            </a:r>
          </a:p>
          <a:p>
            <a:pPr rtl="1" algn="r"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לכן אין להסיק תכונת הפרדה מריצה אחת.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8076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שתי תצפיות אינן אומדן שונות ואינן מבססות טענת יציבות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858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מה נמצא, מה לא נמצא, ומה נדרש</a:t>
            </a:r>
          </a:p>
          <a:p>
            <a:pPr rtl="1" algn="r">
              <a:spcBef>
                <a:spcPts val="30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הכרעה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16152"/>
            <a:ext cx="11185855" cy="25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5014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375E"/>
                </a:solidFill>
                <a:latin typeface="Segoe UI"/>
                <a:cs typeface="Segoe UI"/>
                <a:ea typeface="Segoe UI"/>
              </a:rPr>
              <a:t>נמצא</a:t>
            </a:r>
          </a:p>
          <a:p>
            <a:pPr rtl="1"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• הצינור רץ מקצה לקצה והתקשורת נשמרת עם אימות גיבוב.</a:t>
            </a:r>
          </a:p>
          <a:p>
            <a:pPr rtl="1"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• נצפתה לראשונה שיחה ללא התרעה · שיעור ההתרעה 0.833 ולא 1.0.</a:t>
            </a:r>
          </a:p>
          <a:p>
            <a:pPr rtl="1"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• הגלאי מקטין עומס ב־16.7% בריצה הפרוספקטיבית.</a:t>
            </a:r>
          </a:p>
          <a:p>
            <a:pPr rtl="1"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• מנגנוני ההסלמה אינם מסכימים, ותור הבדיקה ריק.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7287" y="1371600"/>
            <a:ext cx="55014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B6834"/>
                </a:solidFill>
                <a:latin typeface="Segoe UI"/>
                <a:cs typeface="Segoe UI"/>
                <a:ea typeface="Segoe UI"/>
              </a:rPr>
              <a:t>לא נמצא</a:t>
            </a:r>
          </a:p>
          <a:p>
            <a:pPr rtl="1"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• לא נמצא שהתרעה כלשהי צדקה · אין תוויות אמת.</a:t>
            </a:r>
          </a:p>
          <a:p>
            <a:pPr rtl="1"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• לא נמצא חיסכון בזמן · הבודקים לא מדדו זמן.</a:t>
            </a:r>
          </a:p>
          <a:p>
            <a:pPr rtl="1"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• לא נמצא יתרון סיבתי, הכללה, או יתרון הפעלה מול כיבוי.</a:t>
            </a:r>
          </a:p>
          <a:p>
            <a:pPr rtl="1" algn="r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0B0B0B"/>
                </a:solidFill>
                <a:latin typeface="Segoe UI"/>
                <a:cs typeface="Segoe UI"/>
                <a:ea typeface="Segoe UI"/>
              </a:rPr>
              <a:t>• לא נמצא שיעור שימור · התוצאה הראשית אינה זמינה.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86200"/>
            <a:ext cx="11185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B6834"/>
                </a:solidFill>
                <a:latin typeface="Segoe UI"/>
                <a:cs typeface="Segoe UI"/>
                <a:ea typeface="Segoe UI"/>
              </a:rPr>
              <a:t>הכרעה: CONDITIONAL GO</a:t>
            </a:r>
          </a:p>
          <a:p>
            <a:pPr rtl="1" algn="r">
              <a:spcBef>
                <a:spcPts val="40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הבסיס בנוי, קפוא ורץ מקצה לקצה, והגלאי הוכיח שהוא מסנן. שיעור השימור, שהוא התוצאה הראשית, תלוי בשני בודקים אנושיים עיוורים שאינם קיימים.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8076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2514E"/>
                </a:solidFill>
                <a:latin typeface="Segoe UI"/>
                <a:cs typeface="Segoe UI"/>
                <a:ea typeface="Segoe UI"/>
              </a:rPr>
              <a:t>החסם היחיד הוא שני בודקים אנושיים · אינו חסם תקציבי ואינו הנדסי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