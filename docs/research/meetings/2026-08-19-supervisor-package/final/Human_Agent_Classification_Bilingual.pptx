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d5e1ef136d4539" /><Relationship Type="http://schemas.openxmlformats.org/officeDocument/2006/relationships/extended-properties" Target="/docProps/app.xml" Id="R35494a356d0d4fd4" /><Relationship Type="http://schemas.openxmlformats.org/officeDocument/2006/relationships/officeDocument" Target="/ppt/presentation.xml" Id="R5f22a4bc7b5149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deb85bb1c145f8"/>
  </p:sldMasterIdLst>
  <p:notesMasterIdLst>
    <p:notesMasterId xmlns:r="http://schemas.openxmlformats.org/officeDocument/2006/relationships" r:id="R044eca0ec1bd464a"/>
  </p:notesMasterIdLst>
  <p:sldIdLst>
    <p:sldId xmlns:r="http://schemas.openxmlformats.org/officeDocument/2006/relationships" id="256" r:id="R6c910c446e6b49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3cde7c2cde4ec3" /><Relationship Type="http://schemas.openxmlformats.org/officeDocument/2006/relationships/slideMaster" Target="/ppt/slideMasters/slideMaster1.xml" Id="R99deb85bb1c145f8" /><Relationship Type="http://schemas.openxmlformats.org/officeDocument/2006/relationships/notesMaster" Target="/ppt/notesMasters/notesMaster1.xml" Id="R044eca0ec1bd464a" /><Relationship Type="http://schemas.openxmlformats.org/officeDocument/2006/relationships/presProps" Target="/ppt/presProps.xml" Id="Ra437cea8353f4897" /><Relationship Type="http://schemas.openxmlformats.org/officeDocument/2006/relationships/tableStyles" Target="/ppt/tableStyles.xml" Id="Re02b1b9bf59a49a0" /><Relationship Type="http://schemas.openxmlformats.org/officeDocument/2006/relationships/slide" Target="/ppt/slides/slide1.xml" Id="R6c910c446e6b49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51e91b8b9544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3e84a2a4894b78" /><Relationship Type="http://schemas.openxmlformats.org/officeDocument/2006/relationships/notesMaster" Target="/ppt/notesMasters/notesMaster1.xml" Id="Rcad2543d38d241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this as a prioritization view, not a completed review.</a:t>
            </a:r>
          </a:p>
          <a:p xmlns:a="http://schemas.openxmlformats.org/drawingml/2006/main">
            <a:r>
              <a:t>High/Low/No are derived from Core/Relevant+Contextual/Peripheral machine labels.</a:t>
            </a:r>
          </a:p>
          <a:p xmlns:a="http://schemas.openxmlformats.org/drawingml/2006/main">
            <a:r>
              <a:t>Missing means a taxonomy-schema theme is not encoded; it does not prove absence from papers.</a:t>
            </a:r>
          </a:p>
          <a:p xmlns:a="http://schemas.openxmlformats.org/drawingml/2006/main">
            <a:r>
              <a:t>Human screening remains 0/116. EXP-005 remains 0/24. Medical readiness remains 0/6.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https://aclanthology.org/2026.findings-acl.1811/</a:t>
            </a:r>
          </a:p>
          <a:p xmlns:a="http://schemas.openxmlformats.org/drawingml/2006/main">
            <a:r>
              <a:t>https://github.com/HenryPengZou/Awesome-Human-Agent-Collaboration-Interaction-Systems/tree/7b3ba9deefe99172748582f6025d995ccc2a6f86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78298d652345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757aaf963d4077" /><Relationship Type="http://schemas.openxmlformats.org/officeDocument/2006/relationships/slideLayout" Target="/ppt/slideLayouts/slideLayout1.xml" Id="R786b16430c9443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6b16430c9443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2823fe512a48a7" /><Relationship Type="http://schemas.openxmlformats.org/officeDocument/2006/relationships/notesSlide" Target="/ppt/notesSlides/notesSlide1.xml" Id="R30d2ec779c30499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accent">
            <a:extLst xmlns:a="http://schemas.openxmlformats.org/drawingml/2006/main">
              <a:ext uri="{FF2B5EF4-FFF2-40B4-BE49-F238E27FC236}">
                <a16:creationId xmlns:a16="http://schemas.microsoft.com/office/drawing/2014/main" id="{5AAC74A1-C7C9-498F-9248-F6B905BB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5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38B87D7-7513-4FAF-9985-9AAA630B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33C"/>
                </a:solidFill>
              </a:defRPr>
            </a:pPr>
            <a:r>
              <a:rPr sz="2850" b="1">
                <a:solidFill>
                  <a:srgbClr val="17233C"/>
                </a:solidFill>
              </a:rPr>
              <a:t>Derived corpus relevance | סיווג רלוונטיות נגזר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A1E199C3-12B1-4B8D-B881-D942F4269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B5872"/>
                </a:solidFill>
              </a:defRPr>
            </a:pPr>
            <a:r>
              <a:rPr sz="1350">
                <a:solidFill>
                  <a:srgbClr val="4B5872"/>
                </a:solidFill>
              </a:rPr>
              <a:t>Machine metadata mapping for prioritization; human screening remains 0/116 | מיפוי מטא-נתונים מכני לתעדוף; הסינון האנושי נשאר 0/116</a:t>
            </a:r>
          </a:p>
        </p:txBody>
      </p:sp>
      <p:sp>
        <p:nvSpPr>
          <p:cNvPr id="4" name="chip-1">
            <a:extLst xmlns:a="http://schemas.openxmlformats.org/drawingml/2006/main">
              <a:ext uri="{FF2B5EF4-FFF2-40B4-BE49-F238E27FC236}">
                <a16:creationId xmlns:a16="http://schemas.microsoft.com/office/drawing/2014/main" id="{7A968F29-B496-4225-8ED6-61E395CF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25527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E5FF"/>
          </a:solidFill>
          <a:ln xmlns:a="http://schemas.openxmlformats.org/drawingml/2006/main" w="9525">
            <a:solidFill>
              <a:srgbClr val="E9E5FF"/>
            </a:solidFill>
            <a:prstDash val="solid"/>
          </a:ln>
        </p:spPr>
      </p:sp>
      <p:sp>
        <p:nvSpPr>
          <p:cNvPr id="5" name="chip-text-1">
            <a:extLst xmlns:a="http://schemas.openxmlformats.org/drawingml/2006/main">
              <a:ext uri="{FF2B5EF4-FFF2-40B4-BE49-F238E27FC236}">
                <a16:creationId xmlns:a16="http://schemas.microsoft.com/office/drawing/2014/main" id="{9DA4DB65-F9AA-4751-A466-6CFC011E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9542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039A7"/>
                </a:solidFill>
              </a:defRPr>
            </a:pPr>
            <a:r>
              <a:rPr sz="975" b="1">
                <a:solidFill>
                  <a:srgbClr val="5039A7"/>
                </a:solidFill>
              </a:rPr>
              <a:t>Corpus | קורפוס</a:t>
            </a:r>
          </a:p>
          <a:p xmlns:a="http://schemas.openxmlformats.org/drawingml/2006/main">
            <a:pPr>
              <a:defRPr sz="975" b="1">
                <a:solidFill>
                  <a:srgbClr val="5039A7"/>
                </a:solidFill>
              </a:defRPr>
            </a:pPr>
            <a:r>
              <a:rPr sz="975" b="1">
                <a:solidFill>
                  <a:srgbClr val="5039A7"/>
                </a:solidFill>
              </a:rPr>
              <a:t>116 works | 116 עבודות</a:t>
            </a:r>
          </a:p>
        </p:txBody>
      </p:sp>
      <p:sp>
        <p:nvSpPr>
          <p:cNvPr id="6" name="chip-2">
            <a:extLst xmlns:a="http://schemas.openxmlformats.org/drawingml/2006/main">
              <a:ext uri="{FF2B5EF4-FFF2-40B4-BE49-F238E27FC236}">
                <a16:creationId xmlns:a16="http://schemas.microsoft.com/office/drawing/2014/main" id="{5547FA28-FA49-48A2-A9CC-9A662491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438275"/>
            <a:ext cx="25527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FFF1D6"/>
            </a:solidFill>
            <a:prstDash val="solid"/>
          </a:ln>
        </p:spPr>
      </p:sp>
      <p:sp>
        <p:nvSpPr>
          <p:cNvPr id="7" name="chip-text-2">
            <a:extLst xmlns:a="http://schemas.openxmlformats.org/drawingml/2006/main">
              <a:ext uri="{FF2B5EF4-FFF2-40B4-BE49-F238E27FC236}">
                <a16:creationId xmlns:a16="http://schemas.microsoft.com/office/drawing/2014/main" id="{574AB45A-F863-4AF6-AE74-18B242FE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49542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A5A00"/>
                </a:solidFill>
              </a:defRPr>
            </a:pPr>
            <a:r>
              <a:rPr sz="975" b="1">
                <a:solidFill>
                  <a:srgbClr val="8A5A00"/>
                </a:solidFill>
              </a:rPr>
              <a:t>Human screening | סינון אנושי</a:t>
            </a:r>
          </a:p>
          <a:p xmlns:a="http://schemas.openxmlformats.org/drawingml/2006/main">
            <a:pPr>
              <a:defRPr sz="975" b="1">
                <a:solidFill>
                  <a:srgbClr val="8A5A00"/>
                </a:solidFill>
              </a:defRPr>
            </a:pPr>
            <a:r>
              <a:rPr sz="975" b="1">
                <a:solidFill>
                  <a:srgbClr val="8A5A00"/>
                </a:solidFill>
              </a:rPr>
              <a:t>0/116</a:t>
            </a:r>
          </a:p>
        </p:txBody>
      </p:sp>
      <p:sp>
        <p:nvSpPr>
          <p:cNvPr id="8" name="chip-3">
            <a:extLst xmlns:a="http://schemas.openxmlformats.org/drawingml/2006/main">
              <a:ext uri="{FF2B5EF4-FFF2-40B4-BE49-F238E27FC236}">
                <a16:creationId xmlns:a16="http://schemas.microsoft.com/office/drawing/2014/main" id="{6DDC98B9-12E1-45D0-BD8D-F0E1890F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38275"/>
            <a:ext cx="25527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DE6E7"/>
          </a:solidFill>
          <a:ln xmlns:a="http://schemas.openxmlformats.org/drawingml/2006/main" w="9525">
            <a:solidFill>
              <a:srgbClr val="FDE6E7"/>
            </a:solidFill>
            <a:prstDash val="solid"/>
          </a:ln>
        </p:spPr>
      </p:sp>
      <p:sp>
        <p:nvSpPr>
          <p:cNvPr id="9" name="chip-text-3">
            <a:extLst xmlns:a="http://schemas.openxmlformats.org/drawingml/2006/main">
              <a:ext uri="{FF2B5EF4-FFF2-40B4-BE49-F238E27FC236}">
                <a16:creationId xmlns:a16="http://schemas.microsoft.com/office/drawing/2014/main" id="{EFA2CEFA-6F0C-4CDB-846D-C223AF896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9542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02A32"/>
                </a:solidFill>
              </a:defRPr>
            </a:pPr>
            <a:r>
              <a:rPr sz="975" b="1">
                <a:solidFill>
                  <a:srgbClr val="A02A32"/>
                </a:solidFill>
              </a:rPr>
              <a:t>EXP-005</a:t>
            </a:r>
          </a:p>
          <a:p xmlns:a="http://schemas.openxmlformats.org/drawingml/2006/main">
            <a:pPr>
              <a:defRPr sz="975" b="1">
                <a:solidFill>
                  <a:srgbClr val="A02A32"/>
                </a:solidFill>
              </a:defRPr>
            </a:pPr>
            <a:r>
              <a:rPr sz="975" b="1">
                <a:solidFill>
                  <a:srgbClr val="A02A32"/>
                </a:solidFill>
              </a:rPr>
              <a:t>0/24</a:t>
            </a:r>
          </a:p>
        </p:txBody>
      </p:sp>
      <p:sp>
        <p:nvSpPr>
          <p:cNvPr id="10" name="chip-4">
            <a:extLst xmlns:a="http://schemas.openxmlformats.org/drawingml/2006/main">
              <a:ext uri="{FF2B5EF4-FFF2-40B4-BE49-F238E27FC236}">
                <a16:creationId xmlns:a16="http://schemas.microsoft.com/office/drawing/2014/main" id="{DFADFEDD-ADFA-4D86-A504-0664D3FC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1438275"/>
            <a:ext cx="25527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8EDF5"/>
          </a:solidFill>
          <a:ln xmlns:a="http://schemas.openxmlformats.org/drawingml/2006/main" w="9525">
            <a:solidFill>
              <a:srgbClr val="E8EDF5"/>
            </a:solidFill>
            <a:prstDash val="solid"/>
          </a:ln>
        </p:spPr>
      </p:sp>
      <p:sp>
        <p:nvSpPr>
          <p:cNvPr id="11" name="chip-text-4">
            <a:extLst xmlns:a="http://schemas.openxmlformats.org/drawingml/2006/main">
              <a:ext uri="{FF2B5EF4-FFF2-40B4-BE49-F238E27FC236}">
                <a16:creationId xmlns:a16="http://schemas.microsoft.com/office/drawing/2014/main" id="{8D1F865A-AE3F-456D-9371-4A238788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49542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0506B"/>
                </a:solidFill>
              </a:defRPr>
            </a:pPr>
            <a:r>
              <a:rPr sz="975" b="1">
                <a:solidFill>
                  <a:srgbClr val="40506B"/>
                </a:solidFill>
              </a:rPr>
              <a:t>Medical readiness | מוכנות רפואית</a:t>
            </a:r>
          </a:p>
          <a:p xmlns:a="http://schemas.openxmlformats.org/drawingml/2006/main">
            <a:pPr>
              <a:defRPr sz="975" b="1">
                <a:solidFill>
                  <a:srgbClr val="40506B"/>
                </a:solidFill>
              </a:defRPr>
            </a:pPr>
            <a:r>
              <a:rPr sz="975" b="1">
                <a:solidFill>
                  <a:srgbClr val="40506B"/>
                </a:solidFill>
              </a:rPr>
              <a:t>0/6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647700" y="2057400"/>
          <a:ext xmlns:a="http://schemas.openxmlformats.org/drawingml/2006/main" cx="10896600" cy="32861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676400"/>
                <a:gridCol w="2905125"/>
                <a:gridCol w="1466850"/>
                <a:gridCol w="4848225"/>
              </a:tblGrid>
              <a:tr h="5905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Display class</a:t>
                      </a:r>
                    </a:p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מחלקת הצגה</a:t>
                      </a:r>
                    </a:p>
                  </a:txBody>
                  <a:tcPr marL="95250" marR="95250" marT="76200" marB="76200">
                    <a:solidFill>
                      <a:srgbClr val="1723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Derived mapping</a:t>
                      </a:r>
                    </a:p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מיפוי נגזר</a:t>
                      </a:r>
                    </a:p>
                  </a:txBody>
                  <a:tcPr marL="95250" marR="95250" marT="76200" marB="76200">
                    <a:solidFill>
                      <a:srgbClr val="1723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Count</a:t>
                      </a:r>
                    </a:p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כמות</a:t>
                      </a:r>
                    </a:p>
                  </a:txBody>
                  <a:tcPr marL="95250" marR="95250" marT="76200" marB="76200">
                    <a:solidFill>
                      <a:srgbClr val="1723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Interpretation boundary</a:t>
                      </a:r>
                    </a:p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גבול פרשנות</a:t>
                      </a:r>
                    </a:p>
                  </a:txBody>
                  <a:tcPr marL="95250" marR="95250" marT="76200" marB="76200">
                    <a:solidFill>
                      <a:srgbClr val="17233C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233C"/>
                          </a:solidFill>
                        </a:rPr>
                        <a:t>High | גבוהה</a:t>
                      </a:r>
                    </a:p>
                  </a:txBody>
                  <a:tcPr marL="95250" marR="95250" marT="76200" marB="76200">
                    <a:solidFill>
                      <a:srgbClr val="E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B43"/>
                          </a:solidFill>
                        </a:rPr>
                        <a:t>Machine Core candidate | מועמדת ליבה מכנית</a:t>
                      </a:r>
                    </a:p>
                  </a:txBody>
                  <a:tcPr marL="95250" marR="95250" marT="76200" marB="76200">
                    <a:solidFill>
                      <a:srgbClr val="E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233C"/>
                          </a:solidFill>
                        </a:rPr>
                        <a:t>11 works | 11 עבודות</a:t>
                      </a:r>
                    </a:p>
                  </a:txBody>
                  <a:tcPr marL="95250" marR="95250" marT="76200" marB="76200">
                    <a:solidFill>
                      <a:srgbClr val="EA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B43"/>
                          </a:solidFill>
                        </a:rPr>
                        <a:t>Priority for human screening, not inclusion | עדיפות לסינון אנושי, לא הכללה</a:t>
                      </a:r>
                    </a:p>
                  </a:txBody>
                  <a:tcPr marL="95250" marR="95250" marT="76200" marB="76200">
                    <a:solidFill>
                      <a:srgbClr val="EAF7F0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233C"/>
                          </a:solidFill>
                        </a:rPr>
                        <a:t>Low | נמוכה</a:t>
                      </a:r>
                    </a:p>
                  </a:txBody>
                  <a:tcPr marL="95250" marR="95250" marT="76200" marB="76200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B43"/>
                          </a:solidFill>
                        </a:rPr>
                        <a:t>Relevant + Contextual candidates | מועמדות רלוונטיות + הקשריות</a:t>
                      </a:r>
                    </a:p>
                  </a:txBody>
                  <a:tcPr marL="95250" marR="95250" marT="76200" marB="76200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233C"/>
                          </a:solidFill>
                        </a:rPr>
                        <a:t>87 works | 87 עבודות</a:t>
                      </a:r>
                    </a:p>
                  </a:txBody>
                  <a:tcPr marL="95250" marR="95250" marT="76200" marB="76200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B43"/>
                          </a:solidFill>
                        </a:rPr>
                        <a:t>Combined presentation class; review still pending | מחלקת הצגה משולבת; הסקירה עדיין ממתינה</a:t>
                      </a:r>
                    </a:p>
                  </a:txBody>
                  <a:tcPr marL="95250" marR="95250" marT="76200" marB="76200">
                    <a:solidFill>
                      <a:srgbClr val="EAF2FB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233C"/>
                          </a:solidFill>
                        </a:rPr>
                        <a:t>No | ללא</a:t>
                      </a:r>
                    </a:p>
                  </a:txBody>
                  <a:tcPr marL="95250" marR="95250" marT="76200" marB="76200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B43"/>
                          </a:solidFill>
                        </a:rPr>
                        <a:t>Machine Peripheral candidate | מועמדת היקפית מכנית</a:t>
                      </a:r>
                    </a:p>
                  </a:txBody>
                  <a:tcPr marL="95250" marR="95250" marT="76200" marB="76200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233C"/>
                          </a:solidFill>
                        </a:rPr>
                        <a:t>18 works | 18 עבודות</a:t>
                      </a:r>
                    </a:p>
                  </a:txBody>
                  <a:tcPr marL="95250" marR="95250" marT="76200" marB="76200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B43"/>
                          </a:solidFill>
                        </a:rPr>
                        <a:t>Not a human exclusion decision | לא החלטת החרגה אנושית</a:t>
                      </a:r>
                    </a:p>
                  </a:txBody>
                  <a:tcPr marL="95250" marR="95250" marT="76200" marB="76200">
                    <a:solidFill>
                      <a:srgbClr val="F1F3F6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233C"/>
                          </a:solidFill>
                        </a:rPr>
                        <a:t>Missing | חסר</a:t>
                      </a:r>
                    </a:p>
                  </a:txBody>
                  <a:tcPr marL="95250" marR="95250" marT="76200" marB="76200">
                    <a:solidFill>
                      <a:srgbClr val="FFF4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B43"/>
                          </a:solidFill>
                        </a:rPr>
                        <a:t>Nine grouped themes not encoded by the taxonomy schema | תשע קבוצות נושא שאינן מקודדות בסכמת הטקסונומיה</a:t>
                      </a:r>
                    </a:p>
                  </a:txBody>
                  <a:tcPr marL="95250" marR="95250" marT="76200" marB="76200">
                    <a:solidFill>
                      <a:srgbClr val="FFF4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233C"/>
                          </a:solidFill>
                        </a:rPr>
                        <a:t>Themes, not works | נושאים, לא עבודות</a:t>
                      </a:r>
                    </a:p>
                  </a:txBody>
                  <a:tcPr marL="95250" marR="95250" marT="76200" marB="76200">
                    <a:solidFill>
                      <a:srgbClr val="FFF4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B43"/>
                          </a:solidFill>
                        </a:rPr>
                        <a:t>Schema observation; papers may still cover them | תצפית על הסכמה; ייתכן שהמאמרים מכסים אותם</a:t>
                      </a:r>
                    </a:p>
                  </a:txBody>
                  <a:tcPr marL="95250" marR="95250" marT="76200" marB="76200">
                    <a:solidFill>
                      <a:srgbClr val="FFF4DC"/>
                    </a:solidFill>
                  </a:tcPr>
                </a:tc>
              </a:tr>
            </a:tbl>
          </a:graphicData>
        </a:graphic>
      </p:graphicFrame>
      <p:sp>
        <p:nvSpPr>
          <p:cNvPr id="13" name="evidence-boundary">
            <a:extLst xmlns:a="http://schemas.openxmlformats.org/drawingml/2006/main">
              <a:ext uri="{FF2B5EF4-FFF2-40B4-BE49-F238E27FC236}">
                <a16:creationId xmlns:a16="http://schemas.microsoft.com/office/drawing/2014/main" id="{0E709968-98B8-46EE-BAEA-6F36510F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10896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B5872"/>
                </a:solidFill>
              </a:defRPr>
            </a:pPr>
            <a:r>
              <a:rPr sz="1125">
                <a:solidFill>
                  <a:srgbClr val="4B5872"/>
                </a:solidFill>
              </a:rPr>
              <a:t>Boundary | גבול: High/Low/No is a derived display mapping from Core/Relevant+Contextual/Peripheral. Missing refers to schema coverage, not absence from the literature.</a:t>
            </a:r>
          </a:p>
        </p:txBody>
      </p:sp>
      <p:sp>
        <p:nvSpPr>
          <p:cNvPr id="1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EE289D14-0A61-42A9-9070-B3E608B5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0"/>
            <a:ext cx="10896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A7489"/>
                </a:solidFill>
              </a:defRPr>
            </a:pPr>
            <a:r>
              <a:rPr sz="1125">
                <a:solidFill>
                  <a:srgbClr val="6A7489"/>
                </a:solidFill>
              </a:rPr>
              <a:t>C2-ACL-01 | C2-ACL-03 | Repository commit 7b3ba9deefe9 | Ready for Ali review - not delivered</a:t>
            </a:r>
          </a:p>
        </p:txBody>
      </p:sp>
    </p:spTree>
    <p:extLst>
      <p:ext uri="{BB962C8B-B14F-4D97-AF65-F5344CB8AC3E}">
        <p14:creationId xmlns:p14="http://schemas.microsoft.com/office/powerpoint/2010/main" val="21302172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2026-08-15T00:55:09.2020000Z</dcterms:created>
  <dcterms:modified xsi:type="dcterms:W3CDTF">2026-08-15T00:55:09.2020000Z</dcterms:modified>
</coreProperties>
</file>